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4"/>
  </p:notesMasterIdLst>
  <p:sldIdLst>
    <p:sldId id="276" r:id="rId3"/>
    <p:sldId id="271" r:id="rId4"/>
    <p:sldId id="268" r:id="rId5"/>
    <p:sldId id="257" r:id="rId6"/>
    <p:sldId id="292" r:id="rId7"/>
    <p:sldId id="280" r:id="rId8"/>
    <p:sldId id="281" r:id="rId9"/>
    <p:sldId id="278" r:id="rId10"/>
    <p:sldId id="289" r:id="rId11"/>
    <p:sldId id="290" r:id="rId12"/>
    <p:sldId id="270" r:id="rId13"/>
  </p:sldIdLst>
  <p:sldSz cx="18288000" cy="10287000"/>
  <p:notesSz cx="6858000" cy="9144000"/>
  <p:embeddedFontLst>
    <p:embeddedFont>
      <p:font typeface="Open Sans Bold" panose="020B0604020202020204" charset="0"/>
      <p:regular r:id="rId15"/>
      <p:bold r:id="rId16"/>
    </p:embeddedFont>
    <p:embeddedFont>
      <p:font typeface="Roboto" panose="02000000000000000000" pitchFamily="2"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E2E"/>
    <a:srgbClr val="333232"/>
    <a:srgbClr val="2E2D2D"/>
    <a:srgbClr val="E1E7F7"/>
    <a:srgbClr val="F2FAFF"/>
    <a:srgbClr val="F2FCFF"/>
    <a:srgbClr val="E6EEF7"/>
    <a:srgbClr val="D3E0F0"/>
    <a:srgbClr val="00FF73"/>
    <a:srgbClr val="013D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93F9AC-D172-593B-3FD8-2AEA770E3875}" v="105" dt="2026-07-05T17:49:12.431"/>
    <p1510:client id="{211888C4-C44E-4E6B-B24E-B5331E350042}" v="41" dt="2026-07-05T18:32:39.244"/>
    <p1510:client id="{2F840A32-3976-9B03-52C7-6672211F23A5}" v="98" dt="2026-07-05T17:32:26.818"/>
    <p1510:client id="{3FCE94AF-9C5D-4607-5612-3AA156D1CA06}" v="5" dt="2026-07-05T15:43:41.638"/>
    <p1510:client id="{4D433E63-9C0B-482E-B704-96D9184EAC9A}" v="21" dt="2026-07-05T11:25:47.314"/>
    <p1510:client id="{564BC8A0-FF69-4E90-AE5A-B7633B5A7552}" v="234" dt="2026-07-05T13:45:30.106"/>
    <p1510:client id="{64E86F53-17BC-D805-6242-10D087786B27}" v="253" dt="2026-07-05T18:31:56.333"/>
    <p1510:client id="{65653D53-A164-EF73-DBCC-6A1D302E16AD}" v="860" dt="2026-07-05T15:24:23.977"/>
    <p1510:client id="{698606D6-58AE-48BE-928A-FE40B714C15C}" v="94" dt="2026-07-05T14:10:10.148"/>
    <p1510:client id="{74BEE35A-707D-4AB8-A3E2-61737D818142}" v="14" dt="2026-07-05T14:56:03.956"/>
    <p1510:client id="{920AB48B-5315-C8ED-7F68-E3CCD218C1A8}" v="3" dt="2026-07-05T16:25:56.501"/>
    <p1510:client id="{B96E411E-1823-6D76-EA7A-9712FC28879C}" v="30" dt="2026-07-05T16:24:46.966"/>
    <p1510:client id="{BD9520B3-C198-47B7-B50C-42CD1A15BAF9}" v="837" dt="2026-07-05T11:28:08.650"/>
    <p1510:client id="{E27484A7-F3B7-EFF7-8BE3-8E9701EC177D}" v="57" dt="2026-07-05T16:40:00.216"/>
    <p1510:client id="{F5908430-9F1C-4190-9222-0B76F1A38470}" v="996" dt="2026-07-05T13:25:06.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48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A1445-7591-40BB-933F-ED6D16295097}" type="datetimeFigureOut">
              <a:t>05/07/2026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AAF053-6460-4891-BE24-982B2888766E}" type="slidenum">
              <a:t>‹#›</a:t>
            </a:fld>
            <a:endParaRPr lang="en-US"/>
          </a:p>
        </p:txBody>
      </p:sp>
    </p:spTree>
    <p:extLst>
      <p:ext uri="{BB962C8B-B14F-4D97-AF65-F5344CB8AC3E}">
        <p14:creationId xmlns:p14="http://schemas.microsoft.com/office/powerpoint/2010/main" val="1580096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3240-556F-86E0-5CBB-FA3CF5E93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BDB7F-1B02-E9B4-9A6F-BCA288DAC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4F780-A9CF-1E30-59B5-5E00CB9A4F23}"/>
              </a:ext>
            </a:extLst>
          </p:cNvPr>
          <p:cNvSpPr>
            <a:spLocks noGrp="1"/>
          </p:cNvSpPr>
          <p:nvPr>
            <p:ph type="body" idx="1"/>
          </p:nvPr>
        </p:nvSpPr>
        <p:spPr/>
        <p:txBody>
          <a:bodyPr/>
          <a:lstStyle/>
          <a:p>
            <a:r>
              <a:rPr lang="en-US"/>
              <a:t>Presentation script:
I am explaining only the line-following logic, not the exact private tuning details. The car follows the black line using two IR sensors. The logic is based on three simple cases.
First, white and white means neither sensor sees the black line. In that case, the car uses its last known line position and searches in that same direction to find the line again.
Second, white and black, or the mirrored black and white case, means the car is on the edge of the line. Here I correct the direction using differential motor speeds. One motor runs slower and the other runs faster, so the car curves back toward the line instead of making a harsh movement.
Third, black and black means both sensors are over the line. The car should stay stable and continue forward.
The important recovery part is memory. The car stores where it last saw the black line. If the line is lost, it does not randomly turn; it searches back in the same direction to realign.
I also had to adjust the potentiometer on the IR module because the sensor threshold depends on the actual line width and surface contrast. Without this adjustment, the sensor can switch too early or too late, which causes unstable movement.
The first video shows the failure case where the car jerks. The second video shows the improved behavior with smoother correction, memory-based recovery, and proper sensor threshold adjustment.</a:t>
            </a:r>
          </a:p>
        </p:txBody>
      </p:sp>
      <p:sp>
        <p:nvSpPr>
          <p:cNvPr id="4" name="Slide Number Placeholder 3">
            <a:extLst>
              <a:ext uri="{FF2B5EF4-FFF2-40B4-BE49-F238E27FC236}">
                <a16:creationId xmlns:a16="http://schemas.microsoft.com/office/drawing/2014/main" id="{57B42E0E-4B64-025A-EF6E-60CBEFA500C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87659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DB02-EDEB-70AF-5F94-C92E22CD6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0A072-13F8-A874-08FF-AA24BF473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ABB42-7879-2864-FCBA-464C2C2FCD88}"/>
              </a:ext>
            </a:extLst>
          </p:cNvPr>
          <p:cNvSpPr>
            <a:spLocks noGrp="1"/>
          </p:cNvSpPr>
          <p:nvPr>
            <p:ph type="body" idx="1"/>
          </p:nvPr>
        </p:nvSpPr>
        <p:spPr/>
        <p:txBody>
          <a:bodyPr/>
          <a:lstStyle/>
          <a:p>
            <a:r>
              <a:rPr lang="en-US"/>
              <a:t>Presentation script:
I am explaining only the line-following logic, not the exact private tuning details. The car follows the black line using two IR sensors. The logic is based on three simple cases.
First, white and white means neither sensor sees the black line. In that case, the car uses its last known line position and searches in that same direction to find the line again.
Second, white and black, or the mirrored black and white case, means the car is on the edge of the line. Here I correct the direction using differential motor speeds. One motor runs slower and the other runs faster, so the car curves back toward the line instead of making a harsh movement.
Third, black and black means both sensors are over the line. The car should stay stable and continue forward.
The important recovery part is memory. The car stores where it last saw the black line. If the line is lost, it does not randomly turn; it searches back in the same direction to realign.
I also had to adjust the potentiometer on the IR module because the sensor threshold depends on the actual line width and surface contrast. Without this adjustment, the sensor can switch too early or too late, which causes unstable movement.
The first video shows the failure case where the car jerks. The second video shows the improved behavior with smoother correction, memory-based recovery, and proper sensor threshold adjustment.</a:t>
            </a:r>
          </a:p>
        </p:txBody>
      </p:sp>
      <p:sp>
        <p:nvSpPr>
          <p:cNvPr id="4" name="Slide Number Placeholder 3">
            <a:extLst>
              <a:ext uri="{FF2B5EF4-FFF2-40B4-BE49-F238E27FC236}">
                <a16:creationId xmlns:a16="http://schemas.microsoft.com/office/drawing/2014/main" id="{C30CFFE7-F596-BF5C-698B-20A0D9545F8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3425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995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77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846CE7D5-CF57-46EF-B807-FDD0502418D4}" type="datetimeFigureOut">
              <a:rPr lang="en-US" smtClean="0"/>
              <a:t>7/5/2026</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07/relationships/media" Target="../media/media2.mp4"/><Relationship Id="rId7" Type="http://schemas.openxmlformats.org/officeDocument/2006/relationships/image" Target="../media/image2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xml"/><Relationship Id="rId11" Type="http://schemas.openxmlformats.org/officeDocument/2006/relationships/image" Target="../media/image2.png"/><Relationship Id="rId5" Type="http://schemas.openxmlformats.org/officeDocument/2006/relationships/slideLayout" Target="../slideLayouts/slideLayout12.xml"/><Relationship Id="rId10" Type="http://schemas.openxmlformats.org/officeDocument/2006/relationships/image" Target="../media/image4.png"/><Relationship Id="rId4" Type="http://schemas.openxmlformats.org/officeDocument/2006/relationships/video" Target="../media/media2.mp4"/><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media" Target="../media/media4.mp4"/><Relationship Id="rId7" Type="http://schemas.openxmlformats.org/officeDocument/2006/relationships/image" Target="../media/image1.png"/><Relationship Id="rId12" Type="http://schemas.openxmlformats.org/officeDocument/2006/relationships/image" Target="../media/image24.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xml"/><Relationship Id="rId11" Type="http://schemas.openxmlformats.org/officeDocument/2006/relationships/image" Target="../media/image23.png"/><Relationship Id="rId5" Type="http://schemas.openxmlformats.org/officeDocument/2006/relationships/slideLayout" Target="../slideLayouts/slideLayout12.xml"/><Relationship Id="rId10" Type="http://schemas.openxmlformats.org/officeDocument/2006/relationships/image" Target="../media/image22.png"/><Relationship Id="rId4" Type="http://schemas.openxmlformats.org/officeDocument/2006/relationships/video" Target="../media/media4.mp4"/><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7.xml"/><Relationship Id="rId7" Type="http://schemas.openxmlformats.org/officeDocument/2006/relationships/image" Target="../media/image4.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11904431" y="6177252"/>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2">
              <a:alphaModFix amt="67000"/>
            </a:blip>
            <a:stretch>
              <a:fillRect/>
            </a:stretch>
          </a:blipFill>
        </p:spPr>
        <p:txBody>
          <a:bodyPr/>
          <a:lstStyle/>
          <a:p>
            <a:endParaRPr lang="en-US"/>
          </a:p>
        </p:txBody>
      </p:sp>
      <p:sp>
        <p:nvSpPr>
          <p:cNvPr id="8" name="Freeform 8"/>
          <p:cNvSpPr/>
          <p:nvPr/>
        </p:nvSpPr>
        <p:spPr>
          <a:xfrm rot="768394">
            <a:off x="2902143" y="-5554961"/>
            <a:ext cx="10036098" cy="822960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3">
              <a:alphaModFix amt="55000"/>
            </a:blip>
            <a:stretch>
              <a:fillRect/>
            </a:stretch>
          </a:blipFill>
        </p:spPr>
        <p:txBody>
          <a:bodyPr/>
          <a:lstStyle/>
          <a:p>
            <a:endParaRPr lang="en-US"/>
          </a:p>
        </p:txBody>
      </p:sp>
      <p:sp>
        <p:nvSpPr>
          <p:cNvPr id="12" name="Freeform 12"/>
          <p:cNvSpPr/>
          <p:nvPr/>
        </p:nvSpPr>
        <p:spPr>
          <a:xfrm>
            <a:off x="14295480" y="1247851"/>
            <a:ext cx="607187" cy="685735"/>
          </a:xfrm>
          <a:custGeom>
            <a:avLst/>
            <a:gdLst/>
            <a:ahLst/>
            <a:cxnLst/>
            <a:rect l="l" t="t" r="r" b="b"/>
            <a:pathLst>
              <a:path w="607187" h="685735">
                <a:moveTo>
                  <a:pt x="0" y="0"/>
                </a:moveTo>
                <a:lnTo>
                  <a:pt x="607187" y="0"/>
                </a:lnTo>
                <a:lnTo>
                  <a:pt x="607187" y="685736"/>
                </a:lnTo>
                <a:lnTo>
                  <a:pt x="0" y="6857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a:off x="10661458" y="8591887"/>
            <a:ext cx="607187" cy="685735"/>
          </a:xfrm>
          <a:custGeom>
            <a:avLst/>
            <a:gdLst/>
            <a:ahLst/>
            <a:cxnLst/>
            <a:rect l="l" t="t" r="r" b="b"/>
            <a:pathLst>
              <a:path w="607187" h="685735">
                <a:moveTo>
                  <a:pt x="0" y="0"/>
                </a:moveTo>
                <a:lnTo>
                  <a:pt x="607188" y="0"/>
                </a:lnTo>
                <a:lnTo>
                  <a:pt x="607188" y="685735"/>
                </a:lnTo>
                <a:lnTo>
                  <a:pt x="0" y="6857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0227675" y="2273228"/>
            <a:ext cx="6371996" cy="4199804"/>
          </a:xfrm>
          <a:prstGeom prst="rect">
            <a:avLst/>
          </a:prstGeom>
        </p:spPr>
        <p:txBody>
          <a:bodyPr lIns="0" tIns="0" rIns="0" bIns="0" rtlCol="0" anchor="t">
            <a:spAutoFit/>
          </a:bodyPr>
          <a:lstStyle/>
          <a:p>
            <a:r>
              <a:rPr lang="en-US" sz="6400" b="1">
                <a:solidFill>
                  <a:srgbClr val="000000"/>
                </a:solidFill>
                <a:latin typeface="Open Sans Bold"/>
                <a:ea typeface="Open Sans Bold"/>
                <a:cs typeface="Open Sans Bold"/>
                <a:sym typeface="Open Sans Bold"/>
              </a:rPr>
              <a:t>AUTONOMOUS</a:t>
            </a:r>
            <a:endParaRPr lang="en-US" sz="6400">
              <a:solidFill>
                <a:srgbClr val="000000"/>
              </a:solidFill>
              <a:latin typeface="Open Sans Bold"/>
              <a:ea typeface="Open Sans Bold"/>
              <a:cs typeface="Open Sans Bold"/>
              <a:sym typeface="Open Sans Bold"/>
            </a:endParaRPr>
          </a:p>
          <a:p>
            <a:r>
              <a:rPr lang="en-US" sz="6400" b="1">
                <a:solidFill>
                  <a:srgbClr val="000000"/>
                </a:solidFill>
                <a:latin typeface="Open Sans Bold"/>
                <a:ea typeface="Open Sans Bold"/>
                <a:cs typeface="Open Sans Bold"/>
                <a:sym typeface="Open Sans Bold"/>
              </a:rPr>
              <a:t>ARDUINO CAR</a:t>
            </a:r>
            <a:endParaRPr lang="en-US" sz="6400">
              <a:solidFill>
                <a:srgbClr val="000000"/>
              </a:solidFill>
              <a:latin typeface="Open Sans Bold"/>
              <a:ea typeface="Open Sans Bold"/>
              <a:cs typeface="Open Sans Bold"/>
              <a:sym typeface="Open Sans Bold"/>
            </a:endParaRPr>
          </a:p>
          <a:p>
            <a:pPr>
              <a:lnSpc>
                <a:spcPts val="8959"/>
              </a:lnSpc>
              <a:spcBef>
                <a:spcPct val="0"/>
              </a:spcBef>
            </a:pPr>
            <a:r>
              <a:rPr lang="en-US" sz="6400" b="1">
                <a:solidFill>
                  <a:srgbClr val="000000"/>
                </a:solidFill>
                <a:latin typeface="Open Sans Bold"/>
                <a:ea typeface="Open Sans Bold"/>
                <a:cs typeface="Open Sans Bold"/>
                <a:sym typeface="Open Sans Bold"/>
              </a:rPr>
              <a:t>PROJECT</a:t>
            </a:r>
            <a:endParaRPr lang="en-US" sz="6400">
              <a:solidFill>
                <a:srgbClr val="000000"/>
              </a:solidFill>
              <a:latin typeface="Open Sans Bold"/>
              <a:ea typeface="Open Sans Bold"/>
              <a:cs typeface="Open Sans Bold"/>
              <a:sym typeface="Open Sans Bold"/>
            </a:endParaRPr>
          </a:p>
          <a:p>
            <a:pPr algn="l">
              <a:lnSpc>
                <a:spcPts val="8959"/>
              </a:lnSpc>
              <a:spcBef>
                <a:spcPct val="0"/>
              </a:spcBef>
            </a:pPr>
            <a:endParaRPr lang="en-US" sz="6350" b="1">
              <a:solidFill>
                <a:srgbClr val="000000"/>
              </a:solidFill>
              <a:latin typeface="Open Sans Bold"/>
              <a:ea typeface="Open Sans Bold"/>
              <a:cs typeface="Open Sans Bold"/>
            </a:endParaRPr>
          </a:p>
        </p:txBody>
      </p:sp>
      <p:pic>
        <p:nvPicPr>
          <p:cNvPr id="18" name="Picture 17">
            <a:extLst>
              <a:ext uri="{FF2B5EF4-FFF2-40B4-BE49-F238E27FC236}">
                <a16:creationId xmlns:a16="http://schemas.microsoft.com/office/drawing/2014/main" id="{86D63B0F-0A5A-13A0-448C-F1B47A0A8D82}"/>
              </a:ext>
            </a:extLst>
          </p:cNvPr>
          <p:cNvPicPr>
            <a:picLocks noChangeAspect="1"/>
          </p:cNvPicPr>
          <p:nvPr/>
        </p:nvPicPr>
        <p:blipFill>
          <a:blip r:embed="rId5"/>
          <a:srcRect t="-926" b="35617"/>
          <a:stretch>
            <a:fillRect/>
          </a:stretch>
        </p:blipFill>
        <p:spPr>
          <a:xfrm>
            <a:off x="936172" y="522514"/>
            <a:ext cx="1186544" cy="564762"/>
          </a:xfrm>
          <a:prstGeom prst="rect">
            <a:avLst/>
          </a:prstGeom>
        </p:spPr>
      </p:pic>
      <p:sp>
        <p:nvSpPr>
          <p:cNvPr id="17" name="TextBox 15">
            <a:extLst>
              <a:ext uri="{FF2B5EF4-FFF2-40B4-BE49-F238E27FC236}">
                <a16:creationId xmlns:a16="http://schemas.microsoft.com/office/drawing/2014/main" id="{127EF397-8667-9C11-2B46-5304C18D728B}"/>
              </a:ext>
            </a:extLst>
          </p:cNvPr>
          <p:cNvSpPr txBox="1"/>
          <p:nvPr/>
        </p:nvSpPr>
        <p:spPr>
          <a:xfrm>
            <a:off x="10227675" y="5856495"/>
            <a:ext cx="6371996" cy="1263166"/>
          </a:xfrm>
          <a:prstGeom prst="rect">
            <a:avLst/>
          </a:prstGeom>
        </p:spPr>
        <p:txBody>
          <a:bodyPr lIns="0" tIns="0" rIns="0" bIns="0" rtlCol="0" anchor="t">
            <a:spAutoFit/>
          </a:bodyPr>
          <a:lstStyle/>
          <a:p>
            <a:pPr>
              <a:lnSpc>
                <a:spcPts val="2520"/>
              </a:lnSpc>
              <a:spcBef>
                <a:spcPct val="0"/>
              </a:spcBef>
            </a:pPr>
            <a:r>
              <a:rPr lang="en-US">
                <a:solidFill>
                  <a:srgbClr val="000000"/>
                </a:solidFill>
                <a:latin typeface="Calibri"/>
                <a:ea typeface="Calibri"/>
                <a:cs typeface="Calibri"/>
                <a:sym typeface="Roboto"/>
              </a:rPr>
              <a:t>The Autonomous Driving System (ADS) is a semester project for the System Engineering &amp; Prototyping module at Hochschule Hamm-Lippstadt</a:t>
            </a:r>
            <a:r>
              <a:rPr lang="en-US" sz="1800">
                <a:solidFill>
                  <a:srgbClr val="000000"/>
                </a:solidFill>
                <a:latin typeface="Calibri"/>
                <a:ea typeface="Calibri"/>
                <a:cs typeface="Calibri"/>
                <a:sym typeface="Roboto"/>
              </a:rPr>
              <a:t>. </a:t>
            </a:r>
            <a:r>
              <a:rPr lang="en-US">
                <a:solidFill>
                  <a:srgbClr val="000000"/>
                </a:solidFill>
                <a:latin typeface="Calibri"/>
                <a:ea typeface="Calibri"/>
                <a:cs typeface="Calibri"/>
                <a:sym typeface="Roboto"/>
              </a:rPr>
              <a:t>It focuses on developing a robotic vehicle that can follow a line and avoid obstacles autonomously</a:t>
            </a:r>
            <a:r>
              <a:rPr lang="en-US" sz="1800">
                <a:solidFill>
                  <a:srgbClr val="000000"/>
                </a:solidFill>
                <a:latin typeface="Calibri"/>
                <a:ea typeface="Calibri"/>
                <a:cs typeface="Calibri"/>
                <a:sym typeface="Roboto"/>
              </a:rPr>
              <a:t>.</a:t>
            </a:r>
            <a:endParaRPr lang="en-US">
              <a:latin typeface="Calibri"/>
              <a:ea typeface="Calibri"/>
              <a:cs typeface="Calibri"/>
            </a:endParaRPr>
          </a:p>
        </p:txBody>
      </p:sp>
      <p:sp>
        <p:nvSpPr>
          <p:cNvPr id="26" name="SK-7-text-12">
            <a:extLst>
              <a:ext uri="{FF2B5EF4-FFF2-40B4-BE49-F238E27FC236}">
                <a16:creationId xmlns:a16="http://schemas.microsoft.com/office/drawing/2014/main" id="{5B86FD1E-1A85-A8B8-2F0C-BDF89E58B160}"/>
              </a:ext>
            </a:extLst>
          </p:cNvPr>
          <p:cNvSpPr/>
          <p:nvPr/>
        </p:nvSpPr>
        <p:spPr>
          <a:xfrm>
            <a:off x="2119086" y="721016"/>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28" name="SK-7-text-13">
            <a:extLst>
              <a:ext uri="{FF2B5EF4-FFF2-40B4-BE49-F238E27FC236}">
                <a16:creationId xmlns:a16="http://schemas.microsoft.com/office/drawing/2014/main" id="{332EF8AC-C825-F633-C100-61E9C8287B23}"/>
              </a:ext>
            </a:extLst>
          </p:cNvPr>
          <p:cNvSpPr/>
          <p:nvPr/>
        </p:nvSpPr>
        <p:spPr>
          <a:xfrm>
            <a:off x="2119086" y="885620"/>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pic>
        <p:nvPicPr>
          <p:cNvPr id="30" name="Picture 29">
            <a:extLst>
              <a:ext uri="{FF2B5EF4-FFF2-40B4-BE49-F238E27FC236}">
                <a16:creationId xmlns:a16="http://schemas.microsoft.com/office/drawing/2014/main" id="{6BAD0932-E314-365E-FCAE-39165B046F66}"/>
              </a:ext>
            </a:extLst>
          </p:cNvPr>
          <p:cNvPicPr>
            <a:picLocks noChangeAspect="1"/>
          </p:cNvPicPr>
          <p:nvPr/>
        </p:nvPicPr>
        <p:blipFill>
          <a:blip r:embed="rId6" cstate="screen">
            <a:extLst>
              <a:ext uri="{28A0092B-C50C-407E-A947-70E740481C1C}">
                <a14:useLocalDpi xmlns:a14="http://schemas.microsoft.com/office/drawing/2010/main"/>
              </a:ext>
            </a:extLst>
          </a:blip>
          <a:srcRect l="-247" b="-160"/>
          <a:stretch>
            <a:fillRect/>
          </a:stretch>
        </p:blipFill>
        <p:spPr>
          <a:xfrm>
            <a:off x="931766" y="2112591"/>
            <a:ext cx="8414721" cy="6819145"/>
          </a:xfrm>
          <a:prstGeom prst="roundRect">
            <a:avLst>
              <a:gd name="adj" fmla="val 2086"/>
            </a:avLst>
          </a:prstGeom>
        </p:spPr>
      </p:pic>
      <p:sp>
        <p:nvSpPr>
          <p:cNvPr id="4" name="TextBox 15">
            <a:extLst>
              <a:ext uri="{FF2B5EF4-FFF2-40B4-BE49-F238E27FC236}">
                <a16:creationId xmlns:a16="http://schemas.microsoft.com/office/drawing/2014/main" id="{37868B3B-D668-6E38-FCBF-974CB542DD45}"/>
              </a:ext>
            </a:extLst>
          </p:cNvPr>
          <p:cNvSpPr txBox="1"/>
          <p:nvPr/>
        </p:nvSpPr>
        <p:spPr>
          <a:xfrm>
            <a:off x="10227675" y="7576438"/>
            <a:ext cx="6371996" cy="553998"/>
          </a:xfrm>
          <a:prstGeom prst="rect">
            <a:avLst/>
          </a:prstGeom>
        </p:spPr>
        <p:txBody>
          <a:bodyPr lIns="0" tIns="0" rIns="0" bIns="0" rtlCol="0" anchor="t">
            <a:spAutoFit/>
          </a:bodyPr>
          <a:lstStyle/>
          <a:p>
            <a:r>
              <a:rPr lang="en-US">
                <a:solidFill>
                  <a:srgbClr val="2E2E2E"/>
                </a:solidFill>
                <a:ea typeface="+mn-lt"/>
                <a:cs typeface="+mn-lt"/>
                <a:sym typeface="Roboto"/>
              </a:rPr>
              <a:t>Prototyping and Systems Engineering </a:t>
            </a:r>
            <a:endParaRPr lang="en-US">
              <a:solidFill>
                <a:srgbClr val="2E2E2E"/>
              </a:solidFill>
              <a:ea typeface="Calibri"/>
              <a:cs typeface="Calibri"/>
            </a:endParaRPr>
          </a:p>
          <a:p>
            <a:r>
              <a:rPr lang="en-US">
                <a:solidFill>
                  <a:srgbClr val="2E2E2E"/>
                </a:solidFill>
                <a:ea typeface="+mn-lt"/>
                <a:cs typeface="+mn-lt"/>
                <a:sym typeface="Roboto"/>
              </a:rPr>
              <a:t>Amina Boudali · Naved Afridi Rashiq ·  Tzuen Lin · Farwah Tanseem</a:t>
            </a:r>
            <a:r>
              <a:rPr lang="en-US" sz="1800">
                <a:solidFill>
                  <a:srgbClr val="2E2E2E"/>
                </a:solidFill>
                <a:latin typeface="Calibri"/>
                <a:ea typeface="Calibri"/>
                <a:cs typeface="Calibri"/>
                <a:sym typeface="Roboto"/>
              </a:rPr>
              <a:t>.</a:t>
            </a:r>
            <a:endParaRPr lang="en-US">
              <a:solidFill>
                <a:srgbClr val="2E2E2E"/>
              </a:solidFill>
              <a:latin typeface="Calibri"/>
              <a:ea typeface="Calibri"/>
              <a:cs typeface="Calibri"/>
            </a:endParaRPr>
          </a:p>
        </p:txBody>
      </p:sp>
    </p:spTree>
    <p:extLst>
      <p:ext uri="{BB962C8B-B14F-4D97-AF65-F5344CB8AC3E}">
        <p14:creationId xmlns:p14="http://schemas.microsoft.com/office/powerpoint/2010/main" val="4291763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D05F-BAFA-14FE-338C-404CCC79D661}"/>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5F667362-0576-0D44-64E2-F2ABE844AD99}"/>
              </a:ext>
            </a:extLst>
          </p:cNvPr>
          <p:cNvSpPr txBox="1"/>
          <p:nvPr/>
        </p:nvSpPr>
        <p:spPr>
          <a:xfrm>
            <a:off x="1039585" y="1674514"/>
            <a:ext cx="6361111" cy="917880"/>
          </a:xfrm>
          <a:prstGeom prst="rect">
            <a:avLst/>
          </a:prstGeom>
        </p:spPr>
        <p:txBody>
          <a:bodyPr wrap="square" lIns="0" tIns="0" rIns="0" bIns="0" rtlCol="0" anchor="t">
            <a:spAutoFit/>
          </a:bodyPr>
          <a:lstStyle/>
          <a:p>
            <a:pPr>
              <a:lnSpc>
                <a:spcPts val="3465"/>
              </a:lnSpc>
            </a:pPr>
            <a:r>
              <a:rPr lang="en-US" sz="4000" b="1">
                <a:solidFill>
                  <a:srgbClr val="000000"/>
                </a:solidFill>
                <a:latin typeface="Open Sans Bold"/>
                <a:ea typeface="Open Sans Bold"/>
                <a:cs typeface="Open Sans Bold"/>
                <a:sym typeface="Open Sans Bold"/>
              </a:rPr>
              <a:t>SYSTEM </a:t>
            </a:r>
            <a:r>
              <a:rPr lang="en-US" sz="4000" b="1">
                <a:latin typeface="Open Sans Bold"/>
                <a:ea typeface="Open Sans Bold"/>
                <a:cs typeface="Open Sans Bold"/>
                <a:sym typeface="Open Sans Bold"/>
              </a:rPr>
              <a:t>ENGINEERING</a:t>
            </a:r>
            <a:endParaRPr lang="en-US" sz="4000" b="1">
              <a:latin typeface="Open Sans Bold"/>
              <a:ea typeface="Open Sans Bold"/>
              <a:cs typeface="Open Sans Bold"/>
            </a:endParaRPr>
          </a:p>
          <a:p>
            <a:pPr>
              <a:lnSpc>
                <a:spcPts val="3465"/>
              </a:lnSpc>
            </a:pPr>
            <a:endParaRPr lang="en-US" sz="4000" b="1">
              <a:latin typeface="Open Sans Bold"/>
              <a:ea typeface="Open Sans Bold"/>
              <a:cs typeface="Open Sans Bold"/>
            </a:endParaRPr>
          </a:p>
        </p:txBody>
      </p:sp>
      <p:grpSp>
        <p:nvGrpSpPr>
          <p:cNvPr id="12" name="Group 12">
            <a:extLst>
              <a:ext uri="{FF2B5EF4-FFF2-40B4-BE49-F238E27FC236}">
                <a16:creationId xmlns:a16="http://schemas.microsoft.com/office/drawing/2014/main" id="{6A1EF197-48BA-5D2D-7FB6-DFED19332B00}"/>
              </a:ext>
            </a:extLst>
          </p:cNvPr>
          <p:cNvGrpSpPr/>
          <p:nvPr/>
        </p:nvGrpSpPr>
        <p:grpSpPr>
          <a:xfrm>
            <a:off x="10705965" y="3180022"/>
            <a:ext cx="6803708" cy="570812"/>
            <a:chOff x="75580" y="566438"/>
            <a:chExt cx="9071611" cy="722083"/>
          </a:xfrm>
        </p:grpSpPr>
        <p:sp>
          <p:nvSpPr>
            <p:cNvPr id="15" name="TextBox 15">
              <a:extLst>
                <a:ext uri="{FF2B5EF4-FFF2-40B4-BE49-F238E27FC236}">
                  <a16:creationId xmlns:a16="http://schemas.microsoft.com/office/drawing/2014/main" id="{C4CF3D9B-78B5-1676-7C35-392A15A21375}"/>
                </a:ext>
              </a:extLst>
            </p:cNvPr>
            <p:cNvSpPr txBox="1"/>
            <p:nvPr/>
          </p:nvSpPr>
          <p:spPr>
            <a:xfrm>
              <a:off x="75580" y="586256"/>
              <a:ext cx="655028" cy="702265"/>
            </a:xfrm>
            <a:prstGeom prst="rect">
              <a:avLst/>
            </a:prstGeom>
          </p:spPr>
          <p:txBody>
            <a:bodyPr lIns="50800" tIns="50800" rIns="50800" bIns="50800" rtlCol="0" anchor="ctr"/>
            <a:lstStyle/>
            <a:p>
              <a:pPr algn="ctr">
                <a:lnSpc>
                  <a:spcPts val="2940"/>
                </a:lnSpc>
              </a:pPr>
              <a:endParaRPr/>
            </a:p>
          </p:txBody>
        </p:sp>
        <p:sp>
          <p:nvSpPr>
            <p:cNvPr id="17" name="TextBox 17">
              <a:extLst>
                <a:ext uri="{FF2B5EF4-FFF2-40B4-BE49-F238E27FC236}">
                  <a16:creationId xmlns:a16="http://schemas.microsoft.com/office/drawing/2014/main" id="{5EC85A1C-5F1E-FF03-3BDF-A2B849469A91}"/>
                </a:ext>
              </a:extLst>
            </p:cNvPr>
            <p:cNvSpPr txBox="1"/>
            <p:nvPr/>
          </p:nvSpPr>
          <p:spPr>
            <a:xfrm>
              <a:off x="1116516" y="566438"/>
              <a:ext cx="8030675" cy="450176"/>
            </a:xfrm>
            <a:prstGeom prst="rect">
              <a:avLst/>
            </a:prstGeom>
          </p:spPr>
          <p:txBody>
            <a:bodyPr lIns="0" tIns="0" rIns="0" bIns="0" rtlCol="0" anchor="t">
              <a:spAutoFit/>
            </a:bodyPr>
            <a:lstStyle/>
            <a:p>
              <a:pPr>
                <a:lnSpc>
                  <a:spcPts val="2940"/>
                </a:lnSpc>
                <a:spcBef>
                  <a:spcPct val="0"/>
                </a:spcBef>
              </a:pPr>
              <a:r>
                <a:rPr lang="en-GB" sz="2400">
                  <a:latin typeface="Roboto"/>
                  <a:ea typeface="Roboto"/>
                  <a:cs typeface="Roboto"/>
                  <a:sym typeface="Roboto Bold"/>
                </a:rPr>
                <a:t>Sensing system: line and obstacle detection</a:t>
              </a:r>
              <a:endParaRPr lang="en-US">
                <a:latin typeface="Roboto"/>
                <a:ea typeface="Roboto"/>
                <a:cs typeface="Roboto"/>
              </a:endParaRPr>
            </a:p>
          </p:txBody>
        </p:sp>
      </p:grpSp>
      <p:sp>
        <p:nvSpPr>
          <p:cNvPr id="36" name="Freeform 36">
            <a:extLst>
              <a:ext uri="{FF2B5EF4-FFF2-40B4-BE49-F238E27FC236}">
                <a16:creationId xmlns:a16="http://schemas.microsoft.com/office/drawing/2014/main" id="{737DC4E7-3309-3BAF-055A-66850278BC03}"/>
              </a:ext>
            </a:extLst>
          </p:cNvPr>
          <p:cNvSpPr/>
          <p:nvPr/>
        </p:nvSpPr>
        <p:spPr>
          <a:xfrm>
            <a:off x="1069704" y="8572565"/>
            <a:ext cx="607187" cy="685735"/>
          </a:xfrm>
          <a:custGeom>
            <a:avLst/>
            <a:gdLst/>
            <a:ahLst/>
            <a:cxnLst/>
            <a:rect l="l" t="t" r="r" b="b"/>
            <a:pathLst>
              <a:path w="607187" h="685735">
                <a:moveTo>
                  <a:pt x="0" y="0"/>
                </a:moveTo>
                <a:lnTo>
                  <a:pt x="607187" y="0"/>
                </a:lnTo>
                <a:lnTo>
                  <a:pt x="607187" y="685735"/>
                </a:lnTo>
                <a:lnTo>
                  <a:pt x="0" y="6857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9" name="Group 12">
            <a:extLst>
              <a:ext uri="{FF2B5EF4-FFF2-40B4-BE49-F238E27FC236}">
                <a16:creationId xmlns:a16="http://schemas.microsoft.com/office/drawing/2014/main" id="{319AE093-8B3C-C1C6-D1A4-23BA950BDA56}"/>
              </a:ext>
            </a:extLst>
          </p:cNvPr>
          <p:cNvGrpSpPr/>
          <p:nvPr/>
        </p:nvGrpSpPr>
        <p:grpSpPr>
          <a:xfrm>
            <a:off x="10684193" y="4192393"/>
            <a:ext cx="6803708" cy="733471"/>
            <a:chOff x="75580" y="566438"/>
            <a:chExt cx="9071611" cy="927848"/>
          </a:xfrm>
        </p:grpSpPr>
        <p:sp>
          <p:nvSpPr>
            <p:cNvPr id="43" name="TextBox 15">
              <a:extLst>
                <a:ext uri="{FF2B5EF4-FFF2-40B4-BE49-F238E27FC236}">
                  <a16:creationId xmlns:a16="http://schemas.microsoft.com/office/drawing/2014/main" id="{C5F96B8F-E397-24A7-36DD-2E4A16C96B13}"/>
                </a:ext>
              </a:extLst>
            </p:cNvPr>
            <p:cNvSpPr txBox="1"/>
            <p:nvPr/>
          </p:nvSpPr>
          <p:spPr>
            <a:xfrm>
              <a:off x="75580" y="586256"/>
              <a:ext cx="655028" cy="702265"/>
            </a:xfrm>
            <a:prstGeom prst="rect">
              <a:avLst/>
            </a:prstGeom>
          </p:spPr>
          <p:txBody>
            <a:bodyPr lIns="50800" tIns="50800" rIns="50800" bIns="50800" rtlCol="0" anchor="ctr"/>
            <a:lstStyle/>
            <a:p>
              <a:pPr algn="ctr">
                <a:lnSpc>
                  <a:spcPts val="2940"/>
                </a:lnSpc>
              </a:pPr>
              <a:endParaRPr/>
            </a:p>
          </p:txBody>
        </p:sp>
        <p:sp>
          <p:nvSpPr>
            <p:cNvPr id="41" name="TextBox 17">
              <a:extLst>
                <a:ext uri="{FF2B5EF4-FFF2-40B4-BE49-F238E27FC236}">
                  <a16:creationId xmlns:a16="http://schemas.microsoft.com/office/drawing/2014/main" id="{E6D7EE5C-BA25-47FC-4D47-BEFBC978AA91}"/>
                </a:ext>
              </a:extLst>
            </p:cNvPr>
            <p:cNvSpPr txBox="1"/>
            <p:nvPr/>
          </p:nvSpPr>
          <p:spPr>
            <a:xfrm>
              <a:off x="1116516" y="566438"/>
              <a:ext cx="8030675" cy="927848"/>
            </a:xfrm>
            <a:prstGeom prst="rect">
              <a:avLst/>
            </a:prstGeom>
          </p:spPr>
          <p:txBody>
            <a:bodyPr lIns="0" tIns="0" rIns="0" bIns="0" rtlCol="0" anchor="t">
              <a:spAutoFit/>
            </a:bodyPr>
            <a:lstStyle/>
            <a:p>
              <a:r>
                <a:rPr lang="en-GB" sz="2400">
                  <a:solidFill>
                    <a:srgbClr val="000000"/>
                  </a:solidFill>
                  <a:latin typeface="Aptos"/>
                  <a:ea typeface="Roboto Bold"/>
                  <a:cs typeface="Roboto Bold"/>
                  <a:sym typeface="Roboto Bold"/>
                </a:rPr>
                <a:t>Control system: Arduino decision-making</a:t>
              </a:r>
              <a:endParaRPr lang="en-US"/>
            </a:p>
            <a:p>
              <a:pPr>
                <a:lnSpc>
                  <a:spcPts val="2940"/>
                </a:lnSpc>
                <a:spcBef>
                  <a:spcPct val="0"/>
                </a:spcBef>
              </a:pPr>
              <a:endParaRPr lang="en-GB" sz="2400">
                <a:latin typeface="Aptos"/>
                <a:ea typeface="Roboto Bold"/>
                <a:cs typeface="Roboto Bold"/>
              </a:endParaRPr>
            </a:p>
          </p:txBody>
        </p:sp>
      </p:grpSp>
      <p:grpSp>
        <p:nvGrpSpPr>
          <p:cNvPr id="44" name="Group 12">
            <a:extLst>
              <a:ext uri="{FF2B5EF4-FFF2-40B4-BE49-F238E27FC236}">
                <a16:creationId xmlns:a16="http://schemas.microsoft.com/office/drawing/2014/main" id="{59FEC03C-E7B7-B67F-3654-A3DF45D7E44E}"/>
              </a:ext>
            </a:extLst>
          </p:cNvPr>
          <p:cNvGrpSpPr/>
          <p:nvPr/>
        </p:nvGrpSpPr>
        <p:grpSpPr>
          <a:xfrm>
            <a:off x="10705964" y="5220431"/>
            <a:ext cx="6803708" cy="826662"/>
            <a:chOff x="75580" y="586256"/>
            <a:chExt cx="9071611" cy="1045735"/>
          </a:xfrm>
        </p:grpSpPr>
        <p:sp>
          <p:nvSpPr>
            <p:cNvPr id="48" name="TextBox 15">
              <a:extLst>
                <a:ext uri="{FF2B5EF4-FFF2-40B4-BE49-F238E27FC236}">
                  <a16:creationId xmlns:a16="http://schemas.microsoft.com/office/drawing/2014/main" id="{D937FA19-4F9E-7B91-9D85-B6626FE833EC}"/>
                </a:ext>
              </a:extLst>
            </p:cNvPr>
            <p:cNvSpPr txBox="1"/>
            <p:nvPr/>
          </p:nvSpPr>
          <p:spPr>
            <a:xfrm>
              <a:off x="75580" y="586256"/>
              <a:ext cx="655028" cy="702265"/>
            </a:xfrm>
            <a:prstGeom prst="rect">
              <a:avLst/>
            </a:prstGeom>
          </p:spPr>
          <p:txBody>
            <a:bodyPr lIns="50800" tIns="50800" rIns="50800" bIns="50800" rtlCol="0" anchor="ctr"/>
            <a:lstStyle/>
            <a:p>
              <a:pPr algn="ctr">
                <a:lnSpc>
                  <a:spcPts val="2940"/>
                </a:lnSpc>
              </a:pPr>
              <a:endParaRPr/>
            </a:p>
          </p:txBody>
        </p:sp>
        <p:sp>
          <p:nvSpPr>
            <p:cNvPr id="46" name="TextBox 17">
              <a:extLst>
                <a:ext uri="{FF2B5EF4-FFF2-40B4-BE49-F238E27FC236}">
                  <a16:creationId xmlns:a16="http://schemas.microsoft.com/office/drawing/2014/main" id="{D923643E-A649-991F-0CD4-BD2932C02771}"/>
                </a:ext>
              </a:extLst>
            </p:cNvPr>
            <p:cNvSpPr txBox="1"/>
            <p:nvPr/>
          </p:nvSpPr>
          <p:spPr>
            <a:xfrm>
              <a:off x="1116516" y="704143"/>
              <a:ext cx="8030675" cy="927848"/>
            </a:xfrm>
            <a:prstGeom prst="rect">
              <a:avLst/>
            </a:prstGeom>
          </p:spPr>
          <p:txBody>
            <a:bodyPr lIns="0" tIns="0" rIns="0" bIns="0" rtlCol="0" anchor="t">
              <a:spAutoFit/>
            </a:bodyPr>
            <a:lstStyle/>
            <a:p>
              <a:r>
                <a:rPr lang="en-GB" sz="2400">
                  <a:solidFill>
                    <a:srgbClr val="000000"/>
                  </a:solidFill>
                  <a:latin typeface="Aptos"/>
                  <a:ea typeface="Roboto Bold"/>
                  <a:cs typeface="Roboto Bold"/>
                  <a:sym typeface="Roboto Bold"/>
                </a:rPr>
                <a:t>Motion system: motor driver and DC motors</a:t>
              </a:r>
              <a:endParaRPr lang="en-US"/>
            </a:p>
            <a:p>
              <a:pPr>
                <a:lnSpc>
                  <a:spcPts val="2940"/>
                </a:lnSpc>
                <a:spcBef>
                  <a:spcPct val="0"/>
                </a:spcBef>
              </a:pPr>
              <a:endParaRPr lang="en-GB" sz="2400">
                <a:latin typeface="Aptos"/>
                <a:ea typeface="Roboto Bold"/>
                <a:cs typeface="Roboto Bold"/>
              </a:endParaRPr>
            </a:p>
          </p:txBody>
        </p:sp>
      </p:grpSp>
      <p:grpSp>
        <p:nvGrpSpPr>
          <p:cNvPr id="49" name="Group 12">
            <a:extLst>
              <a:ext uri="{FF2B5EF4-FFF2-40B4-BE49-F238E27FC236}">
                <a16:creationId xmlns:a16="http://schemas.microsoft.com/office/drawing/2014/main" id="{48084C9F-BE89-80C7-2F5E-C1B46920AA19}"/>
              </a:ext>
            </a:extLst>
          </p:cNvPr>
          <p:cNvGrpSpPr/>
          <p:nvPr/>
        </p:nvGrpSpPr>
        <p:grpSpPr>
          <a:xfrm>
            <a:off x="10705964" y="6232802"/>
            <a:ext cx="6803708" cy="565289"/>
            <a:chOff x="75580" y="586256"/>
            <a:chExt cx="9071611" cy="715096"/>
          </a:xfrm>
        </p:grpSpPr>
        <p:sp>
          <p:nvSpPr>
            <p:cNvPr id="53" name="TextBox 15">
              <a:extLst>
                <a:ext uri="{FF2B5EF4-FFF2-40B4-BE49-F238E27FC236}">
                  <a16:creationId xmlns:a16="http://schemas.microsoft.com/office/drawing/2014/main" id="{211CE051-FB3A-F6F0-B484-00FAABD002C2}"/>
                </a:ext>
              </a:extLst>
            </p:cNvPr>
            <p:cNvSpPr txBox="1"/>
            <p:nvPr/>
          </p:nvSpPr>
          <p:spPr>
            <a:xfrm>
              <a:off x="75580" y="586256"/>
              <a:ext cx="655028" cy="702265"/>
            </a:xfrm>
            <a:prstGeom prst="rect">
              <a:avLst/>
            </a:prstGeom>
          </p:spPr>
          <p:txBody>
            <a:bodyPr lIns="50800" tIns="50800" rIns="50800" bIns="50800" rtlCol="0" anchor="ctr"/>
            <a:lstStyle/>
            <a:p>
              <a:pPr algn="ctr">
                <a:lnSpc>
                  <a:spcPts val="2940"/>
                </a:lnSpc>
              </a:pPr>
              <a:endParaRPr/>
            </a:p>
          </p:txBody>
        </p:sp>
        <p:sp>
          <p:nvSpPr>
            <p:cNvPr id="51" name="TextBox 17">
              <a:extLst>
                <a:ext uri="{FF2B5EF4-FFF2-40B4-BE49-F238E27FC236}">
                  <a16:creationId xmlns:a16="http://schemas.microsoft.com/office/drawing/2014/main" id="{0BD2EF86-241D-24BB-2878-75FD75027BEF}"/>
                </a:ext>
              </a:extLst>
            </p:cNvPr>
            <p:cNvSpPr txBox="1"/>
            <p:nvPr/>
          </p:nvSpPr>
          <p:spPr>
            <a:xfrm>
              <a:off x="1116516" y="841848"/>
              <a:ext cx="8030675" cy="459504"/>
            </a:xfrm>
            <a:prstGeom prst="rect">
              <a:avLst/>
            </a:prstGeom>
          </p:spPr>
          <p:txBody>
            <a:bodyPr lIns="0" tIns="0" rIns="0" bIns="0" rtlCol="0" anchor="t">
              <a:spAutoFit/>
            </a:bodyPr>
            <a:lstStyle/>
            <a:p>
              <a:pPr>
                <a:lnSpc>
                  <a:spcPts val="2940"/>
                </a:lnSpc>
                <a:spcBef>
                  <a:spcPct val="0"/>
                </a:spcBef>
              </a:pPr>
              <a:r>
                <a:rPr lang="en-GB" sz="2400">
                  <a:solidFill>
                    <a:srgbClr val="000000"/>
                  </a:solidFill>
                  <a:latin typeface="Aptos"/>
                  <a:ea typeface="Roboto Bold"/>
                  <a:cs typeface="Roboto Bold"/>
                  <a:sym typeface="Roboto Bold"/>
                </a:rPr>
                <a:t>Power system: battery supply </a:t>
              </a:r>
              <a:endParaRPr lang="en-US"/>
            </a:p>
          </p:txBody>
        </p:sp>
      </p:grpSp>
      <p:grpSp>
        <p:nvGrpSpPr>
          <p:cNvPr id="54" name="Group 12">
            <a:extLst>
              <a:ext uri="{FF2B5EF4-FFF2-40B4-BE49-F238E27FC236}">
                <a16:creationId xmlns:a16="http://schemas.microsoft.com/office/drawing/2014/main" id="{36496684-15E4-DC07-71BD-695D386BE26A}"/>
              </a:ext>
            </a:extLst>
          </p:cNvPr>
          <p:cNvGrpSpPr/>
          <p:nvPr/>
        </p:nvGrpSpPr>
        <p:grpSpPr>
          <a:xfrm>
            <a:off x="10705965" y="7190745"/>
            <a:ext cx="6716622" cy="1381051"/>
            <a:chOff x="75580" y="586256"/>
            <a:chExt cx="8955496" cy="1747044"/>
          </a:xfrm>
        </p:grpSpPr>
        <p:sp>
          <p:nvSpPr>
            <p:cNvPr id="58" name="TextBox 15">
              <a:extLst>
                <a:ext uri="{FF2B5EF4-FFF2-40B4-BE49-F238E27FC236}">
                  <a16:creationId xmlns:a16="http://schemas.microsoft.com/office/drawing/2014/main" id="{0407FEC5-84BC-4FB4-529B-7BDC02AC048A}"/>
                </a:ext>
              </a:extLst>
            </p:cNvPr>
            <p:cNvSpPr txBox="1"/>
            <p:nvPr/>
          </p:nvSpPr>
          <p:spPr>
            <a:xfrm>
              <a:off x="75580" y="586256"/>
              <a:ext cx="655028" cy="702266"/>
            </a:xfrm>
            <a:prstGeom prst="rect">
              <a:avLst/>
            </a:prstGeom>
          </p:spPr>
          <p:txBody>
            <a:bodyPr lIns="50800" tIns="50800" rIns="50800" bIns="50800" rtlCol="0" anchor="ctr"/>
            <a:lstStyle/>
            <a:p>
              <a:pPr algn="ctr">
                <a:lnSpc>
                  <a:spcPts val="2940"/>
                </a:lnSpc>
              </a:pPr>
              <a:endParaRPr/>
            </a:p>
          </p:txBody>
        </p:sp>
        <p:sp>
          <p:nvSpPr>
            <p:cNvPr id="56" name="TextBox 17">
              <a:extLst>
                <a:ext uri="{FF2B5EF4-FFF2-40B4-BE49-F238E27FC236}">
                  <a16:creationId xmlns:a16="http://schemas.microsoft.com/office/drawing/2014/main" id="{92A2ED31-DD97-35D7-C573-982162CB9207}"/>
                </a:ext>
              </a:extLst>
            </p:cNvPr>
            <p:cNvSpPr txBox="1"/>
            <p:nvPr/>
          </p:nvSpPr>
          <p:spPr>
            <a:xfrm>
              <a:off x="1000401" y="938244"/>
              <a:ext cx="8030675" cy="1395056"/>
            </a:xfrm>
            <a:prstGeom prst="rect">
              <a:avLst/>
            </a:prstGeom>
          </p:spPr>
          <p:txBody>
            <a:bodyPr lIns="0" tIns="0" rIns="0" bIns="0" rtlCol="0" anchor="t">
              <a:spAutoFit/>
            </a:bodyPr>
            <a:lstStyle/>
            <a:p>
              <a:r>
                <a:rPr lang="en-GB" sz="2400">
                  <a:solidFill>
                    <a:srgbClr val="000000"/>
                  </a:solidFill>
                  <a:latin typeface="Aptos"/>
                  <a:ea typeface="Roboto Bold"/>
                  <a:cs typeface="Roboto Bold"/>
                  <a:sym typeface="Roboto Bold"/>
                </a:rPr>
                <a:t>Mechanical structure: chassis and 3D-printed holders</a:t>
              </a:r>
              <a:endParaRPr lang="en-US"/>
            </a:p>
            <a:p>
              <a:pPr>
                <a:lnSpc>
                  <a:spcPts val="2940"/>
                </a:lnSpc>
                <a:spcBef>
                  <a:spcPct val="0"/>
                </a:spcBef>
              </a:pPr>
              <a:endParaRPr lang="en-GB" sz="2400">
                <a:latin typeface="Aptos"/>
                <a:ea typeface="Roboto Bold"/>
                <a:cs typeface="Roboto Bold"/>
              </a:endParaRPr>
            </a:p>
          </p:txBody>
        </p:sp>
      </p:grpSp>
      <p:pic>
        <p:nvPicPr>
          <p:cNvPr id="59" name="Picture 58">
            <a:extLst>
              <a:ext uri="{FF2B5EF4-FFF2-40B4-BE49-F238E27FC236}">
                <a16:creationId xmlns:a16="http://schemas.microsoft.com/office/drawing/2014/main" id="{A6A36609-8984-4A70-7381-4A9DBEE64C5F}"/>
              </a:ext>
            </a:extLst>
          </p:cNvPr>
          <p:cNvPicPr>
            <a:picLocks noChangeAspect="1"/>
          </p:cNvPicPr>
          <p:nvPr/>
        </p:nvPicPr>
        <p:blipFill>
          <a:blip r:embed="rId3"/>
          <a:srcRect t="6129" r="-113" b="152"/>
          <a:stretch>
            <a:fillRect/>
          </a:stretch>
        </p:blipFill>
        <p:spPr>
          <a:xfrm>
            <a:off x="-1361" y="3160428"/>
            <a:ext cx="9677536" cy="6692382"/>
          </a:xfrm>
          <a:prstGeom prst="rect">
            <a:avLst/>
          </a:prstGeom>
        </p:spPr>
      </p:pic>
      <p:sp>
        <p:nvSpPr>
          <p:cNvPr id="8" name="Freeform 8">
            <a:extLst>
              <a:ext uri="{FF2B5EF4-FFF2-40B4-BE49-F238E27FC236}">
                <a16:creationId xmlns:a16="http://schemas.microsoft.com/office/drawing/2014/main" id="{02076414-2EA9-E882-C9B4-869FB2AE2D61}"/>
              </a:ext>
            </a:extLst>
          </p:cNvPr>
          <p:cNvSpPr/>
          <p:nvPr/>
        </p:nvSpPr>
        <p:spPr>
          <a:xfrm rot="600000">
            <a:off x="13673282" y="-5761859"/>
            <a:ext cx="8980185" cy="855617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4">
              <a:alphaModFix amt="55000"/>
            </a:blip>
            <a:stretch>
              <a:fillRect/>
            </a:stretch>
          </a:blipFill>
        </p:spPr>
        <p:txBody>
          <a:bodyPr/>
          <a:lstStyle/>
          <a:p>
            <a:endParaRPr lang="en-US"/>
          </a:p>
        </p:txBody>
      </p:sp>
      <p:sp>
        <p:nvSpPr>
          <p:cNvPr id="10" name="Freeform 9">
            <a:extLst>
              <a:ext uri="{FF2B5EF4-FFF2-40B4-BE49-F238E27FC236}">
                <a16:creationId xmlns:a16="http://schemas.microsoft.com/office/drawing/2014/main" id="{B09BAAE2-C4AD-04BB-31F4-528A5709F251}"/>
              </a:ext>
            </a:extLst>
          </p:cNvPr>
          <p:cNvSpPr/>
          <p:nvPr/>
        </p:nvSpPr>
        <p:spPr>
          <a:xfrm rot="960000">
            <a:off x="4121146" y="8006052"/>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5">
              <a:alphaModFix amt="67000"/>
            </a:blip>
            <a:stretch>
              <a:fillRect/>
            </a:stretch>
          </a:blipFill>
        </p:spPr>
        <p:txBody>
          <a:bodyPr/>
          <a:lstStyle/>
          <a:p>
            <a:endParaRPr lang="en-US"/>
          </a:p>
        </p:txBody>
      </p:sp>
      <p:pic>
        <p:nvPicPr>
          <p:cNvPr id="16" name="Picture 15" descr="A purple and blue cross&#10;&#10;AI-generated content may be incorrect.">
            <a:extLst>
              <a:ext uri="{FF2B5EF4-FFF2-40B4-BE49-F238E27FC236}">
                <a16:creationId xmlns:a16="http://schemas.microsoft.com/office/drawing/2014/main" id="{BD7EE7DB-694B-228B-289D-E5240DC887F1}"/>
              </a:ext>
            </a:extLst>
          </p:cNvPr>
          <p:cNvPicPr>
            <a:picLocks noChangeAspect="1"/>
          </p:cNvPicPr>
          <p:nvPr/>
        </p:nvPicPr>
        <p:blipFill>
          <a:blip r:embed="rId6"/>
          <a:srcRect t="-926" b="35617"/>
          <a:stretch>
            <a:fillRect/>
          </a:stretch>
        </p:blipFill>
        <p:spPr>
          <a:xfrm>
            <a:off x="936172" y="522514"/>
            <a:ext cx="1186544" cy="564762"/>
          </a:xfrm>
          <a:prstGeom prst="rect">
            <a:avLst/>
          </a:prstGeom>
        </p:spPr>
      </p:pic>
      <p:sp>
        <p:nvSpPr>
          <p:cNvPr id="19" name="SK-7-text-12">
            <a:extLst>
              <a:ext uri="{FF2B5EF4-FFF2-40B4-BE49-F238E27FC236}">
                <a16:creationId xmlns:a16="http://schemas.microsoft.com/office/drawing/2014/main" id="{BAE52C6B-25F7-0C1E-3E32-DED6A36A388C}"/>
              </a:ext>
            </a:extLst>
          </p:cNvPr>
          <p:cNvSpPr/>
          <p:nvPr/>
        </p:nvSpPr>
        <p:spPr>
          <a:xfrm>
            <a:off x="2119086" y="721016"/>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21" name="SK-7-text-13">
            <a:extLst>
              <a:ext uri="{FF2B5EF4-FFF2-40B4-BE49-F238E27FC236}">
                <a16:creationId xmlns:a16="http://schemas.microsoft.com/office/drawing/2014/main" id="{D65CCE8B-1DFB-E707-B451-25A45CF245B6}"/>
              </a:ext>
            </a:extLst>
          </p:cNvPr>
          <p:cNvSpPr/>
          <p:nvPr/>
        </p:nvSpPr>
        <p:spPr>
          <a:xfrm>
            <a:off x="2119086" y="885620"/>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3" name="Shape 41">
            <a:extLst>
              <a:ext uri="{FF2B5EF4-FFF2-40B4-BE49-F238E27FC236}">
                <a16:creationId xmlns:a16="http://schemas.microsoft.com/office/drawing/2014/main" id="{DD6CD4A1-39B3-647A-E1C5-BFEF6BFE1CA1}"/>
              </a:ext>
            </a:extLst>
          </p:cNvPr>
          <p:cNvSpPr/>
          <p:nvPr/>
        </p:nvSpPr>
        <p:spPr>
          <a:xfrm>
            <a:off x="10341429" y="3021874"/>
            <a:ext cx="41148" cy="658368"/>
          </a:xfrm>
          <a:prstGeom prst="rect">
            <a:avLst/>
          </a:prstGeom>
          <a:solidFill>
            <a:srgbClr val="0B4A78"/>
          </a:solidFill>
          <a:ln w="12700">
            <a:solidFill>
              <a:srgbClr val="0B4A78"/>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6" name="Text 42">
            <a:extLst>
              <a:ext uri="{FF2B5EF4-FFF2-40B4-BE49-F238E27FC236}">
                <a16:creationId xmlns:a16="http://schemas.microsoft.com/office/drawing/2014/main" id="{48DD737C-B287-451F-999F-A7FACE64AD4C}"/>
              </a:ext>
            </a:extLst>
          </p:cNvPr>
          <p:cNvSpPr/>
          <p:nvPr/>
        </p:nvSpPr>
        <p:spPr>
          <a:xfrm>
            <a:off x="10643181" y="3141617"/>
            <a:ext cx="754380" cy="41148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300">
                <a:solidFill>
                  <a:srgbClr val="0B4A78"/>
                </a:solidFill>
                <a:latin typeface="Aptos Display" pitchFamily="34" charset="0"/>
                <a:ea typeface="Aptos Display" pitchFamily="34" charset="-122"/>
                <a:cs typeface="Aptos Display" pitchFamily="34" charset="-120"/>
              </a:rPr>
              <a:t>01</a:t>
            </a:r>
            <a:endParaRPr lang="en-US" sz="3300"/>
          </a:p>
        </p:txBody>
      </p:sp>
      <p:sp>
        <p:nvSpPr>
          <p:cNvPr id="9" name="Shape 45">
            <a:extLst>
              <a:ext uri="{FF2B5EF4-FFF2-40B4-BE49-F238E27FC236}">
                <a16:creationId xmlns:a16="http://schemas.microsoft.com/office/drawing/2014/main" id="{4F2B34FF-E8C4-0E1E-848C-8DF84D233F07}"/>
              </a:ext>
            </a:extLst>
          </p:cNvPr>
          <p:cNvSpPr/>
          <p:nvPr/>
        </p:nvSpPr>
        <p:spPr>
          <a:xfrm>
            <a:off x="10410009" y="3803686"/>
            <a:ext cx="6515100" cy="0"/>
          </a:xfrm>
          <a:prstGeom prst="line">
            <a:avLst/>
          </a:prstGeom>
          <a:noFill/>
          <a:ln w="12700">
            <a:solidFill>
              <a:srgbClr val="E3E8F2"/>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13" name="Shape 46">
            <a:extLst>
              <a:ext uri="{FF2B5EF4-FFF2-40B4-BE49-F238E27FC236}">
                <a16:creationId xmlns:a16="http://schemas.microsoft.com/office/drawing/2014/main" id="{002C3137-F503-6DFB-1831-FC83788212F1}"/>
              </a:ext>
            </a:extLst>
          </p:cNvPr>
          <p:cNvSpPr/>
          <p:nvPr/>
        </p:nvSpPr>
        <p:spPr>
          <a:xfrm>
            <a:off x="10341429" y="4146586"/>
            <a:ext cx="41148" cy="658368"/>
          </a:xfrm>
          <a:prstGeom prst="rect">
            <a:avLst/>
          </a:prstGeom>
          <a:solidFill>
            <a:srgbClr val="6B258B"/>
          </a:solidFill>
          <a:ln w="12700">
            <a:solidFill>
              <a:srgbClr val="6B258B"/>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18" name="Text 47">
            <a:extLst>
              <a:ext uri="{FF2B5EF4-FFF2-40B4-BE49-F238E27FC236}">
                <a16:creationId xmlns:a16="http://schemas.microsoft.com/office/drawing/2014/main" id="{A24559CF-70BB-1414-5C5F-C37CBEC3FAE2}"/>
              </a:ext>
            </a:extLst>
          </p:cNvPr>
          <p:cNvSpPr/>
          <p:nvPr/>
        </p:nvSpPr>
        <p:spPr>
          <a:xfrm>
            <a:off x="10643181" y="4146586"/>
            <a:ext cx="754380" cy="41148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300">
                <a:solidFill>
                  <a:srgbClr val="0B4A78"/>
                </a:solidFill>
                <a:latin typeface="Aptos Display" pitchFamily="34" charset="0"/>
                <a:ea typeface="Aptos Display" pitchFamily="34" charset="-122"/>
                <a:cs typeface="Aptos Display" pitchFamily="34" charset="-120"/>
              </a:rPr>
              <a:t>02</a:t>
            </a:r>
            <a:endParaRPr lang="en-US" sz="3300"/>
          </a:p>
        </p:txBody>
      </p:sp>
      <p:sp>
        <p:nvSpPr>
          <p:cNvPr id="22" name="Shape 50">
            <a:extLst>
              <a:ext uri="{FF2B5EF4-FFF2-40B4-BE49-F238E27FC236}">
                <a16:creationId xmlns:a16="http://schemas.microsoft.com/office/drawing/2014/main" id="{D683B311-7890-5521-36AC-3AF87CFD27AF}"/>
              </a:ext>
            </a:extLst>
          </p:cNvPr>
          <p:cNvSpPr/>
          <p:nvPr/>
        </p:nvSpPr>
        <p:spPr>
          <a:xfrm>
            <a:off x="10410009" y="4928398"/>
            <a:ext cx="6515100" cy="0"/>
          </a:xfrm>
          <a:prstGeom prst="line">
            <a:avLst/>
          </a:prstGeom>
          <a:noFill/>
          <a:ln w="12700">
            <a:solidFill>
              <a:srgbClr val="E3E8F2"/>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24" name="Shape 51">
            <a:extLst>
              <a:ext uri="{FF2B5EF4-FFF2-40B4-BE49-F238E27FC236}">
                <a16:creationId xmlns:a16="http://schemas.microsoft.com/office/drawing/2014/main" id="{23703E22-4D61-04F4-C7AA-DCD82784C60C}"/>
              </a:ext>
            </a:extLst>
          </p:cNvPr>
          <p:cNvSpPr/>
          <p:nvPr/>
        </p:nvSpPr>
        <p:spPr>
          <a:xfrm>
            <a:off x="10341429" y="5271298"/>
            <a:ext cx="41148" cy="658368"/>
          </a:xfrm>
          <a:prstGeom prst="rect">
            <a:avLst/>
          </a:prstGeom>
          <a:solidFill>
            <a:srgbClr val="0B4A78"/>
          </a:solidFill>
          <a:ln w="12700">
            <a:solidFill>
              <a:srgbClr val="0B4A78"/>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26" name="Text 52">
            <a:extLst>
              <a:ext uri="{FF2B5EF4-FFF2-40B4-BE49-F238E27FC236}">
                <a16:creationId xmlns:a16="http://schemas.microsoft.com/office/drawing/2014/main" id="{2815302B-5C3D-4061-19D4-30EE3D2D0D35}"/>
              </a:ext>
            </a:extLst>
          </p:cNvPr>
          <p:cNvSpPr/>
          <p:nvPr/>
        </p:nvSpPr>
        <p:spPr>
          <a:xfrm>
            <a:off x="10643181" y="5271298"/>
            <a:ext cx="754380" cy="41148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300">
                <a:solidFill>
                  <a:srgbClr val="0B4A78"/>
                </a:solidFill>
                <a:latin typeface="Aptos Display" pitchFamily="34" charset="0"/>
                <a:ea typeface="Aptos Display" pitchFamily="34" charset="-122"/>
                <a:cs typeface="Aptos Display" pitchFamily="34" charset="-120"/>
              </a:rPr>
              <a:t>03</a:t>
            </a:r>
            <a:endParaRPr lang="en-US" sz="3300"/>
          </a:p>
        </p:txBody>
      </p:sp>
      <p:sp>
        <p:nvSpPr>
          <p:cNvPr id="28" name="Shape 55">
            <a:extLst>
              <a:ext uri="{FF2B5EF4-FFF2-40B4-BE49-F238E27FC236}">
                <a16:creationId xmlns:a16="http://schemas.microsoft.com/office/drawing/2014/main" id="{A7B7775A-7447-520F-7C69-F0519EBC4EA6}"/>
              </a:ext>
            </a:extLst>
          </p:cNvPr>
          <p:cNvSpPr/>
          <p:nvPr/>
        </p:nvSpPr>
        <p:spPr>
          <a:xfrm>
            <a:off x="10410009" y="6053110"/>
            <a:ext cx="6515100" cy="0"/>
          </a:xfrm>
          <a:prstGeom prst="line">
            <a:avLst/>
          </a:prstGeom>
          <a:noFill/>
          <a:ln w="12700">
            <a:solidFill>
              <a:srgbClr val="E3E8F2"/>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30" name="Shape 56">
            <a:extLst>
              <a:ext uri="{FF2B5EF4-FFF2-40B4-BE49-F238E27FC236}">
                <a16:creationId xmlns:a16="http://schemas.microsoft.com/office/drawing/2014/main" id="{EFE26D8D-8D0B-EFF9-3AE2-D4BC6543C3A9}"/>
              </a:ext>
            </a:extLst>
          </p:cNvPr>
          <p:cNvSpPr/>
          <p:nvPr/>
        </p:nvSpPr>
        <p:spPr>
          <a:xfrm>
            <a:off x="10341429" y="6396010"/>
            <a:ext cx="41148" cy="658368"/>
          </a:xfrm>
          <a:prstGeom prst="rect">
            <a:avLst/>
          </a:prstGeom>
          <a:solidFill>
            <a:srgbClr val="6B258B"/>
          </a:solidFill>
          <a:ln w="12700">
            <a:solidFill>
              <a:srgbClr val="6B258B"/>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32" name="Text 57">
            <a:extLst>
              <a:ext uri="{FF2B5EF4-FFF2-40B4-BE49-F238E27FC236}">
                <a16:creationId xmlns:a16="http://schemas.microsoft.com/office/drawing/2014/main" id="{2C1136A3-695C-6E89-FCF3-37C4F9DBA277}"/>
              </a:ext>
            </a:extLst>
          </p:cNvPr>
          <p:cNvSpPr/>
          <p:nvPr/>
        </p:nvSpPr>
        <p:spPr>
          <a:xfrm>
            <a:off x="10643181" y="6396010"/>
            <a:ext cx="754380" cy="41148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300">
                <a:solidFill>
                  <a:srgbClr val="0B4A78"/>
                </a:solidFill>
                <a:latin typeface="Aptos Display" pitchFamily="34" charset="0"/>
                <a:ea typeface="Aptos Display" pitchFamily="34" charset="-122"/>
                <a:cs typeface="Aptos Display" pitchFamily="34" charset="-120"/>
              </a:rPr>
              <a:t>04</a:t>
            </a:r>
            <a:endParaRPr lang="en-US" sz="3300"/>
          </a:p>
        </p:txBody>
      </p:sp>
      <p:sp>
        <p:nvSpPr>
          <p:cNvPr id="34" name="Shape 60">
            <a:extLst>
              <a:ext uri="{FF2B5EF4-FFF2-40B4-BE49-F238E27FC236}">
                <a16:creationId xmlns:a16="http://schemas.microsoft.com/office/drawing/2014/main" id="{EBA4BD89-8B3C-6669-3410-4626C43FC162}"/>
              </a:ext>
            </a:extLst>
          </p:cNvPr>
          <p:cNvSpPr/>
          <p:nvPr/>
        </p:nvSpPr>
        <p:spPr>
          <a:xfrm>
            <a:off x="10410009" y="7177822"/>
            <a:ext cx="6515100" cy="0"/>
          </a:xfrm>
          <a:prstGeom prst="line">
            <a:avLst/>
          </a:prstGeom>
          <a:noFill/>
          <a:ln w="12700">
            <a:solidFill>
              <a:srgbClr val="E3E8F2"/>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38" name="Shape 61">
            <a:extLst>
              <a:ext uri="{FF2B5EF4-FFF2-40B4-BE49-F238E27FC236}">
                <a16:creationId xmlns:a16="http://schemas.microsoft.com/office/drawing/2014/main" id="{28FF5F0F-16DC-C775-05A5-9CEB595F9BA5}"/>
              </a:ext>
            </a:extLst>
          </p:cNvPr>
          <p:cNvSpPr/>
          <p:nvPr/>
        </p:nvSpPr>
        <p:spPr>
          <a:xfrm>
            <a:off x="10341429" y="7520722"/>
            <a:ext cx="41148" cy="658368"/>
          </a:xfrm>
          <a:prstGeom prst="rect">
            <a:avLst/>
          </a:prstGeom>
          <a:solidFill>
            <a:srgbClr val="0B4A78"/>
          </a:solidFill>
          <a:ln w="12700">
            <a:solidFill>
              <a:srgbClr val="0B4A78"/>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s-ES" sz="4050"/>
          </a:p>
        </p:txBody>
      </p:sp>
      <p:sp>
        <p:nvSpPr>
          <p:cNvPr id="42" name="Text 62">
            <a:extLst>
              <a:ext uri="{FF2B5EF4-FFF2-40B4-BE49-F238E27FC236}">
                <a16:creationId xmlns:a16="http://schemas.microsoft.com/office/drawing/2014/main" id="{B6AF99F2-7ECA-8474-99A6-F0B5EC2C1084}"/>
              </a:ext>
            </a:extLst>
          </p:cNvPr>
          <p:cNvSpPr/>
          <p:nvPr/>
        </p:nvSpPr>
        <p:spPr>
          <a:xfrm>
            <a:off x="10643181" y="7520722"/>
            <a:ext cx="754380" cy="41148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300">
                <a:solidFill>
                  <a:srgbClr val="0B4A78"/>
                </a:solidFill>
                <a:latin typeface="Aptos Display" pitchFamily="34" charset="0"/>
                <a:ea typeface="Aptos Display" pitchFamily="34" charset="-122"/>
                <a:cs typeface="Aptos Display" pitchFamily="34" charset="-120"/>
              </a:rPr>
              <a:t>05</a:t>
            </a:r>
            <a:endParaRPr lang="en-US" sz="3300"/>
          </a:p>
        </p:txBody>
      </p:sp>
      <p:sp>
        <p:nvSpPr>
          <p:cNvPr id="45" name="TextBox 44">
            <a:extLst>
              <a:ext uri="{FF2B5EF4-FFF2-40B4-BE49-F238E27FC236}">
                <a16:creationId xmlns:a16="http://schemas.microsoft.com/office/drawing/2014/main" id="{F41FB511-9A95-8F1D-96F4-9066077FA6F7}"/>
              </a:ext>
            </a:extLst>
          </p:cNvPr>
          <p:cNvSpPr txBox="1"/>
          <p:nvPr/>
        </p:nvSpPr>
        <p:spPr>
          <a:xfrm>
            <a:off x="939011" y="2136202"/>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a:latin typeface="Open Sans Bold"/>
                <a:ea typeface="Open Sans Bold"/>
                <a:cs typeface="Open Sans Bold"/>
              </a:rPr>
              <a:t>ASPECTS</a:t>
            </a:r>
            <a:endParaRPr lang="en-US"/>
          </a:p>
        </p:txBody>
      </p:sp>
    </p:spTree>
    <p:extLst>
      <p:ext uri="{BB962C8B-B14F-4D97-AF65-F5344CB8AC3E}">
        <p14:creationId xmlns:p14="http://schemas.microsoft.com/office/powerpoint/2010/main" val="683412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p:cNvSpPr/>
          <p:nvPr/>
        </p:nvSpPr>
        <p:spPr>
          <a:xfrm>
            <a:off x="-1356117" y="2085253"/>
            <a:ext cx="8347897" cy="1328060"/>
          </a:xfrm>
          <a:prstGeom prst="roundRect">
            <a:avLst>
              <a:gd name="adj" fmla="val 15000"/>
            </a:avLst>
          </a:prstGeom>
          <a:solidFill>
            <a:schemeClr val="bg1">
              <a:lumMod val="95000"/>
            </a:schemeClr>
          </a:solidFill>
          <a:ln w="19050">
            <a:noFill/>
            <a:miter/>
          </a:ln>
        </p:spPr>
        <p:txBody>
          <a:bodyPr lIns="68579" rIns="68579"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800" b="0">
                <a:solidFill>
                  <a:srgbClr val="FFFFFF"/>
                </a:solidFill>
              </a:defRPr>
            </a:pPr>
            <a:endParaRPr sz="2700"/>
          </a:p>
        </p:txBody>
      </p:sp>
      <p:grpSp>
        <p:nvGrpSpPr>
          <p:cNvPr id="23" name="Group"/>
          <p:cNvGrpSpPr/>
          <p:nvPr/>
        </p:nvGrpSpPr>
        <p:grpSpPr>
          <a:xfrm>
            <a:off x="520956" y="2279089"/>
            <a:ext cx="11691608" cy="884315"/>
            <a:chOff x="-130628" y="-208072"/>
            <a:chExt cx="7794404" cy="582860"/>
          </a:xfrm>
        </p:grpSpPr>
        <p:sp>
          <p:nvSpPr>
            <p:cNvPr id="21" name="Text 2"/>
            <p:cNvSpPr txBox="1"/>
            <p:nvPr/>
          </p:nvSpPr>
          <p:spPr>
            <a:xfrm>
              <a:off x="-127381" y="-208072"/>
              <a:ext cx="7791157" cy="3087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1800">
                  <a:solidFill>
                    <a:srgbClr val="2F5FD8"/>
                  </a:solidFill>
                  <a:latin typeface="Arial"/>
                  <a:cs typeface="Arial"/>
                </a:rPr>
                <a:t>Design Goal</a:t>
              </a:r>
            </a:p>
          </p:txBody>
        </p:sp>
        <p:sp>
          <p:nvSpPr>
            <p:cNvPr id="22" name="Text 3"/>
            <p:cNvSpPr txBox="1"/>
            <p:nvPr/>
          </p:nvSpPr>
          <p:spPr>
            <a:xfrm>
              <a:off x="-130628" y="100214"/>
              <a:ext cx="7116785" cy="27457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1600">
                  <a:latin typeface="Roboto"/>
                  <a:ea typeface="Roboto"/>
                  <a:cs typeface="Roboto"/>
                </a:rPr>
                <a:t>Balancing printing time, electrical routing, and mechanical stability</a:t>
              </a:r>
              <a:endParaRPr lang="en-US" sz="1600">
                <a:latin typeface="Roboto"/>
                <a:ea typeface="Roboto"/>
                <a:cs typeface="Roboto"/>
              </a:endParaRPr>
            </a:p>
          </p:txBody>
        </p:sp>
      </p:grpSp>
      <p:grpSp>
        <p:nvGrpSpPr>
          <p:cNvPr id="35" name="Group"/>
          <p:cNvGrpSpPr/>
          <p:nvPr/>
        </p:nvGrpSpPr>
        <p:grpSpPr>
          <a:xfrm>
            <a:off x="1416338" y="4150497"/>
            <a:ext cx="17478289" cy="4439740"/>
            <a:chOff x="0" y="0"/>
            <a:chExt cx="11427219" cy="2959824"/>
          </a:xfrm>
        </p:grpSpPr>
        <p:pic>
          <p:nvPicPr>
            <p:cNvPr id="24" name="image-1-1.png" descr="image-1-1.png"/>
            <p:cNvPicPr>
              <a:picLocks noChangeAspect="1"/>
            </p:cNvPicPr>
            <p:nvPr/>
          </p:nvPicPr>
          <p:blipFill>
            <a:blip r:embed="rId2"/>
            <a:srcRect l="36755" t="21212" r="33959" b="26363"/>
            <a:stretch>
              <a:fillRect/>
            </a:stretch>
          </p:blipFill>
          <p:spPr>
            <a:xfrm>
              <a:off x="238251" y="1116469"/>
              <a:ext cx="1996437" cy="1705076"/>
            </a:xfrm>
            <a:custGeom>
              <a:avLst/>
              <a:gdLst/>
              <a:ahLst/>
              <a:cxnLst>
                <a:cxn ang="0">
                  <a:pos x="wd2" y="hd2"/>
                </a:cxn>
                <a:cxn ang="5400000">
                  <a:pos x="wd2" y="hd2"/>
                </a:cxn>
                <a:cxn ang="10800000">
                  <a:pos x="wd2" y="hd2"/>
                </a:cxn>
                <a:cxn ang="16200000">
                  <a:pos x="wd2" y="hd2"/>
                </a:cxn>
              </a:cxnLst>
              <a:rect l="0" t="0" r="r" b="b"/>
              <a:pathLst>
                <a:path w="21558" h="21600" extrusionOk="0">
                  <a:moveTo>
                    <a:pt x="20137" y="2042"/>
                  </a:moveTo>
                  <a:cubicBezTo>
                    <a:pt x="20178" y="2090"/>
                    <a:pt x="21558" y="10119"/>
                    <a:pt x="21558" y="10307"/>
                  </a:cubicBezTo>
                  <a:cubicBezTo>
                    <a:pt x="21558" y="10426"/>
                    <a:pt x="21383" y="10793"/>
                    <a:pt x="21168" y="11123"/>
                  </a:cubicBezTo>
                  <a:cubicBezTo>
                    <a:pt x="20843" y="11623"/>
                    <a:pt x="20733" y="11712"/>
                    <a:pt x="20504" y="11664"/>
                  </a:cubicBezTo>
                  <a:cubicBezTo>
                    <a:pt x="20234" y="11606"/>
                    <a:pt x="12503" y="10238"/>
                    <a:pt x="12450" y="10238"/>
                  </a:cubicBezTo>
                  <a:cubicBezTo>
                    <a:pt x="12435" y="10238"/>
                    <a:pt x="11346" y="12795"/>
                    <a:pt x="10030" y="15919"/>
                  </a:cubicBezTo>
                  <a:lnTo>
                    <a:pt x="7637" y="21600"/>
                  </a:lnTo>
                  <a:lnTo>
                    <a:pt x="7177" y="21586"/>
                  </a:lnTo>
                  <a:cubicBezTo>
                    <a:pt x="6924" y="21579"/>
                    <a:pt x="5218" y="21388"/>
                    <a:pt x="3386" y="21161"/>
                  </a:cubicBezTo>
                  <a:cubicBezTo>
                    <a:pt x="1553" y="20935"/>
                    <a:pt x="30" y="20722"/>
                    <a:pt x="1" y="20688"/>
                  </a:cubicBezTo>
                  <a:cubicBezTo>
                    <a:pt x="-42" y="20638"/>
                    <a:pt x="902" y="12829"/>
                    <a:pt x="957" y="12784"/>
                  </a:cubicBezTo>
                  <a:cubicBezTo>
                    <a:pt x="966" y="12777"/>
                    <a:pt x="1595" y="12873"/>
                    <a:pt x="2356" y="12998"/>
                  </a:cubicBezTo>
                  <a:cubicBezTo>
                    <a:pt x="3116" y="13123"/>
                    <a:pt x="4409" y="13334"/>
                    <a:pt x="5228" y="13467"/>
                  </a:cubicBezTo>
                  <a:cubicBezTo>
                    <a:pt x="6047" y="13601"/>
                    <a:pt x="6760" y="13662"/>
                    <a:pt x="6812" y="13604"/>
                  </a:cubicBezTo>
                  <a:cubicBezTo>
                    <a:pt x="6895" y="13512"/>
                    <a:pt x="9187" y="5848"/>
                    <a:pt x="10423" y="1529"/>
                  </a:cubicBezTo>
                  <a:cubicBezTo>
                    <a:pt x="10759" y="357"/>
                    <a:pt x="10904" y="0"/>
                    <a:pt x="11046" y="0"/>
                  </a:cubicBezTo>
                  <a:cubicBezTo>
                    <a:pt x="11211" y="0"/>
                    <a:pt x="20099" y="1996"/>
                    <a:pt x="20137" y="2042"/>
                  </a:cubicBezTo>
                  <a:close/>
                </a:path>
              </a:pathLst>
            </a:custGeom>
            <a:ln w="12700" cap="flat">
              <a:noFill/>
              <a:miter lim="400000"/>
            </a:ln>
            <a:effectLst/>
          </p:spPr>
        </p:pic>
        <p:sp>
          <p:nvSpPr>
            <p:cNvPr id="25" name="Shape 4"/>
            <p:cNvSpPr/>
            <p:nvPr/>
          </p:nvSpPr>
          <p:spPr>
            <a:xfrm>
              <a:off x="0" y="55495"/>
              <a:ext cx="99404" cy="649053"/>
            </a:xfrm>
            <a:prstGeom prst="rect">
              <a:avLst/>
            </a:prstGeom>
            <a:solidFill>
              <a:srgbClr val="2F5FD8"/>
            </a:solidFill>
            <a:ln w="12700" cap="flat">
              <a:solidFill>
                <a:schemeClr val="bg1"/>
              </a:solidFill>
              <a:miter lim="400000"/>
            </a:ln>
            <a:effectLst/>
          </p:spPr>
          <p:txBody>
            <a:bodyPr wrap="square" lIns="68579" tIns="68579" rIns="68579" bIns="68579" numCol="1" anchor="t">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800" b="0">
                  <a:solidFill>
                    <a:srgbClr val="000000"/>
                  </a:solidFill>
                </a:defRPr>
              </a:pPr>
              <a:endParaRPr sz="2700"/>
            </a:p>
          </p:txBody>
        </p:sp>
        <p:grpSp>
          <p:nvGrpSpPr>
            <p:cNvPr id="28" name="Group"/>
            <p:cNvGrpSpPr/>
            <p:nvPr/>
          </p:nvGrpSpPr>
          <p:grpSpPr>
            <a:xfrm>
              <a:off x="249228" y="101373"/>
              <a:ext cx="3898355" cy="666154"/>
              <a:chOff x="21771" y="87086"/>
              <a:chExt cx="3898353" cy="666154"/>
            </a:xfrm>
          </p:grpSpPr>
          <p:sp>
            <p:nvSpPr>
              <p:cNvPr id="26" name="Text 5"/>
              <p:cNvSpPr txBox="1"/>
              <p:nvPr/>
            </p:nvSpPr>
            <p:spPr>
              <a:xfrm>
                <a:off x="21771" y="87086"/>
                <a:ext cx="3891095" cy="2029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1600">
                    <a:latin typeface="Aptos"/>
                    <a:ea typeface="Roboto"/>
                    <a:cs typeface="Roboto"/>
                  </a:rPr>
                  <a:t>Battery Holder</a:t>
                </a:r>
                <a:endParaRPr lang="en-US" sz="1600">
                  <a:latin typeface="Aptos"/>
                  <a:ea typeface="Roboto"/>
                  <a:cs typeface="Roboto"/>
                </a:endParaRPr>
              </a:p>
            </p:txBody>
          </p:sp>
          <p:sp>
            <p:nvSpPr>
              <p:cNvPr id="27" name="Text 6"/>
              <p:cNvSpPr txBox="1"/>
              <p:nvPr/>
            </p:nvSpPr>
            <p:spPr>
              <a:xfrm>
                <a:off x="29029" y="305209"/>
                <a:ext cx="3891095" cy="44803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400">
                    <a:solidFill>
                      <a:srgbClr val="5A6472"/>
                    </a:solidFill>
                  </a:defRPr>
                </a:pPr>
                <a:r>
                  <a:rPr sz="1600">
                    <a:solidFill>
                      <a:schemeClr val="tx1">
                        <a:lumMod val="76000"/>
                        <a:lumOff val="24000"/>
                      </a:schemeClr>
                    </a:solidFill>
                    <a:latin typeface="Aptos"/>
                  </a:rPr>
                  <a:t>Minimal footprint, saves space for other parts;</a:t>
                </a:r>
                <a:endParaRPr lang="en-US" sz="1600">
                  <a:solidFill>
                    <a:schemeClr val="tx1">
                      <a:lumMod val="76000"/>
                      <a:lumOff val="24000"/>
                    </a:schemeClr>
                  </a:solidFill>
                  <a:latin typeface="Aptos"/>
                  <a:ea typeface="Calibri"/>
                  <a:cs typeface="Calibri"/>
                </a:endParaRPr>
              </a:p>
              <a:p>
                <a:pPr>
                  <a:defRPr sz="1400">
                    <a:solidFill>
                      <a:srgbClr val="5A6472"/>
                    </a:solidFill>
                  </a:defRPr>
                </a:pPr>
                <a:r>
                  <a:rPr lang="en-GB" sz="1600">
                    <a:solidFill>
                      <a:schemeClr val="tx1">
                        <a:lumMod val="76000"/>
                        <a:lumOff val="24000"/>
                      </a:schemeClr>
                    </a:solidFill>
                    <a:latin typeface="Aptos"/>
                  </a:rPr>
                  <a:t>let's</a:t>
                </a:r>
                <a:r>
                  <a:rPr sz="1600">
                    <a:solidFill>
                      <a:schemeClr val="tx1">
                        <a:lumMod val="76000"/>
                        <a:lumOff val="24000"/>
                      </a:schemeClr>
                    </a:solidFill>
                    <a:latin typeface="Aptos"/>
                  </a:rPr>
                  <a:t> battery slide in/out easily.</a:t>
                </a:r>
                <a:endParaRPr sz="1600">
                  <a:solidFill>
                    <a:schemeClr val="tx1">
                      <a:lumMod val="76000"/>
                      <a:lumOff val="24000"/>
                    </a:schemeClr>
                  </a:solidFill>
                  <a:latin typeface="Aptos"/>
                  <a:ea typeface="Calibri"/>
                  <a:cs typeface="Calibri"/>
                </a:endParaRPr>
              </a:p>
            </p:txBody>
          </p:sp>
        </p:grpSp>
        <p:pic>
          <p:nvPicPr>
            <p:cNvPr id="29" name="image-2-3.png" descr="image-2-3.png"/>
            <p:cNvPicPr>
              <a:picLocks noChangeAspect="1"/>
            </p:cNvPicPr>
            <p:nvPr/>
          </p:nvPicPr>
          <p:blipFill>
            <a:blip r:embed="rId3"/>
            <a:srcRect l="39305" t="11516" r="38911" b="14090"/>
            <a:stretch>
              <a:fillRect/>
            </a:stretch>
          </p:blipFill>
          <p:spPr>
            <a:xfrm>
              <a:off x="2687708" y="1162469"/>
              <a:ext cx="1103120" cy="1797355"/>
            </a:xfrm>
            <a:custGeom>
              <a:avLst/>
              <a:gdLst/>
              <a:ahLst/>
              <a:cxnLst>
                <a:cxn ang="0">
                  <a:pos x="wd2" y="hd2"/>
                </a:cxn>
                <a:cxn ang="5400000">
                  <a:pos x="wd2" y="hd2"/>
                </a:cxn>
                <a:cxn ang="10800000">
                  <a:pos x="wd2" y="hd2"/>
                </a:cxn>
                <a:cxn ang="16200000">
                  <a:pos x="wd2" y="hd2"/>
                </a:cxn>
              </a:cxnLst>
              <a:rect l="0" t="0" r="r" b="b"/>
              <a:pathLst>
                <a:path w="21595" h="21569" extrusionOk="0">
                  <a:moveTo>
                    <a:pt x="12763" y="706"/>
                  </a:moveTo>
                  <a:cubicBezTo>
                    <a:pt x="16081" y="1094"/>
                    <a:pt x="18810" y="1421"/>
                    <a:pt x="18828" y="1433"/>
                  </a:cubicBezTo>
                  <a:cubicBezTo>
                    <a:pt x="18845" y="1444"/>
                    <a:pt x="18785" y="2865"/>
                    <a:pt x="18694" y="4590"/>
                  </a:cubicBezTo>
                  <a:cubicBezTo>
                    <a:pt x="18603" y="6314"/>
                    <a:pt x="18525" y="8110"/>
                    <a:pt x="18519" y="8580"/>
                  </a:cubicBezTo>
                  <a:lnTo>
                    <a:pt x="18510" y="9435"/>
                  </a:lnTo>
                  <a:lnTo>
                    <a:pt x="15954" y="9468"/>
                  </a:lnTo>
                  <a:lnTo>
                    <a:pt x="13399" y="9501"/>
                  </a:lnTo>
                  <a:lnTo>
                    <a:pt x="13281" y="10477"/>
                  </a:lnTo>
                  <a:cubicBezTo>
                    <a:pt x="13216" y="11014"/>
                    <a:pt x="13129" y="12770"/>
                    <a:pt x="13088" y="14381"/>
                  </a:cubicBezTo>
                  <a:lnTo>
                    <a:pt x="13013" y="17308"/>
                  </a:lnTo>
                  <a:lnTo>
                    <a:pt x="21593" y="19086"/>
                  </a:lnTo>
                  <a:lnTo>
                    <a:pt x="21595" y="19757"/>
                  </a:lnTo>
                  <a:cubicBezTo>
                    <a:pt x="21596" y="20395"/>
                    <a:pt x="21570" y="20431"/>
                    <a:pt x="21066" y="20494"/>
                  </a:cubicBezTo>
                  <a:cubicBezTo>
                    <a:pt x="20774" y="20530"/>
                    <a:pt x="18496" y="20775"/>
                    <a:pt x="16003" y="21037"/>
                  </a:cubicBezTo>
                  <a:cubicBezTo>
                    <a:pt x="13510" y="21300"/>
                    <a:pt x="11296" y="21538"/>
                    <a:pt x="11084" y="21567"/>
                  </a:cubicBezTo>
                  <a:cubicBezTo>
                    <a:pt x="10839" y="21600"/>
                    <a:pt x="9377" y="21158"/>
                    <a:pt x="7072" y="20353"/>
                  </a:cubicBezTo>
                  <a:lnTo>
                    <a:pt x="3445" y="19086"/>
                  </a:lnTo>
                  <a:lnTo>
                    <a:pt x="3554" y="16128"/>
                  </a:lnTo>
                  <a:cubicBezTo>
                    <a:pt x="3614" y="14500"/>
                    <a:pt x="3714" y="12042"/>
                    <a:pt x="3778" y="10665"/>
                  </a:cubicBezTo>
                  <a:lnTo>
                    <a:pt x="3893" y="8160"/>
                  </a:lnTo>
                  <a:lnTo>
                    <a:pt x="5753" y="8075"/>
                  </a:lnTo>
                  <a:cubicBezTo>
                    <a:pt x="8616" y="7945"/>
                    <a:pt x="8400" y="8100"/>
                    <a:pt x="8561" y="6061"/>
                  </a:cubicBezTo>
                  <a:cubicBezTo>
                    <a:pt x="8670" y="4685"/>
                    <a:pt x="8646" y="4288"/>
                    <a:pt x="8445" y="4177"/>
                  </a:cubicBezTo>
                  <a:cubicBezTo>
                    <a:pt x="8306" y="4099"/>
                    <a:pt x="6459" y="3914"/>
                    <a:pt x="4341" y="3767"/>
                  </a:cubicBezTo>
                  <a:cubicBezTo>
                    <a:pt x="2224" y="3619"/>
                    <a:pt x="380" y="3472"/>
                    <a:pt x="243" y="3440"/>
                  </a:cubicBezTo>
                  <a:cubicBezTo>
                    <a:pt x="83" y="3402"/>
                    <a:pt x="-4" y="3163"/>
                    <a:pt x="0" y="2772"/>
                  </a:cubicBezTo>
                  <a:lnTo>
                    <a:pt x="5" y="2164"/>
                  </a:lnTo>
                  <a:lnTo>
                    <a:pt x="3368" y="1082"/>
                  </a:lnTo>
                  <a:lnTo>
                    <a:pt x="6730" y="0"/>
                  </a:lnTo>
                  <a:close/>
                </a:path>
              </a:pathLst>
            </a:custGeom>
            <a:ln w="12700" cap="flat">
              <a:noFill/>
              <a:miter lim="400000"/>
            </a:ln>
            <a:effectLst/>
          </p:spPr>
        </p:pic>
        <p:grpSp>
          <p:nvGrpSpPr>
            <p:cNvPr id="33" name="Group"/>
            <p:cNvGrpSpPr/>
            <p:nvPr/>
          </p:nvGrpSpPr>
          <p:grpSpPr>
            <a:xfrm>
              <a:off x="5987168" y="0"/>
              <a:ext cx="5440051" cy="1144673"/>
              <a:chOff x="0" y="0"/>
              <a:chExt cx="5440051" cy="1144672"/>
            </a:xfrm>
          </p:grpSpPr>
          <p:sp>
            <p:nvSpPr>
              <p:cNvPr id="30" name="Shape 13"/>
              <p:cNvSpPr/>
              <p:nvPr/>
            </p:nvSpPr>
            <p:spPr>
              <a:xfrm>
                <a:off x="0" y="0"/>
                <a:ext cx="99404" cy="731469"/>
              </a:xfrm>
              <a:prstGeom prst="rect">
                <a:avLst/>
              </a:prstGeom>
              <a:solidFill>
                <a:srgbClr val="8A3FD4"/>
              </a:solidFill>
              <a:ln w="12700" cap="flat">
                <a:solidFill>
                  <a:schemeClr val="bg1"/>
                </a:solidFill>
                <a:miter lim="400000"/>
              </a:ln>
              <a:effectLst/>
            </p:spPr>
            <p:txBody>
              <a:bodyPr wrap="square" lIns="68579" tIns="68579" rIns="68579" bIns="68579" numCol="1" anchor="t">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800" b="0">
                    <a:solidFill>
                      <a:srgbClr val="000000"/>
                    </a:solidFill>
                  </a:defRPr>
                </a:pPr>
                <a:endParaRPr sz="2700"/>
              </a:p>
            </p:txBody>
          </p:sp>
          <p:sp>
            <p:nvSpPr>
              <p:cNvPr id="31" name="Text 14"/>
              <p:cNvSpPr txBox="1"/>
              <p:nvPr/>
            </p:nvSpPr>
            <p:spPr>
              <a:xfrm>
                <a:off x="245047" y="89787"/>
                <a:ext cx="5195004" cy="20298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1600">
                    <a:latin typeface="Aptos"/>
                  </a:rPr>
                  <a:t>Ultrasonic Sensor Mount</a:t>
                </a:r>
                <a:endParaRPr lang="en-US" sz="1600">
                  <a:latin typeface="Aptos"/>
                </a:endParaRPr>
              </a:p>
            </p:txBody>
          </p:sp>
          <p:sp>
            <p:nvSpPr>
              <p:cNvPr id="32" name="Text 15"/>
              <p:cNvSpPr txBox="1"/>
              <p:nvPr/>
            </p:nvSpPr>
            <p:spPr>
              <a:xfrm>
                <a:off x="245047" y="355555"/>
                <a:ext cx="3859690" cy="78911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1600">
                    <a:solidFill>
                      <a:schemeClr val="tx1">
                        <a:lumMod val="65000"/>
                        <a:lumOff val="35000"/>
                      </a:schemeClr>
                    </a:solidFill>
                    <a:latin typeface="Aptos"/>
                  </a:rPr>
                  <a:t>Rock-solid, no wobble; clear sensor eyes for accurate echo/trigger.</a:t>
                </a:r>
                <a:endParaRPr lang="en-US" sz="1600">
                  <a:solidFill>
                    <a:schemeClr val="tx1">
                      <a:lumMod val="65000"/>
                      <a:lumOff val="35000"/>
                    </a:schemeClr>
                  </a:solidFill>
                  <a:latin typeface="Aptos"/>
                </a:endParaRPr>
              </a:p>
            </p:txBody>
          </p:sp>
        </p:grpSp>
        <p:pic>
          <p:nvPicPr>
            <p:cNvPr id="34" name="Image 3" descr="Image 3"/>
            <p:cNvPicPr>
              <a:picLocks noChangeAspect="1"/>
            </p:cNvPicPr>
            <p:nvPr/>
          </p:nvPicPr>
          <p:blipFill>
            <a:blip r:embed="rId4"/>
            <a:srcRect l="40764" t="36623" r="39428" b="27465"/>
            <a:stretch>
              <a:fillRect/>
            </a:stretch>
          </p:blipFill>
          <p:spPr>
            <a:xfrm>
              <a:off x="7554330" y="1227041"/>
              <a:ext cx="1311625" cy="1686201"/>
            </a:xfrm>
            <a:custGeom>
              <a:avLst/>
              <a:gdLst/>
              <a:ahLst/>
              <a:cxnLst>
                <a:cxn ang="0">
                  <a:pos x="wd2" y="hd2"/>
                </a:cxn>
                <a:cxn ang="5400000">
                  <a:pos x="wd2" y="hd2"/>
                </a:cxn>
                <a:cxn ang="10800000">
                  <a:pos x="wd2" y="hd2"/>
                </a:cxn>
                <a:cxn ang="16200000">
                  <a:pos x="wd2" y="hd2"/>
                </a:cxn>
              </a:cxnLst>
              <a:rect l="0" t="0" r="r" b="b"/>
              <a:pathLst>
                <a:path w="21474" h="21598" extrusionOk="0">
                  <a:moveTo>
                    <a:pt x="8420" y="91"/>
                  </a:moveTo>
                  <a:cubicBezTo>
                    <a:pt x="12861" y="141"/>
                    <a:pt x="16592" y="210"/>
                    <a:pt x="16710" y="246"/>
                  </a:cubicBezTo>
                  <a:cubicBezTo>
                    <a:pt x="16829" y="281"/>
                    <a:pt x="17058" y="519"/>
                    <a:pt x="17220" y="774"/>
                  </a:cubicBezTo>
                  <a:cubicBezTo>
                    <a:pt x="17495" y="1205"/>
                    <a:pt x="17517" y="1754"/>
                    <a:pt x="17542" y="8848"/>
                  </a:cubicBezTo>
                  <a:cubicBezTo>
                    <a:pt x="17557" y="13035"/>
                    <a:pt x="17630" y="16506"/>
                    <a:pt x="17703" y="16563"/>
                  </a:cubicBezTo>
                  <a:cubicBezTo>
                    <a:pt x="17777" y="16620"/>
                    <a:pt x="18558" y="16869"/>
                    <a:pt x="19438" y="17118"/>
                  </a:cubicBezTo>
                  <a:cubicBezTo>
                    <a:pt x="20318" y="17366"/>
                    <a:pt x="21135" y="17632"/>
                    <a:pt x="21253" y="17709"/>
                  </a:cubicBezTo>
                  <a:cubicBezTo>
                    <a:pt x="21540" y="17895"/>
                    <a:pt x="21551" y="19751"/>
                    <a:pt x="21266" y="19931"/>
                  </a:cubicBezTo>
                  <a:cubicBezTo>
                    <a:pt x="20987" y="20107"/>
                    <a:pt x="16505" y="21600"/>
                    <a:pt x="16261" y="21598"/>
                  </a:cubicBezTo>
                  <a:cubicBezTo>
                    <a:pt x="16152" y="21597"/>
                    <a:pt x="12498" y="20255"/>
                    <a:pt x="8141" y="18615"/>
                  </a:cubicBezTo>
                  <a:lnTo>
                    <a:pt x="219" y="15634"/>
                  </a:lnTo>
                  <a:lnTo>
                    <a:pt x="112" y="10326"/>
                  </a:lnTo>
                  <a:cubicBezTo>
                    <a:pt x="-49" y="2429"/>
                    <a:pt x="-40" y="779"/>
                    <a:pt x="163" y="366"/>
                  </a:cubicBezTo>
                  <a:lnTo>
                    <a:pt x="344" y="0"/>
                  </a:lnTo>
                  <a:close/>
                  <a:moveTo>
                    <a:pt x="9934" y="7253"/>
                  </a:moveTo>
                  <a:cubicBezTo>
                    <a:pt x="9623" y="8284"/>
                    <a:pt x="9625" y="10385"/>
                    <a:pt x="9938" y="11613"/>
                  </a:cubicBezTo>
                  <a:cubicBezTo>
                    <a:pt x="10383" y="13357"/>
                    <a:pt x="11814" y="15169"/>
                    <a:pt x="12746" y="15169"/>
                  </a:cubicBezTo>
                  <a:cubicBezTo>
                    <a:pt x="12925" y="15169"/>
                    <a:pt x="13244" y="14938"/>
                    <a:pt x="13530" y="14600"/>
                  </a:cubicBezTo>
                  <a:cubicBezTo>
                    <a:pt x="14945" y="12930"/>
                    <a:pt x="14987" y="9027"/>
                    <a:pt x="13615" y="6595"/>
                  </a:cubicBezTo>
                  <a:cubicBezTo>
                    <a:pt x="13231" y="5914"/>
                    <a:pt x="12056" y="4830"/>
                    <a:pt x="11702" y="4830"/>
                  </a:cubicBezTo>
                  <a:cubicBezTo>
                    <a:pt x="11184" y="4830"/>
                    <a:pt x="10299" y="6044"/>
                    <a:pt x="9934" y="7253"/>
                  </a:cubicBezTo>
                  <a:close/>
                  <a:moveTo>
                    <a:pt x="6656" y="12993"/>
                  </a:moveTo>
                  <a:cubicBezTo>
                    <a:pt x="6703" y="13438"/>
                    <a:pt x="6760" y="13483"/>
                    <a:pt x="7593" y="13748"/>
                  </a:cubicBezTo>
                  <a:cubicBezTo>
                    <a:pt x="8673" y="14091"/>
                    <a:pt x="8979" y="14069"/>
                    <a:pt x="8921" y="13651"/>
                  </a:cubicBezTo>
                  <a:cubicBezTo>
                    <a:pt x="8855" y="13174"/>
                    <a:pt x="8369" y="12749"/>
                    <a:pt x="7672" y="12561"/>
                  </a:cubicBezTo>
                  <a:cubicBezTo>
                    <a:pt x="6806" y="12326"/>
                    <a:pt x="6594" y="12416"/>
                    <a:pt x="6656" y="12993"/>
                  </a:cubicBezTo>
                  <a:close/>
                  <a:moveTo>
                    <a:pt x="16452" y="13222"/>
                  </a:moveTo>
                  <a:cubicBezTo>
                    <a:pt x="16368" y="13262"/>
                    <a:pt x="16342" y="13349"/>
                    <a:pt x="16394" y="13415"/>
                  </a:cubicBezTo>
                  <a:cubicBezTo>
                    <a:pt x="16446" y="13480"/>
                    <a:pt x="16557" y="13501"/>
                    <a:pt x="16641" y="13460"/>
                  </a:cubicBezTo>
                  <a:cubicBezTo>
                    <a:pt x="16725" y="13420"/>
                    <a:pt x="16752" y="13333"/>
                    <a:pt x="16700" y="13267"/>
                  </a:cubicBezTo>
                  <a:cubicBezTo>
                    <a:pt x="16648" y="13201"/>
                    <a:pt x="16537" y="13181"/>
                    <a:pt x="16452" y="13222"/>
                  </a:cubicBezTo>
                  <a:close/>
                  <a:moveTo>
                    <a:pt x="2946" y="4477"/>
                  </a:moveTo>
                  <a:cubicBezTo>
                    <a:pt x="1794" y="5941"/>
                    <a:pt x="1826" y="9839"/>
                    <a:pt x="3005" y="11663"/>
                  </a:cubicBezTo>
                  <a:cubicBezTo>
                    <a:pt x="3346" y="12192"/>
                    <a:pt x="4050" y="12785"/>
                    <a:pt x="4232" y="12697"/>
                  </a:cubicBezTo>
                  <a:cubicBezTo>
                    <a:pt x="4308" y="12661"/>
                    <a:pt x="4507" y="12421"/>
                    <a:pt x="4673" y="12166"/>
                  </a:cubicBezTo>
                  <a:cubicBezTo>
                    <a:pt x="5788" y="10449"/>
                    <a:pt x="5496" y="6294"/>
                    <a:pt x="4151" y="4741"/>
                  </a:cubicBezTo>
                  <a:cubicBezTo>
                    <a:pt x="3870" y="4417"/>
                    <a:pt x="3558" y="4132"/>
                    <a:pt x="3457" y="4107"/>
                  </a:cubicBezTo>
                  <a:cubicBezTo>
                    <a:pt x="3355" y="4082"/>
                    <a:pt x="3126" y="4249"/>
                    <a:pt x="2946" y="4477"/>
                  </a:cubicBezTo>
                  <a:close/>
                  <a:moveTo>
                    <a:pt x="7016" y="3463"/>
                  </a:moveTo>
                  <a:cubicBezTo>
                    <a:pt x="6640" y="3520"/>
                    <a:pt x="6428" y="4123"/>
                    <a:pt x="6539" y="4822"/>
                  </a:cubicBezTo>
                  <a:cubicBezTo>
                    <a:pt x="6659" y="5582"/>
                    <a:pt x="6988" y="5937"/>
                    <a:pt x="7630" y="6000"/>
                  </a:cubicBezTo>
                  <a:cubicBezTo>
                    <a:pt x="7920" y="6028"/>
                    <a:pt x="8240" y="6060"/>
                    <a:pt x="8340" y="6071"/>
                  </a:cubicBezTo>
                  <a:cubicBezTo>
                    <a:pt x="8440" y="6082"/>
                    <a:pt x="8620" y="5998"/>
                    <a:pt x="8741" y="5884"/>
                  </a:cubicBezTo>
                  <a:cubicBezTo>
                    <a:pt x="9052" y="5592"/>
                    <a:pt x="9005" y="4300"/>
                    <a:pt x="8669" y="3899"/>
                  </a:cubicBezTo>
                  <a:cubicBezTo>
                    <a:pt x="8404" y="3583"/>
                    <a:pt x="7609" y="3374"/>
                    <a:pt x="7016" y="3463"/>
                  </a:cubicBezTo>
                  <a:close/>
                </a:path>
              </a:pathLst>
            </a:custGeom>
            <a:ln w="12700" cap="flat">
              <a:noFill/>
              <a:miter lim="400000"/>
            </a:ln>
            <a:effectLst/>
          </p:spPr>
        </p:pic>
      </p:grpSp>
      <p:sp>
        <p:nvSpPr>
          <p:cNvPr id="36" name="Text 1"/>
          <p:cNvSpPr txBox="1"/>
          <p:nvPr/>
        </p:nvSpPr>
        <p:spPr>
          <a:xfrm>
            <a:off x="523709" y="1346165"/>
            <a:ext cx="8229602" cy="6232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4050"/>
              <a:t>Design Approach</a:t>
            </a:r>
          </a:p>
        </p:txBody>
      </p:sp>
      <p:sp>
        <p:nvSpPr>
          <p:cNvPr id="2" name="Freeform 9">
            <a:extLst>
              <a:ext uri="{FF2B5EF4-FFF2-40B4-BE49-F238E27FC236}">
                <a16:creationId xmlns:a16="http://schemas.microsoft.com/office/drawing/2014/main" id="{0C7B468C-5F71-87EB-D9D1-257FFCF2BEAB}"/>
              </a:ext>
            </a:extLst>
          </p:cNvPr>
          <p:cNvSpPr/>
          <p:nvPr/>
        </p:nvSpPr>
        <p:spPr>
          <a:xfrm>
            <a:off x="7953200" y="-7978939"/>
            <a:ext cx="15054147" cy="12128771"/>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5">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3" name="Freeform 9">
            <a:extLst>
              <a:ext uri="{FF2B5EF4-FFF2-40B4-BE49-F238E27FC236}">
                <a16:creationId xmlns:a16="http://schemas.microsoft.com/office/drawing/2014/main" id="{E1970DE1-4631-AE80-4D58-1505F3E0E087}"/>
              </a:ext>
            </a:extLst>
          </p:cNvPr>
          <p:cNvSpPr/>
          <p:nvPr/>
        </p:nvSpPr>
        <p:spPr>
          <a:xfrm>
            <a:off x="-6519619" y="7547019"/>
            <a:ext cx="15662256" cy="9033237"/>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5">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pic>
        <p:nvPicPr>
          <p:cNvPr id="5" name="Picture 4" descr="A purple and blue cross&#10;&#10;AI-generated content may be incorrect.">
            <a:extLst>
              <a:ext uri="{FF2B5EF4-FFF2-40B4-BE49-F238E27FC236}">
                <a16:creationId xmlns:a16="http://schemas.microsoft.com/office/drawing/2014/main" id="{5EF9F249-DC35-839B-9DA5-45638C50B91A}"/>
              </a:ext>
            </a:extLst>
          </p:cNvPr>
          <p:cNvPicPr>
            <a:picLocks noChangeAspect="1"/>
          </p:cNvPicPr>
          <p:nvPr/>
        </p:nvPicPr>
        <p:blipFill>
          <a:blip r:embed="rId6"/>
          <a:srcRect t="-926" b="35617"/>
          <a:stretch>
            <a:fillRect/>
          </a:stretch>
        </p:blipFill>
        <p:spPr>
          <a:xfrm>
            <a:off x="413660" y="511629"/>
            <a:ext cx="1186544" cy="564762"/>
          </a:xfrm>
          <a:prstGeom prst="rect">
            <a:avLst/>
          </a:prstGeom>
        </p:spPr>
      </p:pic>
      <p:sp>
        <p:nvSpPr>
          <p:cNvPr id="7" name="SK-7-text-12">
            <a:extLst>
              <a:ext uri="{FF2B5EF4-FFF2-40B4-BE49-F238E27FC236}">
                <a16:creationId xmlns:a16="http://schemas.microsoft.com/office/drawing/2014/main" id="{151F7E28-1BFA-A887-C31B-70AC968C73FD}"/>
              </a:ext>
            </a:extLst>
          </p:cNvPr>
          <p:cNvSpPr/>
          <p:nvPr/>
        </p:nvSpPr>
        <p:spPr>
          <a:xfrm>
            <a:off x="1596573" y="710132"/>
            <a:ext cx="1905000" cy="164456"/>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9" name="SK-7-text-13">
            <a:extLst>
              <a:ext uri="{FF2B5EF4-FFF2-40B4-BE49-F238E27FC236}">
                <a16:creationId xmlns:a16="http://schemas.microsoft.com/office/drawing/2014/main" id="{541B0264-9746-FB90-153B-2FDF821BD4F2}"/>
              </a:ext>
            </a:extLst>
          </p:cNvPr>
          <p:cNvSpPr/>
          <p:nvPr/>
        </p:nvSpPr>
        <p:spPr>
          <a:xfrm>
            <a:off x="1596573" y="874736"/>
            <a:ext cx="2476500" cy="150764"/>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4" name="Freeform 9">
            <a:extLst>
              <a:ext uri="{FF2B5EF4-FFF2-40B4-BE49-F238E27FC236}">
                <a16:creationId xmlns:a16="http://schemas.microsoft.com/office/drawing/2014/main" id="{B26FAFB2-5D82-5227-764F-863934C30A26}"/>
              </a:ext>
            </a:extLst>
          </p:cNvPr>
          <p:cNvSpPr/>
          <p:nvPr/>
        </p:nvSpPr>
        <p:spPr>
          <a:xfrm>
            <a:off x="12579628" y="5323404"/>
            <a:ext cx="15054147" cy="12128771"/>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5">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Tree>
    <p:extLst>
      <p:ext uri="{BB962C8B-B14F-4D97-AF65-F5344CB8AC3E}">
        <p14:creationId xmlns:p14="http://schemas.microsoft.com/office/powerpoint/2010/main" val="198206694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p:cNvGrpSpPr/>
          <p:nvPr/>
        </p:nvGrpSpPr>
        <p:grpSpPr>
          <a:xfrm>
            <a:off x="855215" y="5069749"/>
            <a:ext cx="7639739" cy="3755528"/>
            <a:chOff x="0" y="0"/>
            <a:chExt cx="5093158" cy="2503683"/>
          </a:xfrm>
        </p:grpSpPr>
        <p:pic>
          <p:nvPicPr>
            <p:cNvPr id="43" name="圖片-Photoroom.png" descr="圖片-Photoroom.png"/>
            <p:cNvPicPr>
              <a:picLocks noChangeAspect="1"/>
            </p:cNvPicPr>
            <p:nvPr/>
          </p:nvPicPr>
          <p:blipFill>
            <a:blip r:embed="rId2"/>
            <a:stretch>
              <a:fillRect/>
            </a:stretch>
          </p:blipFill>
          <p:spPr>
            <a:xfrm>
              <a:off x="0" y="76215"/>
              <a:ext cx="2351254" cy="2351254"/>
            </a:xfrm>
            <a:prstGeom prst="rect">
              <a:avLst/>
            </a:prstGeom>
            <a:ln w="12700" cap="flat">
              <a:noFill/>
              <a:miter lim="400000"/>
            </a:ln>
            <a:effectLst/>
          </p:spPr>
        </p:pic>
        <p:pic>
          <p:nvPicPr>
            <p:cNvPr id="44" name="圖片-Photoroom2.png" descr="圖片-Photoroom2.png"/>
            <p:cNvPicPr>
              <a:picLocks noChangeAspect="1"/>
            </p:cNvPicPr>
            <p:nvPr/>
          </p:nvPicPr>
          <p:blipFill>
            <a:blip r:embed="rId3"/>
            <a:stretch>
              <a:fillRect/>
            </a:stretch>
          </p:blipFill>
          <p:spPr>
            <a:xfrm>
              <a:off x="2589474" y="0"/>
              <a:ext cx="2503685" cy="2503684"/>
            </a:xfrm>
            <a:prstGeom prst="rect">
              <a:avLst/>
            </a:prstGeom>
            <a:ln w="12700" cap="flat">
              <a:noFill/>
              <a:miter lim="400000"/>
            </a:ln>
            <a:effectLst/>
          </p:spPr>
        </p:pic>
      </p:grpSp>
      <p:grpSp>
        <p:nvGrpSpPr>
          <p:cNvPr id="49" name="Group"/>
          <p:cNvGrpSpPr/>
          <p:nvPr/>
        </p:nvGrpSpPr>
        <p:grpSpPr>
          <a:xfrm>
            <a:off x="10210958" y="3673991"/>
            <a:ext cx="7269484" cy="714459"/>
            <a:chOff x="228600" y="-569"/>
            <a:chExt cx="4846321" cy="476304"/>
          </a:xfrm>
        </p:grpSpPr>
        <p:sp>
          <p:nvSpPr>
            <p:cNvPr id="47" name="Text 14"/>
            <p:cNvSpPr txBox="1"/>
            <p:nvPr/>
          </p:nvSpPr>
          <p:spPr>
            <a:xfrm>
              <a:off x="228600" y="-569"/>
              <a:ext cx="4846321" cy="205184"/>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2000">
                  <a:latin typeface="Aptos"/>
                </a:rPr>
                <a:t>Motor Holder</a:t>
              </a:r>
              <a:endParaRPr lang="en-US" sz="2000">
                <a:latin typeface="Aptos"/>
                <a:ea typeface="Calibri"/>
                <a:cs typeface="Calibri"/>
              </a:endParaRPr>
            </a:p>
          </p:txBody>
        </p:sp>
        <p:sp>
          <p:nvSpPr>
            <p:cNvPr id="48" name="Text 15"/>
            <p:cNvSpPr txBox="1"/>
            <p:nvPr/>
          </p:nvSpPr>
          <p:spPr>
            <a:xfrm>
              <a:off x="228600" y="291070"/>
              <a:ext cx="4846321" cy="18466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1800">
                  <a:solidFill>
                    <a:schemeClr val="tx1">
                      <a:lumMod val="76000"/>
                      <a:lumOff val="24000"/>
                    </a:schemeClr>
                  </a:solidFill>
                  <a:latin typeface="Aptos"/>
                </a:rPr>
                <a:t>Height matched to wheels; secure fit prevents motors from falling.</a:t>
              </a:r>
              <a:endParaRPr lang="en-US" sz="1800">
                <a:solidFill>
                  <a:schemeClr val="tx1">
                    <a:lumMod val="76000"/>
                    <a:lumOff val="24000"/>
                  </a:schemeClr>
                </a:solidFill>
                <a:latin typeface="Aptos"/>
                <a:ea typeface="Calibri"/>
                <a:cs typeface="Calibri"/>
              </a:endParaRPr>
            </a:p>
          </p:txBody>
        </p:sp>
      </p:grpSp>
      <p:grpSp>
        <p:nvGrpSpPr>
          <p:cNvPr id="52" name="Group"/>
          <p:cNvGrpSpPr/>
          <p:nvPr/>
        </p:nvGrpSpPr>
        <p:grpSpPr>
          <a:xfrm>
            <a:off x="9396264" y="5006389"/>
            <a:ext cx="7840533" cy="3882248"/>
            <a:chOff x="-442762" y="660687"/>
            <a:chExt cx="5227021" cy="2588164"/>
          </a:xfrm>
        </p:grpSpPr>
        <p:pic>
          <p:nvPicPr>
            <p:cNvPr id="50" name="3.png" descr="3.png"/>
            <p:cNvPicPr>
              <a:picLocks noChangeAspect="1"/>
            </p:cNvPicPr>
            <p:nvPr/>
          </p:nvPicPr>
          <p:blipFill>
            <a:blip r:embed="rId4"/>
            <a:srcRect/>
            <a:stretch>
              <a:fillRect/>
            </a:stretch>
          </p:blipFill>
          <p:spPr>
            <a:xfrm>
              <a:off x="-442763" y="660687"/>
              <a:ext cx="2588166" cy="2588165"/>
            </a:xfrm>
            <a:prstGeom prst="rect">
              <a:avLst/>
            </a:prstGeom>
            <a:ln w="12700" cap="flat">
              <a:noFill/>
              <a:miter lim="400000"/>
            </a:ln>
            <a:effectLst/>
          </p:spPr>
        </p:pic>
        <p:pic>
          <p:nvPicPr>
            <p:cNvPr id="51" name="4.png" descr="4.png"/>
            <p:cNvPicPr>
              <a:picLocks noChangeAspect="1"/>
            </p:cNvPicPr>
            <p:nvPr/>
          </p:nvPicPr>
          <p:blipFill>
            <a:blip r:embed="rId5"/>
            <a:srcRect/>
            <a:stretch>
              <a:fillRect/>
            </a:stretch>
          </p:blipFill>
          <p:spPr>
            <a:xfrm>
              <a:off x="2592419" y="860527"/>
              <a:ext cx="2191841" cy="2188485"/>
            </a:xfrm>
            <a:prstGeom prst="rect">
              <a:avLst/>
            </a:prstGeom>
            <a:ln w="12700" cap="flat">
              <a:noFill/>
              <a:miter lim="400000"/>
            </a:ln>
            <a:effectLst/>
          </p:spPr>
        </p:pic>
      </p:grpSp>
      <p:sp>
        <p:nvSpPr>
          <p:cNvPr id="53" name="Text 1"/>
          <p:cNvSpPr txBox="1"/>
          <p:nvPr/>
        </p:nvSpPr>
        <p:spPr>
          <a:xfrm>
            <a:off x="855217" y="1909471"/>
            <a:ext cx="8229602" cy="62324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4050"/>
              <a:t>Design Approach</a:t>
            </a:r>
          </a:p>
        </p:txBody>
      </p:sp>
      <p:sp>
        <p:nvSpPr>
          <p:cNvPr id="3" name="Freeform 9">
            <a:extLst>
              <a:ext uri="{FF2B5EF4-FFF2-40B4-BE49-F238E27FC236}">
                <a16:creationId xmlns:a16="http://schemas.microsoft.com/office/drawing/2014/main" id="{B4A8DBFF-3ECB-8F3C-3403-AF5EF5475C01}"/>
              </a:ext>
            </a:extLst>
          </p:cNvPr>
          <p:cNvSpPr/>
          <p:nvPr/>
        </p:nvSpPr>
        <p:spPr>
          <a:xfrm>
            <a:off x="3163485" y="-8479683"/>
            <a:ext cx="15348061" cy="10724514"/>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6">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5" name="Freeform 9">
            <a:extLst>
              <a:ext uri="{FF2B5EF4-FFF2-40B4-BE49-F238E27FC236}">
                <a16:creationId xmlns:a16="http://schemas.microsoft.com/office/drawing/2014/main" id="{98091B9B-59CE-62A1-BE9F-A15B25C66078}"/>
              </a:ext>
            </a:extLst>
          </p:cNvPr>
          <p:cNvSpPr/>
          <p:nvPr/>
        </p:nvSpPr>
        <p:spPr>
          <a:xfrm>
            <a:off x="13668200" y="3951803"/>
            <a:ext cx="15663747" cy="12673056"/>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6">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pic>
        <p:nvPicPr>
          <p:cNvPr id="7" name="Picture 6" descr="A purple and blue cross&#10;&#10;AI-generated content may be incorrect.">
            <a:extLst>
              <a:ext uri="{FF2B5EF4-FFF2-40B4-BE49-F238E27FC236}">
                <a16:creationId xmlns:a16="http://schemas.microsoft.com/office/drawing/2014/main" id="{C620318C-3568-861E-0F69-6DFB75A6CC9F}"/>
              </a:ext>
            </a:extLst>
          </p:cNvPr>
          <p:cNvPicPr>
            <a:picLocks noChangeAspect="1"/>
          </p:cNvPicPr>
          <p:nvPr/>
        </p:nvPicPr>
        <p:blipFill>
          <a:blip r:embed="rId7"/>
          <a:srcRect t="-926" b="35617"/>
          <a:stretch>
            <a:fillRect/>
          </a:stretch>
        </p:blipFill>
        <p:spPr>
          <a:xfrm>
            <a:off x="740231" y="903515"/>
            <a:ext cx="1186544" cy="564762"/>
          </a:xfrm>
          <a:prstGeom prst="rect">
            <a:avLst/>
          </a:prstGeom>
        </p:spPr>
      </p:pic>
      <p:sp>
        <p:nvSpPr>
          <p:cNvPr id="9" name="SK-7-text-12">
            <a:extLst>
              <a:ext uri="{FF2B5EF4-FFF2-40B4-BE49-F238E27FC236}">
                <a16:creationId xmlns:a16="http://schemas.microsoft.com/office/drawing/2014/main" id="{284A0D29-B4C1-092B-029A-DD5C6D021CF2}"/>
              </a:ext>
            </a:extLst>
          </p:cNvPr>
          <p:cNvSpPr/>
          <p:nvPr/>
        </p:nvSpPr>
        <p:spPr>
          <a:xfrm>
            <a:off x="1923144" y="1102018"/>
            <a:ext cx="1905000" cy="164456"/>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11" name="SK-7-text-13">
            <a:extLst>
              <a:ext uri="{FF2B5EF4-FFF2-40B4-BE49-F238E27FC236}">
                <a16:creationId xmlns:a16="http://schemas.microsoft.com/office/drawing/2014/main" id="{A5270D49-1F03-49A5-A81B-A15D6342458C}"/>
              </a:ext>
            </a:extLst>
          </p:cNvPr>
          <p:cNvSpPr/>
          <p:nvPr/>
        </p:nvSpPr>
        <p:spPr>
          <a:xfrm>
            <a:off x="1923144" y="1266622"/>
            <a:ext cx="2476500" cy="150764"/>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grpSp>
        <p:nvGrpSpPr>
          <p:cNvPr id="2" name="Group">
            <a:extLst>
              <a:ext uri="{FF2B5EF4-FFF2-40B4-BE49-F238E27FC236}">
                <a16:creationId xmlns:a16="http://schemas.microsoft.com/office/drawing/2014/main" id="{D03145BA-7071-E7E4-1147-4983512417FC}"/>
              </a:ext>
            </a:extLst>
          </p:cNvPr>
          <p:cNvGrpSpPr/>
          <p:nvPr/>
        </p:nvGrpSpPr>
        <p:grpSpPr>
          <a:xfrm>
            <a:off x="1919972" y="3534881"/>
            <a:ext cx="5242863" cy="1038912"/>
            <a:chOff x="580314" y="1850483"/>
            <a:chExt cx="4898508" cy="944751"/>
          </a:xfrm>
        </p:grpSpPr>
        <p:sp>
          <p:nvSpPr>
            <p:cNvPr id="4" name="Shape 4">
              <a:extLst>
                <a:ext uri="{FF2B5EF4-FFF2-40B4-BE49-F238E27FC236}">
                  <a16:creationId xmlns:a16="http://schemas.microsoft.com/office/drawing/2014/main" id="{D4EE1005-9D98-7BE8-38B9-C5FF06F40C70}"/>
                </a:ext>
              </a:extLst>
            </p:cNvPr>
            <p:cNvSpPr/>
            <p:nvPr/>
          </p:nvSpPr>
          <p:spPr>
            <a:xfrm>
              <a:off x="580314" y="1850483"/>
              <a:ext cx="143586" cy="944751"/>
            </a:xfrm>
            <a:prstGeom prst="rect">
              <a:avLst/>
            </a:prstGeom>
            <a:solidFill>
              <a:srgbClr val="2F5FD8"/>
            </a:solidFill>
            <a:ln w="12700" cap="flat">
              <a:noFill/>
              <a:miter lim="400000"/>
            </a:ln>
            <a:effectLst/>
          </p:spPr>
          <p:txBody>
            <a:bodyPr wrap="square" lIns="45719" tIns="45719" rIns="45719" bIns="45719" numCol="1"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b="0">
                  <a:solidFill>
                    <a:srgbClr val="000000"/>
                  </a:solidFill>
                </a:defRPr>
              </a:pPr>
              <a:endParaRPr/>
            </a:p>
          </p:txBody>
        </p:sp>
        <p:grpSp>
          <p:nvGrpSpPr>
            <p:cNvPr id="6" name="Group">
              <a:extLst>
                <a:ext uri="{FF2B5EF4-FFF2-40B4-BE49-F238E27FC236}">
                  <a16:creationId xmlns:a16="http://schemas.microsoft.com/office/drawing/2014/main" id="{5BD76CBC-F78D-C0A2-F9A6-A0E22C7B9560}"/>
                </a:ext>
              </a:extLst>
            </p:cNvPr>
            <p:cNvGrpSpPr/>
            <p:nvPr/>
          </p:nvGrpSpPr>
          <p:grpSpPr>
            <a:xfrm>
              <a:off x="811478" y="1964605"/>
              <a:ext cx="4667344" cy="794442"/>
              <a:chOff x="811478" y="1964601"/>
              <a:chExt cx="4667343" cy="794438"/>
            </a:xfrm>
          </p:grpSpPr>
          <p:sp>
            <p:nvSpPr>
              <p:cNvPr id="8" name="Text 5">
                <a:extLst>
                  <a:ext uri="{FF2B5EF4-FFF2-40B4-BE49-F238E27FC236}">
                    <a16:creationId xmlns:a16="http://schemas.microsoft.com/office/drawing/2014/main" id="{3982212B-6AB3-C95B-6413-109668EAC637}"/>
                  </a:ext>
                </a:extLst>
              </p:cNvPr>
              <p:cNvSpPr txBox="1"/>
              <p:nvPr/>
            </p:nvSpPr>
            <p:spPr>
              <a:xfrm>
                <a:off x="811478" y="1964601"/>
                <a:ext cx="3629929" cy="276997"/>
              </a:xfrm>
              <a:prstGeom prst="rect">
                <a:avLst/>
              </a:prstGeom>
              <a:noFill/>
              <a:ln w="12700" cap="flat">
                <a:noFill/>
                <a:miter lim="400000"/>
              </a:ln>
              <a:effectLst/>
              <a:extLst>
                <a:ext uri="{C572A759-6A51-4108-AA02-DFA0A04FC94B}">
                  <ma14:wrappingTextBoxFlag xmlns="" xmlns:lc="http://schemas.openxmlformats.org/drawingml/2006/lockedCanva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2000">
                    <a:latin typeface="Aptos"/>
                  </a:rPr>
                  <a:t>IR Sensor Holder</a:t>
                </a:r>
                <a:endParaRPr lang="en-US" sz="2000">
                  <a:latin typeface="Aptos"/>
                </a:endParaRPr>
              </a:p>
            </p:txBody>
          </p:sp>
          <p:sp>
            <p:nvSpPr>
              <p:cNvPr id="10" name="Text 6">
                <a:extLst>
                  <a:ext uri="{FF2B5EF4-FFF2-40B4-BE49-F238E27FC236}">
                    <a16:creationId xmlns:a16="http://schemas.microsoft.com/office/drawing/2014/main" id="{7A640520-B391-67B3-733C-7632BB5443A0}"/>
                  </a:ext>
                </a:extLst>
              </p:cNvPr>
              <p:cNvSpPr txBox="1"/>
              <p:nvPr/>
            </p:nvSpPr>
            <p:spPr>
              <a:xfrm>
                <a:off x="811478" y="2311230"/>
                <a:ext cx="4667343" cy="447809"/>
              </a:xfrm>
              <a:prstGeom prst="rect">
                <a:avLst/>
              </a:prstGeom>
              <a:noFill/>
              <a:ln w="12700" cap="flat">
                <a:noFill/>
                <a:miter lim="400000"/>
              </a:ln>
              <a:effectLst/>
              <a:extLst>
                <a:ext uri="{C572A759-6A51-4108-AA02-DFA0A04FC94B}">
                  <ma14:wrappingTextBoxFlag xmlns="" xmlns:lc="http://schemas.openxmlformats.org/drawingml/2006/lockedCanva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defPPr>
                  <a:defRPr lang="en-US"/>
                </a:defPPr>
                <a:lvl1pPr marL="0" algn="l" defTabSz="914400" rtl="0" eaLnBrk="1" latinLnBrk="0" hangingPunct="1">
                  <a:defRPr sz="1400" kern="1200">
                    <a:solidFill>
                      <a:srgbClr val="5A647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600">
                    <a:solidFill>
                      <a:schemeClr val="tx1">
                        <a:lumMod val="76000"/>
                        <a:lumOff val="24000"/>
                      </a:schemeClr>
                    </a:solidFill>
                    <a:latin typeface="Aptos"/>
                  </a:rPr>
                  <a:t>Adjustable width/height/position for perfect alignment during testing.</a:t>
                </a:r>
                <a:endParaRPr lang="en-US" sz="1600">
                  <a:solidFill>
                    <a:schemeClr val="tx1">
                      <a:lumMod val="76000"/>
                      <a:lumOff val="24000"/>
                    </a:schemeClr>
                  </a:solidFill>
                  <a:latin typeface="Aptos"/>
                </a:endParaRPr>
              </a:p>
            </p:txBody>
          </p:sp>
        </p:grpSp>
      </p:grpSp>
      <p:sp>
        <p:nvSpPr>
          <p:cNvPr id="13" name="Shape 4">
            <a:extLst>
              <a:ext uri="{FF2B5EF4-FFF2-40B4-BE49-F238E27FC236}">
                <a16:creationId xmlns:a16="http://schemas.microsoft.com/office/drawing/2014/main" id="{C7114D4E-91F6-F8C4-866C-0D218DADA928}"/>
              </a:ext>
            </a:extLst>
          </p:cNvPr>
          <p:cNvSpPr/>
          <p:nvPr/>
        </p:nvSpPr>
        <p:spPr>
          <a:xfrm>
            <a:off x="9888315" y="3534881"/>
            <a:ext cx="153680" cy="1038912"/>
          </a:xfrm>
          <a:prstGeom prst="rect">
            <a:avLst/>
          </a:prstGeom>
          <a:solidFill>
            <a:srgbClr val="7030A0"/>
          </a:solidFill>
          <a:ln w="12700" cap="flat">
            <a:solidFill>
              <a:schemeClr val="bg1"/>
            </a:solidFill>
            <a:miter lim="400000"/>
          </a:ln>
          <a:effectLst/>
        </p:spPr>
        <p:txBody>
          <a:bodyPr wrap="square" lIns="45719" tIns="45719" rIns="45719" bIns="45719" numCol="1"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b="0">
                <a:solidFill>
                  <a:srgbClr val="000000"/>
                </a:solidFill>
              </a:defRPr>
            </a:pPr>
            <a:endParaRPr/>
          </a:p>
        </p:txBody>
      </p:sp>
      <p:grpSp>
        <p:nvGrpSpPr>
          <p:cNvPr id="14" name="Group">
            <a:extLst>
              <a:ext uri="{FF2B5EF4-FFF2-40B4-BE49-F238E27FC236}">
                <a16:creationId xmlns:a16="http://schemas.microsoft.com/office/drawing/2014/main" id="{01AD557A-9FDB-5884-4A8B-3D5FFDC733A2}"/>
              </a:ext>
            </a:extLst>
          </p:cNvPr>
          <p:cNvGrpSpPr/>
          <p:nvPr/>
        </p:nvGrpSpPr>
        <p:grpSpPr>
          <a:xfrm>
            <a:off x="2571536" y="9521683"/>
            <a:ext cx="11831623" cy="298912"/>
            <a:chOff x="144022" y="5972940"/>
            <a:chExt cx="11831623" cy="298911"/>
          </a:xfrm>
        </p:grpSpPr>
        <p:sp>
          <p:nvSpPr>
            <p:cNvPr id="15" name="Text 2">
              <a:extLst>
                <a:ext uri="{FF2B5EF4-FFF2-40B4-BE49-F238E27FC236}">
                  <a16:creationId xmlns:a16="http://schemas.microsoft.com/office/drawing/2014/main" id="{0848FA73-95C2-EACF-FC21-B920F14801A3}"/>
                </a:ext>
              </a:extLst>
            </p:cNvPr>
            <p:cNvSpPr txBox="1"/>
            <p:nvPr/>
          </p:nvSpPr>
          <p:spPr>
            <a:xfrm>
              <a:off x="144022" y="5972940"/>
              <a:ext cx="4661858" cy="298911"/>
            </a:xfrm>
            <a:prstGeom prst="rect">
              <a:avLst/>
            </a:prstGeom>
            <a:noFill/>
            <a:ln w="12700" cap="flat">
              <a:noFill/>
              <a:miter lim="400000"/>
            </a:ln>
            <a:effectLst/>
            <a:extLst>
              <a:ext uri="{C572A759-6A51-4108-AA02-DFA0A04FC94B}">
                <ma14:wrappingTextBoxFlag xmlns="" xmlns:lc="http://schemas.openxmlformats.org/drawingml/2006/lockedCanva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ctr" defTabSz="914400" rtl="0" eaLnBrk="1" latinLnBrk="0" hangingPunct="1">
                <a:defRPr sz="1600" kern="1200">
                  <a:solidFill>
                    <a:srgbClr val="2F5FD8"/>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800">
                  <a:solidFill>
                    <a:srgbClr val="002060"/>
                  </a:solidFill>
                  <a:latin typeface="Aptos"/>
                </a:rPr>
                <a:t>Problems</a:t>
              </a:r>
              <a:r>
                <a:rPr lang="de-DE" sz="1800">
                  <a:solidFill>
                    <a:srgbClr val="002060"/>
                  </a:solidFill>
                  <a:latin typeface="Aptos"/>
                </a:rPr>
                <a:t> </a:t>
              </a:r>
              <a:r>
                <a:rPr lang="de-DE" sz="1800" err="1">
                  <a:solidFill>
                    <a:srgbClr val="002060"/>
                  </a:solidFill>
                  <a:latin typeface="Aptos"/>
                </a:rPr>
                <a:t>we</a:t>
              </a:r>
              <a:r>
                <a:rPr lang="de-DE" sz="1800">
                  <a:solidFill>
                    <a:srgbClr val="002060"/>
                  </a:solidFill>
                  <a:latin typeface="Aptos"/>
                </a:rPr>
                <a:t> </a:t>
              </a:r>
              <a:r>
                <a:rPr lang="de-DE" sz="1800" err="1">
                  <a:solidFill>
                    <a:srgbClr val="002060"/>
                  </a:solidFill>
                  <a:latin typeface="Aptos"/>
                </a:rPr>
                <a:t>faced</a:t>
              </a:r>
              <a:r>
                <a:rPr lang="de-DE" sz="1800">
                  <a:solidFill>
                    <a:srgbClr val="002060"/>
                  </a:solidFill>
                  <a:latin typeface="Aptos"/>
                </a:rPr>
                <a:t> </a:t>
              </a:r>
              <a:r>
                <a:rPr lang="de-DE" sz="1800" err="1">
                  <a:solidFill>
                    <a:srgbClr val="002060"/>
                  </a:solidFill>
                  <a:latin typeface="Aptos"/>
                </a:rPr>
                <a:t>many</a:t>
              </a:r>
              <a:r>
                <a:rPr lang="de-DE" sz="1800">
                  <a:solidFill>
                    <a:srgbClr val="002060"/>
                  </a:solidFill>
                  <a:latin typeface="Aptos"/>
                </a:rPr>
                <a:t> </a:t>
              </a:r>
              <a:r>
                <a:rPr lang="de-DE" sz="1800" err="1">
                  <a:solidFill>
                    <a:srgbClr val="002060"/>
                  </a:solidFill>
                  <a:latin typeface="Aptos"/>
                </a:rPr>
                <a:t>times</a:t>
              </a:r>
              <a:r>
                <a:rPr lang="de-DE" sz="1800">
                  <a:solidFill>
                    <a:srgbClr val="002060"/>
                  </a:solidFill>
                  <a:latin typeface="Aptos"/>
                </a:rPr>
                <a:t>:</a:t>
              </a:r>
              <a:endParaRPr lang="en-US" sz="1800">
                <a:solidFill>
                  <a:srgbClr val="002060"/>
                </a:solidFill>
                <a:latin typeface="Aptos"/>
              </a:endParaRPr>
            </a:p>
          </p:txBody>
        </p:sp>
        <p:sp>
          <p:nvSpPr>
            <p:cNvPr id="16" name="Text 3">
              <a:extLst>
                <a:ext uri="{FF2B5EF4-FFF2-40B4-BE49-F238E27FC236}">
                  <a16:creationId xmlns:a16="http://schemas.microsoft.com/office/drawing/2014/main" id="{45F29022-C2DD-3B43-3046-A084B681A951}"/>
                </a:ext>
              </a:extLst>
            </p:cNvPr>
            <p:cNvSpPr txBox="1"/>
            <p:nvPr/>
          </p:nvSpPr>
          <p:spPr>
            <a:xfrm>
              <a:off x="4095374" y="5993471"/>
              <a:ext cx="7880271" cy="274574"/>
            </a:xfrm>
            <a:prstGeom prst="rect">
              <a:avLst/>
            </a:prstGeom>
            <a:noFill/>
            <a:ln w="12700" cap="flat">
              <a:noFill/>
              <a:miter lim="400000"/>
            </a:ln>
            <a:effectLst/>
            <a:extLst>
              <a:ext uri="{C572A759-6A51-4108-AA02-DFA0A04FC94B}">
                <ma14:wrappingTextBoxFlag xmlns="" xmlns:lc="http://schemas.openxmlformats.org/drawingml/2006/lockedCanva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defPPr>
                <a:defRPr lang="en-US"/>
              </a:defPPr>
              <a:lvl1pPr marL="0" algn="ctr" defTabSz="914400" rtl="0" eaLnBrk="1" latinLnBrk="0" hangingPunct="1">
                <a:defRPr sz="16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800">
                  <a:latin typeface="Aptos"/>
                </a:rPr>
                <a:t>Holder is unable to provide adequate support that allows objects to move freely. </a:t>
              </a:r>
              <a:endParaRPr lang="en-US" sz="1800">
                <a:latin typeface="Aptos"/>
              </a:endParaRP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0"/>
          <p:cNvSpPr txBox="1"/>
          <p:nvPr/>
        </p:nvSpPr>
        <p:spPr>
          <a:xfrm>
            <a:off x="670887" y="1320689"/>
            <a:ext cx="16733522" cy="62324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4050" b="1"/>
              <a:t>Hardware Setup &amp; Integration</a:t>
            </a:r>
            <a:endParaRPr lang="en-US" sz="4050" b="1"/>
          </a:p>
        </p:txBody>
      </p:sp>
      <p:sp>
        <p:nvSpPr>
          <p:cNvPr id="25" name="Shape 7"/>
          <p:cNvSpPr/>
          <p:nvPr/>
        </p:nvSpPr>
        <p:spPr>
          <a:xfrm>
            <a:off x="620063" y="4394774"/>
            <a:ext cx="94380" cy="1357667"/>
          </a:xfrm>
          <a:prstGeom prst="rect">
            <a:avLst/>
          </a:prstGeom>
          <a:solidFill>
            <a:srgbClr val="3355FF"/>
          </a:solidFill>
          <a:ln w="12700">
            <a:miter lim="400000"/>
          </a:ln>
        </p:spPr>
        <p:txBody>
          <a:bodyPr lIns="68579" rIns="68579"/>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sz="4050"/>
          </a:p>
        </p:txBody>
      </p:sp>
      <p:sp>
        <p:nvSpPr>
          <p:cNvPr id="26" name="Text 8"/>
          <p:cNvSpPr txBox="1"/>
          <p:nvPr/>
        </p:nvSpPr>
        <p:spPr>
          <a:xfrm>
            <a:off x="795977" y="4389725"/>
            <a:ext cx="5248440" cy="32316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400" b="1">
                <a:solidFill>
                  <a:srgbClr val="1A2340"/>
                </a:solidFill>
                <a:latin typeface="Arial"/>
                <a:ea typeface="Arial"/>
                <a:cs typeface="Arial"/>
                <a:sym typeface="Arial"/>
              </a:defRPr>
            </a:pPr>
            <a:r>
              <a:rPr sz="2100"/>
              <a:t>IR Sensors — Placed </a:t>
            </a:r>
            <a:r>
              <a:rPr lang="en-US" sz="2100"/>
              <a:t>Close Together</a:t>
            </a:r>
          </a:p>
        </p:txBody>
      </p:sp>
      <p:sp>
        <p:nvSpPr>
          <p:cNvPr id="28" name="Text 13"/>
          <p:cNvSpPr txBox="1"/>
          <p:nvPr/>
        </p:nvSpPr>
        <p:spPr>
          <a:xfrm>
            <a:off x="12766287" y="7119219"/>
            <a:ext cx="6024591" cy="32316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400" b="1">
                <a:solidFill>
                  <a:srgbClr val="1A2340"/>
                </a:solidFill>
                <a:latin typeface="Arial"/>
                <a:ea typeface="Arial"/>
                <a:cs typeface="Arial"/>
                <a:sym typeface="Arial"/>
              </a:defRPr>
            </a:pPr>
            <a:r>
              <a:rPr sz="2100"/>
              <a:t>Ultrasonic — Placed Far Left / Far Right</a:t>
            </a:r>
            <a:endParaRPr lang="en-US" sz="2100"/>
          </a:p>
        </p:txBody>
      </p:sp>
      <p:pic>
        <p:nvPicPr>
          <p:cNvPr id="37" name="WhatsApp Image 2026-07-04 at 22.34.48.jpeg" descr="WhatsApp Image 2026-07-04 at 22.34.48.jpeg"/>
          <p:cNvPicPr>
            <a:picLocks noChangeAspect="1"/>
          </p:cNvPicPr>
          <p:nvPr/>
        </p:nvPicPr>
        <p:blipFill>
          <a:blip r:embed="rId2"/>
          <a:srcRect l="600" t="5832" r="5926" b="20616"/>
          <a:stretch>
            <a:fillRect/>
          </a:stretch>
        </p:blipFill>
        <p:spPr>
          <a:xfrm rot="20347991">
            <a:off x="6337245" y="3035565"/>
            <a:ext cx="4621022" cy="7943300"/>
          </a:xfrm>
          <a:custGeom>
            <a:avLst/>
            <a:gdLst/>
            <a:ahLst/>
            <a:cxnLst>
              <a:cxn ang="0">
                <a:pos x="wd2" y="hd2"/>
              </a:cxn>
              <a:cxn ang="5400000">
                <a:pos x="wd2" y="hd2"/>
              </a:cxn>
              <a:cxn ang="10800000">
                <a:pos x="wd2" y="hd2"/>
              </a:cxn>
              <a:cxn ang="16200000">
                <a:pos x="wd2" y="hd2"/>
              </a:cxn>
            </a:cxnLst>
            <a:rect l="0" t="0" r="r" b="b"/>
            <a:pathLst>
              <a:path w="21452" h="21600" extrusionOk="0">
                <a:moveTo>
                  <a:pt x="9624" y="205"/>
                </a:moveTo>
                <a:cubicBezTo>
                  <a:pt x="9294" y="396"/>
                  <a:pt x="9019" y="552"/>
                  <a:pt x="9012" y="552"/>
                </a:cubicBezTo>
                <a:cubicBezTo>
                  <a:pt x="9005" y="552"/>
                  <a:pt x="8821" y="655"/>
                  <a:pt x="8602" y="781"/>
                </a:cubicBezTo>
                <a:cubicBezTo>
                  <a:pt x="8383" y="907"/>
                  <a:pt x="8199" y="1009"/>
                  <a:pt x="8193" y="1009"/>
                </a:cubicBezTo>
                <a:cubicBezTo>
                  <a:pt x="8186" y="1009"/>
                  <a:pt x="8042" y="1091"/>
                  <a:pt x="7872" y="1191"/>
                </a:cubicBezTo>
                <a:cubicBezTo>
                  <a:pt x="7559" y="1374"/>
                  <a:pt x="7433" y="1471"/>
                  <a:pt x="7433" y="1527"/>
                </a:cubicBezTo>
                <a:cubicBezTo>
                  <a:pt x="7433" y="1584"/>
                  <a:pt x="7331" y="1762"/>
                  <a:pt x="7282" y="1790"/>
                </a:cubicBezTo>
                <a:cubicBezTo>
                  <a:pt x="7256" y="1805"/>
                  <a:pt x="7156" y="1919"/>
                  <a:pt x="7059" y="2044"/>
                </a:cubicBezTo>
                <a:cubicBezTo>
                  <a:pt x="6962" y="2168"/>
                  <a:pt x="6832" y="2332"/>
                  <a:pt x="6771" y="2409"/>
                </a:cubicBezTo>
                <a:cubicBezTo>
                  <a:pt x="6527" y="2716"/>
                  <a:pt x="6439" y="2834"/>
                  <a:pt x="6347" y="2976"/>
                </a:cubicBezTo>
                <a:cubicBezTo>
                  <a:pt x="6110" y="3345"/>
                  <a:pt x="5999" y="3510"/>
                  <a:pt x="5925" y="3602"/>
                </a:cubicBezTo>
                <a:cubicBezTo>
                  <a:pt x="5882" y="3657"/>
                  <a:pt x="5827" y="3737"/>
                  <a:pt x="5804" y="3781"/>
                </a:cubicBezTo>
                <a:cubicBezTo>
                  <a:pt x="5780" y="3825"/>
                  <a:pt x="5725" y="3910"/>
                  <a:pt x="5681" y="3970"/>
                </a:cubicBezTo>
                <a:cubicBezTo>
                  <a:pt x="5637" y="4030"/>
                  <a:pt x="5572" y="4128"/>
                  <a:pt x="5536" y="4188"/>
                </a:cubicBezTo>
                <a:cubicBezTo>
                  <a:pt x="5501" y="4249"/>
                  <a:pt x="5393" y="4427"/>
                  <a:pt x="5298" y="4586"/>
                </a:cubicBezTo>
                <a:cubicBezTo>
                  <a:pt x="5085" y="4939"/>
                  <a:pt x="4751" y="5524"/>
                  <a:pt x="4751" y="5545"/>
                </a:cubicBezTo>
                <a:cubicBezTo>
                  <a:pt x="4751" y="5572"/>
                  <a:pt x="4912" y="5560"/>
                  <a:pt x="4955" y="5530"/>
                </a:cubicBezTo>
                <a:cubicBezTo>
                  <a:pt x="4978" y="5513"/>
                  <a:pt x="5047" y="5500"/>
                  <a:pt x="5108" y="5500"/>
                </a:cubicBezTo>
                <a:cubicBezTo>
                  <a:pt x="5168" y="5500"/>
                  <a:pt x="5237" y="5486"/>
                  <a:pt x="5260" y="5470"/>
                </a:cubicBezTo>
                <a:cubicBezTo>
                  <a:pt x="5296" y="5445"/>
                  <a:pt x="5454" y="5440"/>
                  <a:pt x="6296" y="5440"/>
                </a:cubicBezTo>
                <a:cubicBezTo>
                  <a:pt x="7137" y="5440"/>
                  <a:pt x="7295" y="5445"/>
                  <a:pt x="7331" y="5470"/>
                </a:cubicBezTo>
                <a:cubicBezTo>
                  <a:pt x="7354" y="5486"/>
                  <a:pt x="7423" y="5500"/>
                  <a:pt x="7484" y="5500"/>
                </a:cubicBezTo>
                <a:cubicBezTo>
                  <a:pt x="7552" y="5500"/>
                  <a:pt x="7603" y="5512"/>
                  <a:pt x="7615" y="5530"/>
                </a:cubicBezTo>
                <a:cubicBezTo>
                  <a:pt x="7640" y="5568"/>
                  <a:pt x="7787" y="5568"/>
                  <a:pt x="7853" y="5530"/>
                </a:cubicBezTo>
                <a:cubicBezTo>
                  <a:pt x="7894" y="5506"/>
                  <a:pt x="8009" y="5500"/>
                  <a:pt x="8450" y="5500"/>
                </a:cubicBezTo>
                <a:cubicBezTo>
                  <a:pt x="8905" y="5500"/>
                  <a:pt x="9000" y="5495"/>
                  <a:pt x="9016" y="5470"/>
                </a:cubicBezTo>
                <a:cubicBezTo>
                  <a:pt x="9032" y="5446"/>
                  <a:pt x="9103" y="5440"/>
                  <a:pt x="9363" y="5441"/>
                </a:cubicBezTo>
                <a:lnTo>
                  <a:pt x="9691" y="5441"/>
                </a:lnTo>
                <a:lnTo>
                  <a:pt x="9796" y="5536"/>
                </a:lnTo>
                <a:cubicBezTo>
                  <a:pt x="9855" y="5588"/>
                  <a:pt x="9944" y="5702"/>
                  <a:pt x="9995" y="5789"/>
                </a:cubicBezTo>
                <a:cubicBezTo>
                  <a:pt x="10130" y="6018"/>
                  <a:pt x="10128" y="6016"/>
                  <a:pt x="10305" y="6016"/>
                </a:cubicBezTo>
                <a:cubicBezTo>
                  <a:pt x="10397" y="6016"/>
                  <a:pt x="10480" y="6029"/>
                  <a:pt x="10510" y="6046"/>
                </a:cubicBezTo>
                <a:cubicBezTo>
                  <a:pt x="10544" y="6066"/>
                  <a:pt x="10629" y="6076"/>
                  <a:pt x="10765" y="6076"/>
                </a:cubicBezTo>
                <a:cubicBezTo>
                  <a:pt x="10901" y="6076"/>
                  <a:pt x="10986" y="6086"/>
                  <a:pt x="11020" y="6106"/>
                </a:cubicBezTo>
                <a:cubicBezTo>
                  <a:pt x="11048" y="6122"/>
                  <a:pt x="11115" y="6136"/>
                  <a:pt x="11170" y="6136"/>
                </a:cubicBezTo>
                <a:cubicBezTo>
                  <a:pt x="11225" y="6136"/>
                  <a:pt x="11269" y="6145"/>
                  <a:pt x="11269" y="6156"/>
                </a:cubicBezTo>
                <a:cubicBezTo>
                  <a:pt x="11269" y="6166"/>
                  <a:pt x="11298" y="6175"/>
                  <a:pt x="11333" y="6175"/>
                </a:cubicBezTo>
                <a:cubicBezTo>
                  <a:pt x="11368" y="6175"/>
                  <a:pt x="11416" y="6189"/>
                  <a:pt x="11439" y="6205"/>
                </a:cubicBezTo>
                <a:cubicBezTo>
                  <a:pt x="11498" y="6247"/>
                  <a:pt x="11832" y="6247"/>
                  <a:pt x="11859" y="6205"/>
                </a:cubicBezTo>
                <a:cubicBezTo>
                  <a:pt x="11872" y="6185"/>
                  <a:pt x="11926" y="6175"/>
                  <a:pt x="12030" y="6175"/>
                </a:cubicBezTo>
                <a:cubicBezTo>
                  <a:pt x="12114" y="6175"/>
                  <a:pt x="12191" y="6166"/>
                  <a:pt x="12203" y="6156"/>
                </a:cubicBezTo>
                <a:cubicBezTo>
                  <a:pt x="12214" y="6145"/>
                  <a:pt x="12328" y="6136"/>
                  <a:pt x="12455" y="6136"/>
                </a:cubicBezTo>
                <a:cubicBezTo>
                  <a:pt x="12620" y="6136"/>
                  <a:pt x="12699" y="6127"/>
                  <a:pt x="12729" y="6106"/>
                </a:cubicBezTo>
                <a:cubicBezTo>
                  <a:pt x="12759" y="6085"/>
                  <a:pt x="12839" y="6076"/>
                  <a:pt x="13008" y="6076"/>
                </a:cubicBezTo>
                <a:cubicBezTo>
                  <a:pt x="13223" y="6076"/>
                  <a:pt x="13258" y="6082"/>
                  <a:pt x="13380" y="6139"/>
                </a:cubicBezTo>
                <a:cubicBezTo>
                  <a:pt x="13477" y="6183"/>
                  <a:pt x="13553" y="6249"/>
                  <a:pt x="13648" y="6367"/>
                </a:cubicBezTo>
                <a:lnTo>
                  <a:pt x="13781" y="6533"/>
                </a:lnTo>
                <a:lnTo>
                  <a:pt x="13913" y="6533"/>
                </a:lnTo>
                <a:cubicBezTo>
                  <a:pt x="13989" y="6533"/>
                  <a:pt x="14063" y="6520"/>
                  <a:pt x="14087" y="6503"/>
                </a:cubicBezTo>
                <a:cubicBezTo>
                  <a:pt x="14114" y="6484"/>
                  <a:pt x="14189" y="6473"/>
                  <a:pt x="14296" y="6473"/>
                </a:cubicBezTo>
                <a:cubicBezTo>
                  <a:pt x="14413" y="6473"/>
                  <a:pt x="14469" y="6465"/>
                  <a:pt x="14482" y="6444"/>
                </a:cubicBezTo>
                <a:cubicBezTo>
                  <a:pt x="14497" y="6422"/>
                  <a:pt x="14557" y="6414"/>
                  <a:pt x="14715" y="6414"/>
                </a:cubicBezTo>
                <a:cubicBezTo>
                  <a:pt x="14874" y="6414"/>
                  <a:pt x="14934" y="6406"/>
                  <a:pt x="14948" y="6384"/>
                </a:cubicBezTo>
                <a:cubicBezTo>
                  <a:pt x="14963" y="6361"/>
                  <a:pt x="15031" y="6354"/>
                  <a:pt x="15258" y="6354"/>
                </a:cubicBezTo>
                <a:cubicBezTo>
                  <a:pt x="15485" y="6354"/>
                  <a:pt x="15553" y="6361"/>
                  <a:pt x="15569" y="6384"/>
                </a:cubicBezTo>
                <a:cubicBezTo>
                  <a:pt x="15579" y="6400"/>
                  <a:pt x="15614" y="6414"/>
                  <a:pt x="15646" y="6414"/>
                </a:cubicBezTo>
                <a:cubicBezTo>
                  <a:pt x="15788" y="6414"/>
                  <a:pt x="16290" y="6846"/>
                  <a:pt x="16425" y="7086"/>
                </a:cubicBezTo>
                <a:cubicBezTo>
                  <a:pt x="16461" y="7148"/>
                  <a:pt x="16529" y="7250"/>
                  <a:pt x="16578" y="7312"/>
                </a:cubicBezTo>
                <a:cubicBezTo>
                  <a:pt x="16627" y="7374"/>
                  <a:pt x="16667" y="7433"/>
                  <a:pt x="16667" y="7443"/>
                </a:cubicBezTo>
                <a:cubicBezTo>
                  <a:pt x="16667" y="7453"/>
                  <a:pt x="16703" y="7528"/>
                  <a:pt x="16747" y="7608"/>
                </a:cubicBezTo>
                <a:cubicBezTo>
                  <a:pt x="16825" y="7752"/>
                  <a:pt x="16913" y="7972"/>
                  <a:pt x="17020" y="8292"/>
                </a:cubicBezTo>
                <a:cubicBezTo>
                  <a:pt x="17049" y="8379"/>
                  <a:pt x="17082" y="8540"/>
                  <a:pt x="17093" y="8649"/>
                </a:cubicBezTo>
                <a:cubicBezTo>
                  <a:pt x="17124" y="8962"/>
                  <a:pt x="17093" y="8937"/>
                  <a:pt x="17450" y="8937"/>
                </a:cubicBezTo>
                <a:cubicBezTo>
                  <a:pt x="17690" y="8937"/>
                  <a:pt x="17760" y="8944"/>
                  <a:pt x="17775" y="8967"/>
                </a:cubicBezTo>
                <a:cubicBezTo>
                  <a:pt x="17786" y="8983"/>
                  <a:pt x="17821" y="8997"/>
                  <a:pt x="17854" y="8997"/>
                </a:cubicBezTo>
                <a:cubicBezTo>
                  <a:pt x="17886" y="8997"/>
                  <a:pt x="17958" y="9026"/>
                  <a:pt x="18014" y="9062"/>
                </a:cubicBezTo>
                <a:cubicBezTo>
                  <a:pt x="18127" y="9135"/>
                  <a:pt x="18365" y="9336"/>
                  <a:pt x="18365" y="9359"/>
                </a:cubicBezTo>
                <a:cubicBezTo>
                  <a:pt x="18365" y="9389"/>
                  <a:pt x="18483" y="9454"/>
                  <a:pt x="18538" y="9454"/>
                </a:cubicBezTo>
                <a:cubicBezTo>
                  <a:pt x="18569" y="9454"/>
                  <a:pt x="18613" y="9467"/>
                  <a:pt x="18636" y="9484"/>
                </a:cubicBezTo>
                <a:cubicBezTo>
                  <a:pt x="18660" y="9500"/>
                  <a:pt x="18698" y="9514"/>
                  <a:pt x="18721" y="9514"/>
                </a:cubicBezTo>
                <a:cubicBezTo>
                  <a:pt x="18745" y="9514"/>
                  <a:pt x="18783" y="9527"/>
                  <a:pt x="18806" y="9543"/>
                </a:cubicBezTo>
                <a:cubicBezTo>
                  <a:pt x="18829" y="9560"/>
                  <a:pt x="18885" y="9573"/>
                  <a:pt x="18929" y="9573"/>
                </a:cubicBezTo>
                <a:cubicBezTo>
                  <a:pt x="18973" y="9573"/>
                  <a:pt x="19010" y="9582"/>
                  <a:pt x="19010" y="9592"/>
                </a:cubicBezTo>
                <a:cubicBezTo>
                  <a:pt x="19010" y="9603"/>
                  <a:pt x="19075" y="9629"/>
                  <a:pt x="19154" y="9651"/>
                </a:cubicBezTo>
                <a:cubicBezTo>
                  <a:pt x="19505" y="9745"/>
                  <a:pt x="20010" y="10051"/>
                  <a:pt x="20200" y="10284"/>
                </a:cubicBezTo>
                <a:cubicBezTo>
                  <a:pt x="20328" y="10441"/>
                  <a:pt x="20334" y="10457"/>
                  <a:pt x="20334" y="10647"/>
                </a:cubicBezTo>
                <a:cubicBezTo>
                  <a:pt x="20334" y="10794"/>
                  <a:pt x="20316" y="10877"/>
                  <a:pt x="20265" y="10965"/>
                </a:cubicBezTo>
                <a:cubicBezTo>
                  <a:pt x="20199" y="11080"/>
                  <a:pt x="20167" y="11110"/>
                  <a:pt x="19999" y="11220"/>
                </a:cubicBezTo>
                <a:lnTo>
                  <a:pt x="19919" y="11272"/>
                </a:lnTo>
                <a:lnTo>
                  <a:pt x="20220" y="11282"/>
                </a:lnTo>
                <a:cubicBezTo>
                  <a:pt x="20416" y="11288"/>
                  <a:pt x="20547" y="11303"/>
                  <a:pt x="20596" y="11323"/>
                </a:cubicBezTo>
                <a:cubicBezTo>
                  <a:pt x="20638" y="11341"/>
                  <a:pt x="20738" y="11435"/>
                  <a:pt x="20817" y="11532"/>
                </a:cubicBezTo>
                <a:cubicBezTo>
                  <a:pt x="20957" y="11704"/>
                  <a:pt x="20962" y="11715"/>
                  <a:pt x="20962" y="11908"/>
                </a:cubicBezTo>
                <a:cubicBezTo>
                  <a:pt x="20962" y="12076"/>
                  <a:pt x="20950" y="12121"/>
                  <a:pt x="20882" y="12201"/>
                </a:cubicBezTo>
                <a:cubicBezTo>
                  <a:pt x="20839" y="12253"/>
                  <a:pt x="20781" y="12295"/>
                  <a:pt x="20754" y="12295"/>
                </a:cubicBezTo>
                <a:cubicBezTo>
                  <a:pt x="20727" y="12295"/>
                  <a:pt x="20696" y="12309"/>
                  <a:pt x="20686" y="12325"/>
                </a:cubicBezTo>
                <a:cubicBezTo>
                  <a:pt x="20675" y="12341"/>
                  <a:pt x="20645" y="12355"/>
                  <a:pt x="20620" y="12355"/>
                </a:cubicBezTo>
                <a:cubicBezTo>
                  <a:pt x="20584" y="12355"/>
                  <a:pt x="20581" y="12367"/>
                  <a:pt x="20606" y="12406"/>
                </a:cubicBezTo>
                <a:cubicBezTo>
                  <a:pt x="20624" y="12434"/>
                  <a:pt x="20639" y="12524"/>
                  <a:pt x="20639" y="12606"/>
                </a:cubicBezTo>
                <a:cubicBezTo>
                  <a:pt x="20639" y="12781"/>
                  <a:pt x="20604" y="12812"/>
                  <a:pt x="20404" y="12812"/>
                </a:cubicBezTo>
                <a:cubicBezTo>
                  <a:pt x="20289" y="12812"/>
                  <a:pt x="20266" y="12818"/>
                  <a:pt x="20266" y="12852"/>
                </a:cubicBezTo>
                <a:cubicBezTo>
                  <a:pt x="20266" y="12885"/>
                  <a:pt x="20289" y="12891"/>
                  <a:pt x="20402" y="12891"/>
                </a:cubicBezTo>
                <a:cubicBezTo>
                  <a:pt x="20476" y="12891"/>
                  <a:pt x="20537" y="12882"/>
                  <a:pt x="20537" y="12871"/>
                </a:cubicBezTo>
                <a:cubicBezTo>
                  <a:pt x="20537" y="12861"/>
                  <a:pt x="20575" y="12852"/>
                  <a:pt x="20620" y="12852"/>
                </a:cubicBezTo>
                <a:cubicBezTo>
                  <a:pt x="20666" y="12852"/>
                  <a:pt x="20713" y="12861"/>
                  <a:pt x="20724" y="12871"/>
                </a:cubicBezTo>
                <a:cubicBezTo>
                  <a:pt x="20736" y="12882"/>
                  <a:pt x="20836" y="12891"/>
                  <a:pt x="20947" y="12891"/>
                </a:cubicBezTo>
                <a:cubicBezTo>
                  <a:pt x="21058" y="12891"/>
                  <a:pt x="21149" y="12900"/>
                  <a:pt x="21149" y="12910"/>
                </a:cubicBezTo>
                <a:cubicBezTo>
                  <a:pt x="21149" y="12920"/>
                  <a:pt x="21181" y="12934"/>
                  <a:pt x="21220" y="12942"/>
                </a:cubicBezTo>
                <a:cubicBezTo>
                  <a:pt x="21259" y="12949"/>
                  <a:pt x="21319" y="12992"/>
                  <a:pt x="21355" y="13037"/>
                </a:cubicBezTo>
                <a:cubicBezTo>
                  <a:pt x="21439" y="13147"/>
                  <a:pt x="21438" y="13345"/>
                  <a:pt x="21350" y="13766"/>
                </a:cubicBezTo>
                <a:cubicBezTo>
                  <a:pt x="21228" y="14346"/>
                  <a:pt x="21228" y="14352"/>
                  <a:pt x="21349" y="14508"/>
                </a:cubicBezTo>
                <a:cubicBezTo>
                  <a:pt x="21583" y="14810"/>
                  <a:pt x="21412" y="15139"/>
                  <a:pt x="20901" y="15370"/>
                </a:cubicBezTo>
                <a:cubicBezTo>
                  <a:pt x="20870" y="15384"/>
                  <a:pt x="20750" y="15395"/>
                  <a:pt x="20628" y="15395"/>
                </a:cubicBezTo>
                <a:cubicBezTo>
                  <a:pt x="20476" y="15395"/>
                  <a:pt x="20397" y="15404"/>
                  <a:pt x="20368" y="15425"/>
                </a:cubicBezTo>
                <a:cubicBezTo>
                  <a:pt x="20338" y="15445"/>
                  <a:pt x="20260" y="15455"/>
                  <a:pt x="20113" y="15455"/>
                </a:cubicBezTo>
                <a:cubicBezTo>
                  <a:pt x="19955" y="15455"/>
                  <a:pt x="19895" y="15462"/>
                  <a:pt x="19880" y="15484"/>
                </a:cubicBezTo>
                <a:cubicBezTo>
                  <a:pt x="19869" y="15501"/>
                  <a:pt x="19831" y="15514"/>
                  <a:pt x="19796" y="15514"/>
                </a:cubicBezTo>
                <a:cubicBezTo>
                  <a:pt x="19760" y="15514"/>
                  <a:pt x="19712" y="15528"/>
                  <a:pt x="19689" y="15544"/>
                </a:cubicBezTo>
                <a:cubicBezTo>
                  <a:pt x="19663" y="15562"/>
                  <a:pt x="19589" y="15574"/>
                  <a:pt x="19502" y="15574"/>
                </a:cubicBezTo>
                <a:cubicBezTo>
                  <a:pt x="19415" y="15574"/>
                  <a:pt x="19341" y="15586"/>
                  <a:pt x="19315" y="15604"/>
                </a:cubicBezTo>
                <a:cubicBezTo>
                  <a:pt x="19292" y="15620"/>
                  <a:pt x="19251" y="15633"/>
                  <a:pt x="19224" y="15633"/>
                </a:cubicBezTo>
                <a:cubicBezTo>
                  <a:pt x="19197" y="15633"/>
                  <a:pt x="19152" y="15647"/>
                  <a:pt x="19124" y="15663"/>
                </a:cubicBezTo>
                <a:cubicBezTo>
                  <a:pt x="19088" y="15684"/>
                  <a:pt x="19000" y="15693"/>
                  <a:pt x="18824" y="15693"/>
                </a:cubicBezTo>
                <a:cubicBezTo>
                  <a:pt x="18635" y="15693"/>
                  <a:pt x="18571" y="15700"/>
                  <a:pt x="18556" y="15723"/>
                </a:cubicBezTo>
                <a:cubicBezTo>
                  <a:pt x="18545" y="15739"/>
                  <a:pt x="18499" y="15753"/>
                  <a:pt x="18453" y="15753"/>
                </a:cubicBezTo>
                <a:cubicBezTo>
                  <a:pt x="18406" y="15753"/>
                  <a:pt x="18359" y="15761"/>
                  <a:pt x="18348" y="15772"/>
                </a:cubicBezTo>
                <a:cubicBezTo>
                  <a:pt x="18336" y="15783"/>
                  <a:pt x="18261" y="15792"/>
                  <a:pt x="18180" y="15792"/>
                </a:cubicBezTo>
                <a:cubicBezTo>
                  <a:pt x="18091" y="15792"/>
                  <a:pt x="18017" y="15804"/>
                  <a:pt x="17991" y="15822"/>
                </a:cubicBezTo>
                <a:cubicBezTo>
                  <a:pt x="17968" y="15838"/>
                  <a:pt x="17914" y="15852"/>
                  <a:pt x="17872" y="15852"/>
                </a:cubicBezTo>
                <a:cubicBezTo>
                  <a:pt x="17830" y="15852"/>
                  <a:pt x="17786" y="15865"/>
                  <a:pt x="17775" y="15882"/>
                </a:cubicBezTo>
                <a:cubicBezTo>
                  <a:pt x="17765" y="15898"/>
                  <a:pt x="17724" y="15912"/>
                  <a:pt x="17686" y="15912"/>
                </a:cubicBezTo>
                <a:cubicBezTo>
                  <a:pt x="17647" y="15912"/>
                  <a:pt x="17607" y="15925"/>
                  <a:pt x="17596" y="15941"/>
                </a:cubicBezTo>
                <a:cubicBezTo>
                  <a:pt x="17585" y="15958"/>
                  <a:pt x="17550" y="15971"/>
                  <a:pt x="17517" y="15971"/>
                </a:cubicBezTo>
                <a:cubicBezTo>
                  <a:pt x="17483" y="15971"/>
                  <a:pt x="17437" y="15985"/>
                  <a:pt x="17414" y="16001"/>
                </a:cubicBezTo>
                <a:cubicBezTo>
                  <a:pt x="17391" y="16017"/>
                  <a:pt x="17322" y="16031"/>
                  <a:pt x="17261" y="16031"/>
                </a:cubicBezTo>
                <a:cubicBezTo>
                  <a:pt x="17193" y="16031"/>
                  <a:pt x="17142" y="16042"/>
                  <a:pt x="17130" y="16061"/>
                </a:cubicBezTo>
                <a:cubicBezTo>
                  <a:pt x="17118" y="16079"/>
                  <a:pt x="17066" y="16090"/>
                  <a:pt x="16994" y="16090"/>
                </a:cubicBezTo>
                <a:cubicBezTo>
                  <a:pt x="16922" y="16090"/>
                  <a:pt x="16871" y="16102"/>
                  <a:pt x="16859" y="16120"/>
                </a:cubicBezTo>
                <a:cubicBezTo>
                  <a:pt x="16843" y="16143"/>
                  <a:pt x="16776" y="16150"/>
                  <a:pt x="16554" y="16150"/>
                </a:cubicBezTo>
                <a:cubicBezTo>
                  <a:pt x="16341" y="16150"/>
                  <a:pt x="16257" y="16158"/>
                  <a:pt x="16226" y="16180"/>
                </a:cubicBezTo>
                <a:cubicBezTo>
                  <a:pt x="16203" y="16196"/>
                  <a:pt x="16140" y="16210"/>
                  <a:pt x="16086" y="16210"/>
                </a:cubicBezTo>
                <a:cubicBezTo>
                  <a:pt x="16032" y="16210"/>
                  <a:pt x="15988" y="16214"/>
                  <a:pt x="15988" y="16220"/>
                </a:cubicBezTo>
                <a:cubicBezTo>
                  <a:pt x="15988" y="16303"/>
                  <a:pt x="16459" y="16925"/>
                  <a:pt x="16830" y="17333"/>
                </a:cubicBezTo>
                <a:cubicBezTo>
                  <a:pt x="16881" y="17389"/>
                  <a:pt x="16959" y="17483"/>
                  <a:pt x="17004" y="17542"/>
                </a:cubicBezTo>
                <a:cubicBezTo>
                  <a:pt x="17049" y="17601"/>
                  <a:pt x="17129" y="17706"/>
                  <a:pt x="17182" y="17775"/>
                </a:cubicBezTo>
                <a:cubicBezTo>
                  <a:pt x="17235" y="17843"/>
                  <a:pt x="17278" y="17907"/>
                  <a:pt x="17278" y="17915"/>
                </a:cubicBezTo>
                <a:cubicBezTo>
                  <a:pt x="17278" y="17924"/>
                  <a:pt x="17330" y="17966"/>
                  <a:pt x="17392" y="18009"/>
                </a:cubicBezTo>
                <a:cubicBezTo>
                  <a:pt x="17553" y="18119"/>
                  <a:pt x="17652" y="18242"/>
                  <a:pt x="17651" y="18330"/>
                </a:cubicBezTo>
                <a:cubicBezTo>
                  <a:pt x="17651" y="18424"/>
                  <a:pt x="17524" y="18575"/>
                  <a:pt x="17420" y="18606"/>
                </a:cubicBezTo>
                <a:cubicBezTo>
                  <a:pt x="17376" y="18619"/>
                  <a:pt x="17323" y="18639"/>
                  <a:pt x="17303" y="18651"/>
                </a:cubicBezTo>
                <a:cubicBezTo>
                  <a:pt x="17282" y="18663"/>
                  <a:pt x="17237" y="18673"/>
                  <a:pt x="17203" y="18673"/>
                </a:cubicBezTo>
                <a:cubicBezTo>
                  <a:pt x="17143" y="18673"/>
                  <a:pt x="17143" y="18676"/>
                  <a:pt x="17201" y="18728"/>
                </a:cubicBezTo>
                <a:cubicBezTo>
                  <a:pt x="17234" y="18758"/>
                  <a:pt x="17287" y="18800"/>
                  <a:pt x="17320" y="18821"/>
                </a:cubicBezTo>
                <a:cubicBezTo>
                  <a:pt x="17352" y="18842"/>
                  <a:pt x="17446" y="18918"/>
                  <a:pt x="17529" y="18990"/>
                </a:cubicBezTo>
                <a:cubicBezTo>
                  <a:pt x="17611" y="19062"/>
                  <a:pt x="17711" y="19138"/>
                  <a:pt x="17750" y="19158"/>
                </a:cubicBezTo>
                <a:cubicBezTo>
                  <a:pt x="17789" y="19179"/>
                  <a:pt x="17822" y="19206"/>
                  <a:pt x="17822" y="19218"/>
                </a:cubicBezTo>
                <a:cubicBezTo>
                  <a:pt x="17823" y="19230"/>
                  <a:pt x="17880" y="19277"/>
                  <a:pt x="17950" y="19323"/>
                </a:cubicBezTo>
                <a:cubicBezTo>
                  <a:pt x="18104" y="19424"/>
                  <a:pt x="18257" y="19536"/>
                  <a:pt x="18360" y="19622"/>
                </a:cubicBezTo>
                <a:cubicBezTo>
                  <a:pt x="18403" y="19658"/>
                  <a:pt x="18490" y="19719"/>
                  <a:pt x="18554" y="19759"/>
                </a:cubicBezTo>
                <a:cubicBezTo>
                  <a:pt x="18618" y="19799"/>
                  <a:pt x="18670" y="19844"/>
                  <a:pt x="18670" y="19858"/>
                </a:cubicBezTo>
                <a:cubicBezTo>
                  <a:pt x="18670" y="19873"/>
                  <a:pt x="18682" y="19885"/>
                  <a:pt x="18697" y="19885"/>
                </a:cubicBezTo>
                <a:cubicBezTo>
                  <a:pt x="18712" y="19885"/>
                  <a:pt x="18749" y="19910"/>
                  <a:pt x="18779" y="19940"/>
                </a:cubicBezTo>
                <a:cubicBezTo>
                  <a:pt x="18810" y="19970"/>
                  <a:pt x="18863" y="20013"/>
                  <a:pt x="18898" y="20034"/>
                </a:cubicBezTo>
                <a:cubicBezTo>
                  <a:pt x="18932" y="20056"/>
                  <a:pt x="18998" y="20105"/>
                  <a:pt x="19044" y="20144"/>
                </a:cubicBezTo>
                <a:cubicBezTo>
                  <a:pt x="19090" y="20182"/>
                  <a:pt x="19160" y="20231"/>
                  <a:pt x="19199" y="20253"/>
                </a:cubicBezTo>
                <a:cubicBezTo>
                  <a:pt x="19239" y="20275"/>
                  <a:pt x="19291" y="20315"/>
                  <a:pt x="19315" y="20341"/>
                </a:cubicBezTo>
                <a:cubicBezTo>
                  <a:pt x="19339" y="20368"/>
                  <a:pt x="19414" y="20425"/>
                  <a:pt x="19481" y="20467"/>
                </a:cubicBezTo>
                <a:cubicBezTo>
                  <a:pt x="19549" y="20510"/>
                  <a:pt x="19619" y="20560"/>
                  <a:pt x="19638" y="20579"/>
                </a:cubicBezTo>
                <a:cubicBezTo>
                  <a:pt x="19696" y="20637"/>
                  <a:pt x="19974" y="20847"/>
                  <a:pt x="20048" y="20889"/>
                </a:cubicBezTo>
                <a:cubicBezTo>
                  <a:pt x="20087" y="20911"/>
                  <a:pt x="20162" y="20967"/>
                  <a:pt x="20214" y="21013"/>
                </a:cubicBezTo>
                <a:cubicBezTo>
                  <a:pt x="20266" y="21059"/>
                  <a:pt x="20321" y="21097"/>
                  <a:pt x="20336" y="21097"/>
                </a:cubicBezTo>
                <a:cubicBezTo>
                  <a:pt x="20351" y="21097"/>
                  <a:pt x="20372" y="21113"/>
                  <a:pt x="20382" y="21132"/>
                </a:cubicBezTo>
                <a:cubicBezTo>
                  <a:pt x="20393" y="21151"/>
                  <a:pt x="20477" y="21216"/>
                  <a:pt x="20570" y="21276"/>
                </a:cubicBezTo>
                <a:cubicBezTo>
                  <a:pt x="20663" y="21336"/>
                  <a:pt x="20739" y="21393"/>
                  <a:pt x="20740" y="21402"/>
                </a:cubicBezTo>
                <a:cubicBezTo>
                  <a:pt x="20741" y="21411"/>
                  <a:pt x="20760" y="21430"/>
                  <a:pt x="20784" y="21443"/>
                </a:cubicBezTo>
                <a:cubicBezTo>
                  <a:pt x="20807" y="21457"/>
                  <a:pt x="20857" y="21494"/>
                  <a:pt x="20894" y="21525"/>
                </a:cubicBezTo>
                <a:cubicBezTo>
                  <a:pt x="20915" y="21543"/>
                  <a:pt x="20953" y="21571"/>
                  <a:pt x="20994" y="21600"/>
                </a:cubicBezTo>
                <a:lnTo>
                  <a:pt x="17687" y="21600"/>
                </a:lnTo>
                <a:cubicBezTo>
                  <a:pt x="17666" y="21582"/>
                  <a:pt x="17652" y="21567"/>
                  <a:pt x="17652" y="21561"/>
                </a:cubicBezTo>
                <a:cubicBezTo>
                  <a:pt x="17652" y="21548"/>
                  <a:pt x="17640" y="21535"/>
                  <a:pt x="17626" y="21531"/>
                </a:cubicBezTo>
                <a:cubicBezTo>
                  <a:pt x="17599" y="21524"/>
                  <a:pt x="17475" y="21436"/>
                  <a:pt x="17363" y="21345"/>
                </a:cubicBezTo>
                <a:cubicBezTo>
                  <a:pt x="17326" y="21315"/>
                  <a:pt x="17276" y="21278"/>
                  <a:pt x="17253" y="21264"/>
                </a:cubicBezTo>
                <a:cubicBezTo>
                  <a:pt x="17230" y="21251"/>
                  <a:pt x="17210" y="21233"/>
                  <a:pt x="17210" y="21226"/>
                </a:cubicBezTo>
                <a:cubicBezTo>
                  <a:pt x="17210" y="21218"/>
                  <a:pt x="17168" y="21183"/>
                  <a:pt x="17117" y="21148"/>
                </a:cubicBezTo>
                <a:cubicBezTo>
                  <a:pt x="16951" y="21033"/>
                  <a:pt x="16911" y="21002"/>
                  <a:pt x="16869" y="20955"/>
                </a:cubicBezTo>
                <a:cubicBezTo>
                  <a:pt x="16846" y="20930"/>
                  <a:pt x="16783" y="20877"/>
                  <a:pt x="16729" y="20839"/>
                </a:cubicBezTo>
                <a:cubicBezTo>
                  <a:pt x="16586" y="20738"/>
                  <a:pt x="16579" y="20732"/>
                  <a:pt x="16531" y="20680"/>
                </a:cubicBezTo>
                <a:cubicBezTo>
                  <a:pt x="16508" y="20654"/>
                  <a:pt x="16438" y="20601"/>
                  <a:pt x="16377" y="20562"/>
                </a:cubicBezTo>
                <a:cubicBezTo>
                  <a:pt x="16316" y="20523"/>
                  <a:pt x="16208" y="20442"/>
                  <a:pt x="16139" y="20382"/>
                </a:cubicBezTo>
                <a:cubicBezTo>
                  <a:pt x="16069" y="20322"/>
                  <a:pt x="15968" y="20242"/>
                  <a:pt x="15914" y="20203"/>
                </a:cubicBezTo>
                <a:cubicBezTo>
                  <a:pt x="15761" y="20094"/>
                  <a:pt x="15751" y="20086"/>
                  <a:pt x="15751" y="20075"/>
                </a:cubicBezTo>
                <a:cubicBezTo>
                  <a:pt x="15751" y="20064"/>
                  <a:pt x="15679" y="20011"/>
                  <a:pt x="15556" y="19930"/>
                </a:cubicBezTo>
                <a:cubicBezTo>
                  <a:pt x="15515" y="19903"/>
                  <a:pt x="15472" y="19864"/>
                  <a:pt x="15461" y="19843"/>
                </a:cubicBezTo>
                <a:cubicBezTo>
                  <a:pt x="15450" y="19823"/>
                  <a:pt x="15427" y="19806"/>
                  <a:pt x="15411" y="19806"/>
                </a:cubicBezTo>
                <a:cubicBezTo>
                  <a:pt x="15395" y="19806"/>
                  <a:pt x="15373" y="19790"/>
                  <a:pt x="15363" y="19771"/>
                </a:cubicBezTo>
                <a:cubicBezTo>
                  <a:pt x="15352" y="19752"/>
                  <a:pt x="15309" y="19714"/>
                  <a:pt x="15266" y="19687"/>
                </a:cubicBezTo>
                <a:cubicBezTo>
                  <a:pt x="15167" y="19623"/>
                  <a:pt x="14664" y="19231"/>
                  <a:pt x="14664" y="19218"/>
                </a:cubicBezTo>
                <a:cubicBezTo>
                  <a:pt x="14664" y="19212"/>
                  <a:pt x="14611" y="19174"/>
                  <a:pt x="14546" y="19134"/>
                </a:cubicBezTo>
                <a:cubicBezTo>
                  <a:pt x="14481" y="19094"/>
                  <a:pt x="14427" y="19051"/>
                  <a:pt x="14427" y="19039"/>
                </a:cubicBezTo>
                <a:cubicBezTo>
                  <a:pt x="14427" y="19027"/>
                  <a:pt x="14396" y="19001"/>
                  <a:pt x="14359" y="18981"/>
                </a:cubicBezTo>
                <a:cubicBezTo>
                  <a:pt x="14321" y="18962"/>
                  <a:pt x="14291" y="18934"/>
                  <a:pt x="14291" y="18920"/>
                </a:cubicBezTo>
                <a:cubicBezTo>
                  <a:pt x="14291" y="18907"/>
                  <a:pt x="14278" y="18892"/>
                  <a:pt x="14262" y="18889"/>
                </a:cubicBezTo>
                <a:cubicBezTo>
                  <a:pt x="14246" y="18885"/>
                  <a:pt x="14147" y="18815"/>
                  <a:pt x="14041" y="18733"/>
                </a:cubicBezTo>
                <a:cubicBezTo>
                  <a:pt x="13936" y="18651"/>
                  <a:pt x="13834" y="18573"/>
                  <a:pt x="13815" y="18560"/>
                </a:cubicBezTo>
                <a:cubicBezTo>
                  <a:pt x="13797" y="18547"/>
                  <a:pt x="13782" y="18527"/>
                  <a:pt x="13782" y="18517"/>
                </a:cubicBezTo>
                <a:cubicBezTo>
                  <a:pt x="13782" y="18506"/>
                  <a:pt x="13769" y="18495"/>
                  <a:pt x="13754" y="18491"/>
                </a:cubicBezTo>
                <a:cubicBezTo>
                  <a:pt x="13738" y="18488"/>
                  <a:pt x="13644" y="18413"/>
                  <a:pt x="13544" y="18326"/>
                </a:cubicBezTo>
                <a:cubicBezTo>
                  <a:pt x="13367" y="18171"/>
                  <a:pt x="13207" y="18045"/>
                  <a:pt x="13103" y="17978"/>
                </a:cubicBezTo>
                <a:cubicBezTo>
                  <a:pt x="13075" y="17960"/>
                  <a:pt x="12945" y="17857"/>
                  <a:pt x="12814" y="17750"/>
                </a:cubicBezTo>
                <a:cubicBezTo>
                  <a:pt x="12683" y="17643"/>
                  <a:pt x="12538" y="17532"/>
                  <a:pt x="12490" y="17503"/>
                </a:cubicBezTo>
                <a:cubicBezTo>
                  <a:pt x="12443" y="17475"/>
                  <a:pt x="12359" y="17416"/>
                  <a:pt x="12304" y="17372"/>
                </a:cubicBezTo>
                <a:cubicBezTo>
                  <a:pt x="12248" y="17328"/>
                  <a:pt x="12195" y="17288"/>
                  <a:pt x="12185" y="17283"/>
                </a:cubicBezTo>
                <a:cubicBezTo>
                  <a:pt x="12175" y="17277"/>
                  <a:pt x="12107" y="17219"/>
                  <a:pt x="12034" y="17154"/>
                </a:cubicBezTo>
                <a:cubicBezTo>
                  <a:pt x="11961" y="17089"/>
                  <a:pt x="11849" y="17002"/>
                  <a:pt x="11785" y="16960"/>
                </a:cubicBezTo>
                <a:lnTo>
                  <a:pt x="11669" y="16885"/>
                </a:lnTo>
                <a:lnTo>
                  <a:pt x="11286" y="16885"/>
                </a:lnTo>
                <a:cubicBezTo>
                  <a:pt x="10988" y="16885"/>
                  <a:pt x="10895" y="16892"/>
                  <a:pt x="10862" y="16915"/>
                </a:cubicBezTo>
                <a:cubicBezTo>
                  <a:pt x="10834" y="16934"/>
                  <a:pt x="10758" y="16945"/>
                  <a:pt x="10641" y="16945"/>
                </a:cubicBezTo>
                <a:cubicBezTo>
                  <a:pt x="10524" y="16945"/>
                  <a:pt x="10448" y="16955"/>
                  <a:pt x="10421" y="16975"/>
                </a:cubicBezTo>
                <a:cubicBezTo>
                  <a:pt x="10392" y="16995"/>
                  <a:pt x="10315" y="17004"/>
                  <a:pt x="10178" y="17004"/>
                </a:cubicBezTo>
                <a:cubicBezTo>
                  <a:pt x="10031" y="17004"/>
                  <a:pt x="9972" y="17012"/>
                  <a:pt x="9958" y="17034"/>
                </a:cubicBezTo>
                <a:cubicBezTo>
                  <a:pt x="9946" y="17051"/>
                  <a:pt x="9896" y="17064"/>
                  <a:pt x="9837" y="17064"/>
                </a:cubicBezTo>
                <a:cubicBezTo>
                  <a:pt x="9782" y="17064"/>
                  <a:pt x="9714" y="17077"/>
                  <a:pt x="9686" y="17094"/>
                </a:cubicBezTo>
                <a:cubicBezTo>
                  <a:pt x="9658" y="17110"/>
                  <a:pt x="9592" y="17124"/>
                  <a:pt x="9539" y="17124"/>
                </a:cubicBezTo>
                <a:cubicBezTo>
                  <a:pt x="9485" y="17124"/>
                  <a:pt x="9435" y="17137"/>
                  <a:pt x="9424" y="17153"/>
                </a:cubicBezTo>
                <a:cubicBezTo>
                  <a:pt x="9412" y="17172"/>
                  <a:pt x="9360" y="17183"/>
                  <a:pt x="9288" y="17183"/>
                </a:cubicBezTo>
                <a:cubicBezTo>
                  <a:pt x="9216" y="17183"/>
                  <a:pt x="9164" y="17194"/>
                  <a:pt x="9152" y="17213"/>
                </a:cubicBezTo>
                <a:cubicBezTo>
                  <a:pt x="9140" y="17232"/>
                  <a:pt x="9088" y="17243"/>
                  <a:pt x="9013" y="17243"/>
                </a:cubicBezTo>
                <a:cubicBezTo>
                  <a:pt x="8947" y="17243"/>
                  <a:pt x="8893" y="17252"/>
                  <a:pt x="8893" y="17263"/>
                </a:cubicBezTo>
                <a:cubicBezTo>
                  <a:pt x="8893" y="17274"/>
                  <a:pt x="8804" y="17283"/>
                  <a:pt x="8693" y="17283"/>
                </a:cubicBezTo>
                <a:cubicBezTo>
                  <a:pt x="8557" y="17283"/>
                  <a:pt x="8480" y="17292"/>
                  <a:pt x="8452" y="17312"/>
                </a:cubicBezTo>
                <a:cubicBezTo>
                  <a:pt x="8426" y="17331"/>
                  <a:pt x="8351" y="17342"/>
                  <a:pt x="8260" y="17342"/>
                </a:cubicBezTo>
                <a:cubicBezTo>
                  <a:pt x="8158" y="17342"/>
                  <a:pt x="8104" y="17352"/>
                  <a:pt x="8090" y="17372"/>
                </a:cubicBezTo>
                <a:cubicBezTo>
                  <a:pt x="8077" y="17392"/>
                  <a:pt x="8023" y="17402"/>
                  <a:pt x="7930" y="17402"/>
                </a:cubicBezTo>
                <a:cubicBezTo>
                  <a:pt x="7853" y="17403"/>
                  <a:pt x="7760" y="17416"/>
                  <a:pt x="7724" y="17432"/>
                </a:cubicBezTo>
                <a:cubicBezTo>
                  <a:pt x="7627" y="17475"/>
                  <a:pt x="6747" y="17474"/>
                  <a:pt x="6686" y="17432"/>
                </a:cubicBezTo>
                <a:cubicBezTo>
                  <a:pt x="6663" y="17415"/>
                  <a:pt x="6609" y="17402"/>
                  <a:pt x="6567" y="17402"/>
                </a:cubicBezTo>
                <a:cubicBezTo>
                  <a:pt x="6524" y="17402"/>
                  <a:pt x="6481" y="17388"/>
                  <a:pt x="6470" y="17372"/>
                </a:cubicBezTo>
                <a:cubicBezTo>
                  <a:pt x="6459" y="17356"/>
                  <a:pt x="6435" y="17342"/>
                  <a:pt x="6415" y="17342"/>
                </a:cubicBezTo>
                <a:cubicBezTo>
                  <a:pt x="6335" y="17342"/>
                  <a:pt x="6133" y="17188"/>
                  <a:pt x="6006" y="17031"/>
                </a:cubicBezTo>
                <a:cubicBezTo>
                  <a:pt x="5932" y="16938"/>
                  <a:pt x="5871" y="16859"/>
                  <a:pt x="5871" y="16855"/>
                </a:cubicBezTo>
                <a:cubicBezTo>
                  <a:pt x="5871" y="16850"/>
                  <a:pt x="5808" y="16768"/>
                  <a:pt x="5732" y="16672"/>
                </a:cubicBezTo>
                <a:cubicBezTo>
                  <a:pt x="5452" y="16323"/>
                  <a:pt x="5424" y="16283"/>
                  <a:pt x="5364" y="16133"/>
                </a:cubicBezTo>
                <a:cubicBezTo>
                  <a:pt x="5330" y="16050"/>
                  <a:pt x="5284" y="15910"/>
                  <a:pt x="5261" y="15822"/>
                </a:cubicBezTo>
                <a:cubicBezTo>
                  <a:pt x="5180" y="15509"/>
                  <a:pt x="5044" y="15206"/>
                  <a:pt x="4855" y="14918"/>
                </a:cubicBezTo>
                <a:cubicBezTo>
                  <a:pt x="4801" y="14836"/>
                  <a:pt x="4716" y="14702"/>
                  <a:pt x="4665" y="14620"/>
                </a:cubicBezTo>
                <a:cubicBezTo>
                  <a:pt x="4615" y="14538"/>
                  <a:pt x="4514" y="14389"/>
                  <a:pt x="4442" y="14289"/>
                </a:cubicBezTo>
                <a:cubicBezTo>
                  <a:pt x="4369" y="14189"/>
                  <a:pt x="4309" y="14095"/>
                  <a:pt x="4309" y="14080"/>
                </a:cubicBezTo>
                <a:cubicBezTo>
                  <a:pt x="4309" y="14066"/>
                  <a:pt x="4248" y="13974"/>
                  <a:pt x="4173" y="13876"/>
                </a:cubicBezTo>
                <a:cubicBezTo>
                  <a:pt x="4099" y="13778"/>
                  <a:pt x="4038" y="13685"/>
                  <a:pt x="4038" y="13669"/>
                </a:cubicBezTo>
                <a:cubicBezTo>
                  <a:pt x="4038" y="13654"/>
                  <a:pt x="3977" y="13565"/>
                  <a:pt x="3902" y="13472"/>
                </a:cubicBezTo>
                <a:cubicBezTo>
                  <a:pt x="3827" y="13380"/>
                  <a:pt x="3757" y="13280"/>
                  <a:pt x="3746" y="13252"/>
                </a:cubicBezTo>
                <a:cubicBezTo>
                  <a:pt x="3735" y="13223"/>
                  <a:pt x="3674" y="13127"/>
                  <a:pt x="3610" y="13038"/>
                </a:cubicBezTo>
                <a:cubicBezTo>
                  <a:pt x="3547" y="12950"/>
                  <a:pt x="3495" y="12867"/>
                  <a:pt x="3495" y="12855"/>
                </a:cubicBezTo>
                <a:cubicBezTo>
                  <a:pt x="3495" y="12843"/>
                  <a:pt x="3459" y="12786"/>
                  <a:pt x="3415" y="12728"/>
                </a:cubicBezTo>
                <a:cubicBezTo>
                  <a:pt x="3299" y="12576"/>
                  <a:pt x="3240" y="12299"/>
                  <a:pt x="3290" y="12140"/>
                </a:cubicBezTo>
                <a:cubicBezTo>
                  <a:pt x="3339" y="11982"/>
                  <a:pt x="3384" y="11924"/>
                  <a:pt x="3465" y="11911"/>
                </a:cubicBezTo>
                <a:cubicBezTo>
                  <a:pt x="3521" y="11903"/>
                  <a:pt x="3529" y="11881"/>
                  <a:pt x="3529" y="11729"/>
                </a:cubicBezTo>
                <a:cubicBezTo>
                  <a:pt x="3529" y="11573"/>
                  <a:pt x="3524" y="11560"/>
                  <a:pt x="3476" y="11588"/>
                </a:cubicBezTo>
                <a:cubicBezTo>
                  <a:pt x="3442" y="11608"/>
                  <a:pt x="3362" y="11620"/>
                  <a:pt x="3259" y="11620"/>
                </a:cubicBezTo>
                <a:cubicBezTo>
                  <a:pt x="3155" y="11620"/>
                  <a:pt x="3080" y="11631"/>
                  <a:pt x="3054" y="11649"/>
                </a:cubicBezTo>
                <a:cubicBezTo>
                  <a:pt x="2992" y="11693"/>
                  <a:pt x="2300" y="11693"/>
                  <a:pt x="2239" y="11649"/>
                </a:cubicBezTo>
                <a:cubicBezTo>
                  <a:pt x="2216" y="11633"/>
                  <a:pt x="2177" y="11620"/>
                  <a:pt x="2153" y="11620"/>
                </a:cubicBezTo>
                <a:cubicBezTo>
                  <a:pt x="2095" y="11620"/>
                  <a:pt x="1900" y="11508"/>
                  <a:pt x="1807" y="11421"/>
                </a:cubicBezTo>
                <a:cubicBezTo>
                  <a:pt x="1615" y="11243"/>
                  <a:pt x="1500" y="11087"/>
                  <a:pt x="1356" y="10815"/>
                </a:cubicBezTo>
                <a:cubicBezTo>
                  <a:pt x="1339" y="10782"/>
                  <a:pt x="1285" y="10688"/>
                  <a:pt x="1237" y="10606"/>
                </a:cubicBezTo>
                <a:cubicBezTo>
                  <a:pt x="1126" y="10419"/>
                  <a:pt x="936" y="9896"/>
                  <a:pt x="901" y="9682"/>
                </a:cubicBezTo>
                <a:cubicBezTo>
                  <a:pt x="747" y="8744"/>
                  <a:pt x="680" y="8580"/>
                  <a:pt x="453" y="8580"/>
                </a:cubicBezTo>
                <a:cubicBezTo>
                  <a:pt x="410" y="8580"/>
                  <a:pt x="363" y="8568"/>
                  <a:pt x="348" y="8553"/>
                </a:cubicBezTo>
                <a:cubicBezTo>
                  <a:pt x="333" y="8539"/>
                  <a:pt x="294" y="8521"/>
                  <a:pt x="261" y="8514"/>
                </a:cubicBezTo>
                <a:cubicBezTo>
                  <a:pt x="129" y="8486"/>
                  <a:pt x="95" y="8294"/>
                  <a:pt x="186" y="8086"/>
                </a:cubicBezTo>
                <a:cubicBezTo>
                  <a:pt x="236" y="7972"/>
                  <a:pt x="235" y="7963"/>
                  <a:pt x="169" y="7891"/>
                </a:cubicBezTo>
                <a:cubicBezTo>
                  <a:pt x="129" y="7846"/>
                  <a:pt x="100" y="7778"/>
                  <a:pt x="100" y="7725"/>
                </a:cubicBezTo>
                <a:cubicBezTo>
                  <a:pt x="100" y="7675"/>
                  <a:pt x="77" y="7583"/>
                  <a:pt x="49" y="7520"/>
                </a:cubicBezTo>
                <a:cubicBezTo>
                  <a:pt x="-17" y="7371"/>
                  <a:pt x="-16" y="7141"/>
                  <a:pt x="51" y="7025"/>
                </a:cubicBezTo>
                <a:cubicBezTo>
                  <a:pt x="100" y="6941"/>
                  <a:pt x="269" y="6811"/>
                  <a:pt x="329" y="6811"/>
                </a:cubicBezTo>
                <a:cubicBezTo>
                  <a:pt x="343" y="6811"/>
                  <a:pt x="393" y="6778"/>
                  <a:pt x="440" y="6737"/>
                </a:cubicBezTo>
                <a:cubicBezTo>
                  <a:pt x="545" y="6646"/>
                  <a:pt x="615" y="6603"/>
                  <a:pt x="688" y="6587"/>
                </a:cubicBezTo>
                <a:cubicBezTo>
                  <a:pt x="719" y="6580"/>
                  <a:pt x="745" y="6565"/>
                  <a:pt x="745" y="6554"/>
                </a:cubicBezTo>
                <a:cubicBezTo>
                  <a:pt x="745" y="6542"/>
                  <a:pt x="765" y="6533"/>
                  <a:pt x="788" y="6533"/>
                </a:cubicBezTo>
                <a:cubicBezTo>
                  <a:pt x="834" y="6533"/>
                  <a:pt x="915" y="6484"/>
                  <a:pt x="1032" y="6385"/>
                </a:cubicBezTo>
                <a:cubicBezTo>
                  <a:pt x="1143" y="6289"/>
                  <a:pt x="1232" y="6235"/>
                  <a:pt x="1275" y="6235"/>
                </a:cubicBezTo>
                <a:cubicBezTo>
                  <a:pt x="1297" y="6235"/>
                  <a:pt x="1324" y="6222"/>
                  <a:pt x="1334" y="6205"/>
                </a:cubicBezTo>
                <a:cubicBezTo>
                  <a:pt x="1345" y="6189"/>
                  <a:pt x="1374" y="6175"/>
                  <a:pt x="1399" y="6175"/>
                </a:cubicBezTo>
                <a:cubicBezTo>
                  <a:pt x="1423" y="6175"/>
                  <a:pt x="1468" y="6151"/>
                  <a:pt x="1499" y="6121"/>
                </a:cubicBezTo>
                <a:cubicBezTo>
                  <a:pt x="1590" y="6030"/>
                  <a:pt x="1711" y="5957"/>
                  <a:pt x="1769" y="5957"/>
                </a:cubicBezTo>
                <a:cubicBezTo>
                  <a:pt x="1799" y="5957"/>
                  <a:pt x="1842" y="5943"/>
                  <a:pt x="1865" y="5927"/>
                </a:cubicBezTo>
                <a:cubicBezTo>
                  <a:pt x="1889" y="5911"/>
                  <a:pt x="1958" y="5897"/>
                  <a:pt x="2021" y="5897"/>
                </a:cubicBezTo>
                <a:cubicBezTo>
                  <a:pt x="2203" y="5897"/>
                  <a:pt x="2293" y="5829"/>
                  <a:pt x="2445" y="5576"/>
                </a:cubicBezTo>
                <a:cubicBezTo>
                  <a:pt x="2520" y="5452"/>
                  <a:pt x="2618" y="5295"/>
                  <a:pt x="2664" y="5226"/>
                </a:cubicBezTo>
                <a:cubicBezTo>
                  <a:pt x="2710" y="5158"/>
                  <a:pt x="2748" y="5091"/>
                  <a:pt x="2748" y="5079"/>
                </a:cubicBezTo>
                <a:cubicBezTo>
                  <a:pt x="2748" y="5066"/>
                  <a:pt x="2777" y="5019"/>
                  <a:pt x="2813" y="4975"/>
                </a:cubicBezTo>
                <a:cubicBezTo>
                  <a:pt x="2876" y="4896"/>
                  <a:pt x="2974" y="4742"/>
                  <a:pt x="3141" y="4460"/>
                </a:cubicBezTo>
                <a:cubicBezTo>
                  <a:pt x="3185" y="4385"/>
                  <a:pt x="3234" y="4313"/>
                  <a:pt x="3250" y="4301"/>
                </a:cubicBezTo>
                <a:cubicBezTo>
                  <a:pt x="3267" y="4288"/>
                  <a:pt x="3321" y="4208"/>
                  <a:pt x="3372" y="4123"/>
                </a:cubicBezTo>
                <a:cubicBezTo>
                  <a:pt x="3423" y="4038"/>
                  <a:pt x="3525" y="3893"/>
                  <a:pt x="3598" y="3801"/>
                </a:cubicBezTo>
                <a:cubicBezTo>
                  <a:pt x="3672" y="3710"/>
                  <a:pt x="3733" y="3621"/>
                  <a:pt x="3733" y="3604"/>
                </a:cubicBezTo>
                <a:cubicBezTo>
                  <a:pt x="3733" y="3587"/>
                  <a:pt x="3769" y="3526"/>
                  <a:pt x="3814" y="3469"/>
                </a:cubicBezTo>
                <a:cubicBezTo>
                  <a:pt x="3858" y="3411"/>
                  <a:pt x="3928" y="3319"/>
                  <a:pt x="3970" y="3265"/>
                </a:cubicBezTo>
                <a:cubicBezTo>
                  <a:pt x="4011" y="3210"/>
                  <a:pt x="4066" y="3139"/>
                  <a:pt x="4092" y="3107"/>
                </a:cubicBezTo>
                <a:cubicBezTo>
                  <a:pt x="4119" y="3076"/>
                  <a:pt x="4140" y="3035"/>
                  <a:pt x="4140" y="3016"/>
                </a:cubicBezTo>
                <a:cubicBezTo>
                  <a:pt x="4140" y="2985"/>
                  <a:pt x="4217" y="2880"/>
                  <a:pt x="4538" y="2480"/>
                </a:cubicBezTo>
                <a:cubicBezTo>
                  <a:pt x="4603" y="2398"/>
                  <a:pt x="4718" y="2250"/>
                  <a:pt x="4794" y="2152"/>
                </a:cubicBezTo>
                <a:cubicBezTo>
                  <a:pt x="4869" y="2053"/>
                  <a:pt x="4967" y="1942"/>
                  <a:pt x="5011" y="1904"/>
                </a:cubicBezTo>
                <a:cubicBezTo>
                  <a:pt x="5055" y="1866"/>
                  <a:pt x="5091" y="1828"/>
                  <a:pt x="5091" y="1819"/>
                </a:cubicBezTo>
                <a:cubicBezTo>
                  <a:pt x="5091" y="1811"/>
                  <a:pt x="5022" y="1804"/>
                  <a:pt x="4939" y="1804"/>
                </a:cubicBezTo>
                <a:cubicBezTo>
                  <a:pt x="4824" y="1804"/>
                  <a:pt x="4779" y="1795"/>
                  <a:pt x="4752" y="1766"/>
                </a:cubicBezTo>
                <a:cubicBezTo>
                  <a:pt x="4709" y="1718"/>
                  <a:pt x="4706" y="1584"/>
                  <a:pt x="4748" y="1522"/>
                </a:cubicBezTo>
                <a:cubicBezTo>
                  <a:pt x="4778" y="1477"/>
                  <a:pt x="5028" y="1307"/>
                  <a:pt x="5066" y="1307"/>
                </a:cubicBezTo>
                <a:cubicBezTo>
                  <a:pt x="5101" y="1307"/>
                  <a:pt x="5803" y="891"/>
                  <a:pt x="5803" y="870"/>
                </a:cubicBezTo>
                <a:cubicBezTo>
                  <a:pt x="5803" y="859"/>
                  <a:pt x="5822" y="850"/>
                  <a:pt x="5845" y="850"/>
                </a:cubicBezTo>
                <a:cubicBezTo>
                  <a:pt x="5868" y="850"/>
                  <a:pt x="5972" y="799"/>
                  <a:pt x="6077" y="736"/>
                </a:cubicBezTo>
                <a:cubicBezTo>
                  <a:pt x="6304" y="601"/>
                  <a:pt x="6791" y="334"/>
                  <a:pt x="6813" y="334"/>
                </a:cubicBezTo>
                <a:cubicBezTo>
                  <a:pt x="6821" y="334"/>
                  <a:pt x="6899" y="291"/>
                  <a:pt x="6986" y="239"/>
                </a:cubicBezTo>
                <a:cubicBezTo>
                  <a:pt x="7091" y="177"/>
                  <a:pt x="7270" y="78"/>
                  <a:pt x="7418" y="0"/>
                </a:cubicBezTo>
                <a:lnTo>
                  <a:pt x="9980" y="0"/>
                </a:lnTo>
                <a:cubicBezTo>
                  <a:pt x="9879" y="57"/>
                  <a:pt x="9756" y="128"/>
                  <a:pt x="9624" y="205"/>
                </a:cubicBezTo>
                <a:close/>
              </a:path>
            </a:pathLst>
          </a:custGeom>
          <a:ln w="12700">
            <a:miter lim="400000"/>
          </a:ln>
        </p:spPr>
      </p:pic>
      <p:sp>
        <p:nvSpPr>
          <p:cNvPr id="3" name="Rounded Rectangle">
            <a:extLst>
              <a:ext uri="{FF2B5EF4-FFF2-40B4-BE49-F238E27FC236}">
                <a16:creationId xmlns:a16="http://schemas.microsoft.com/office/drawing/2014/main" id="{CA1845AE-AAAE-A252-EEA3-43DEE1AD42BB}"/>
              </a:ext>
            </a:extLst>
          </p:cNvPr>
          <p:cNvSpPr/>
          <p:nvPr/>
        </p:nvSpPr>
        <p:spPr>
          <a:xfrm>
            <a:off x="-517917" y="2194110"/>
            <a:ext cx="9382040" cy="1317174"/>
          </a:xfrm>
          <a:prstGeom prst="roundRect">
            <a:avLst>
              <a:gd name="adj" fmla="val 15000"/>
            </a:avLst>
          </a:prstGeom>
          <a:solidFill>
            <a:schemeClr val="bg1">
              <a:lumMod val="95000"/>
            </a:schemeClr>
          </a:solidFill>
          <a:ln w="19050">
            <a:noFill/>
            <a:miter/>
          </a:ln>
        </p:spPr>
        <p:txBody>
          <a:bodyPr lIns="68579" rIns="68579"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800" b="0">
                <a:solidFill>
                  <a:srgbClr val="FFFFFF"/>
                </a:solidFill>
              </a:defRPr>
            </a:pPr>
            <a:endParaRPr sz="2700"/>
          </a:p>
        </p:txBody>
      </p:sp>
      <p:sp>
        <p:nvSpPr>
          <p:cNvPr id="22" name="Text 2"/>
          <p:cNvSpPr txBox="1"/>
          <p:nvPr/>
        </p:nvSpPr>
        <p:spPr>
          <a:xfrm>
            <a:off x="692658" y="2196129"/>
            <a:ext cx="3069363" cy="5539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sz="3600">
                <a:solidFill>
                  <a:schemeClr val="tx1">
                    <a:lumMod val="76000"/>
                    <a:lumOff val="24000"/>
                  </a:schemeClr>
                </a:solidFill>
              </a:rPr>
              <a:t>Design Goal</a:t>
            </a:r>
            <a:endParaRPr lang="en-US" sz="3600">
              <a:solidFill>
                <a:schemeClr val="tx1">
                  <a:lumMod val="76000"/>
                  <a:lumOff val="24000"/>
                </a:schemeClr>
              </a:solidFill>
            </a:endParaRPr>
          </a:p>
        </p:txBody>
      </p:sp>
      <p:sp>
        <p:nvSpPr>
          <p:cNvPr id="23" name="Text 3"/>
          <p:cNvSpPr txBox="1"/>
          <p:nvPr/>
        </p:nvSpPr>
        <p:spPr>
          <a:xfrm>
            <a:off x="681773" y="2826224"/>
            <a:ext cx="8276595" cy="55399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defRPr sz="1400" b="1">
                <a:solidFill>
                  <a:srgbClr val="545B66"/>
                </a:solidFill>
                <a:latin typeface="Arial"/>
                <a:ea typeface="Arial"/>
                <a:cs typeface="Arial"/>
                <a:sym typeface="Arial"/>
              </a:defRPr>
            </a:pPr>
            <a:r>
              <a:rPr sz="1800">
                <a:solidFill>
                  <a:schemeClr val="tx1">
                    <a:lumMod val="65000"/>
                    <a:lumOff val="35000"/>
                  </a:schemeClr>
                </a:solidFill>
              </a:rPr>
              <a:t>Optimized sensor performance and system layout for accuracy, reliability, and maintainability.</a:t>
            </a:r>
            <a:endParaRPr lang="en-US" sz="1800">
              <a:solidFill>
                <a:schemeClr val="tx1">
                  <a:lumMod val="65000"/>
                  <a:lumOff val="35000"/>
                </a:schemeClr>
              </a:solidFill>
            </a:endParaRPr>
          </a:p>
        </p:txBody>
      </p:sp>
      <p:sp>
        <p:nvSpPr>
          <p:cNvPr id="4" name="Freeform 9">
            <a:extLst>
              <a:ext uri="{FF2B5EF4-FFF2-40B4-BE49-F238E27FC236}">
                <a16:creationId xmlns:a16="http://schemas.microsoft.com/office/drawing/2014/main" id="{616BEA61-55AF-3521-9A64-F775DB8E554A}"/>
              </a:ext>
            </a:extLst>
          </p:cNvPr>
          <p:cNvSpPr/>
          <p:nvPr/>
        </p:nvSpPr>
        <p:spPr>
          <a:xfrm>
            <a:off x="9694915" y="-7739455"/>
            <a:ext cx="15054147" cy="12128771"/>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3">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6" name="Freeform 9">
            <a:extLst>
              <a:ext uri="{FF2B5EF4-FFF2-40B4-BE49-F238E27FC236}">
                <a16:creationId xmlns:a16="http://schemas.microsoft.com/office/drawing/2014/main" id="{B2DA4AEA-34AC-8063-5B32-2E8162F79D05}"/>
              </a:ext>
            </a:extLst>
          </p:cNvPr>
          <p:cNvSpPr/>
          <p:nvPr/>
        </p:nvSpPr>
        <p:spPr>
          <a:xfrm>
            <a:off x="-7341229" y="6607917"/>
            <a:ext cx="15054147" cy="12128771"/>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3">
              <a:alphaModFix amt="67000"/>
            </a:blip>
            <a:stretch>
              <a:fillRect/>
            </a:stretch>
          </a:blipFill>
        </p:spPr>
        <p:txBody>
          <a:bodyP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2" name="Shape 7">
            <a:extLst>
              <a:ext uri="{FF2B5EF4-FFF2-40B4-BE49-F238E27FC236}">
                <a16:creationId xmlns:a16="http://schemas.microsoft.com/office/drawing/2014/main" id="{B951618F-8975-7EA0-39FD-95F77101E53E}"/>
              </a:ext>
            </a:extLst>
          </p:cNvPr>
          <p:cNvSpPr/>
          <p:nvPr/>
        </p:nvSpPr>
        <p:spPr>
          <a:xfrm>
            <a:off x="12496374" y="7127087"/>
            <a:ext cx="116151" cy="1488296"/>
          </a:xfrm>
          <a:prstGeom prst="rect">
            <a:avLst/>
          </a:prstGeom>
          <a:solidFill>
            <a:srgbClr val="7030A0"/>
          </a:solidFill>
          <a:ln w="12700">
            <a:miter lim="400000"/>
          </a:ln>
        </p:spPr>
        <p:txBody>
          <a:bodyPr lIns="68579" rIns="68579"/>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sz="4050"/>
          </a:p>
        </p:txBody>
      </p:sp>
      <p:sp>
        <p:nvSpPr>
          <p:cNvPr id="5" name="Text 9">
            <a:extLst>
              <a:ext uri="{FF2B5EF4-FFF2-40B4-BE49-F238E27FC236}">
                <a16:creationId xmlns:a16="http://schemas.microsoft.com/office/drawing/2014/main" id="{986D9F72-0058-E14B-C5F3-317475090016}"/>
              </a:ext>
            </a:extLst>
          </p:cNvPr>
          <p:cNvSpPr txBox="1"/>
          <p:nvPr/>
        </p:nvSpPr>
        <p:spPr>
          <a:xfrm>
            <a:off x="802795" y="4794047"/>
            <a:ext cx="4482301" cy="939937"/>
          </a:xfrm>
          <a:prstGeom prst="rect">
            <a:avLst/>
          </a:prstGeom>
          <a:ln w="12700">
            <a:miter lim="400000"/>
          </a:ln>
          <a:extLst>
            <a:ext uri="{C572A759-6A51-4108-AA02-DFA0A04FC94B}">
              <ma14:wrappingTextBoxFlag xmlns="" xmlns:lc="http://schemas.openxmlformats.org/drawingml/2006/lockedCanva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914400" rtl="0" eaLnBrk="1" latinLnBrk="0" hangingPunct="1">
              <a:lnSpc>
                <a:spcPct val="115000"/>
              </a:lnSpc>
              <a:defRPr sz="1400" kern="1200">
                <a:solidFill>
                  <a:srgbClr val="545B66"/>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sz="1800">
                <a:latin typeface="Aptos"/>
              </a:rPr>
              <a:t>Narrow sensor spacing enables accurate line-edge detection and rapid path correction.</a:t>
            </a:r>
            <a:endParaRPr lang="en-US" sz="1800">
              <a:latin typeface="Aptos"/>
            </a:endParaRPr>
          </a:p>
        </p:txBody>
      </p:sp>
      <p:pic>
        <p:nvPicPr>
          <p:cNvPr id="8" name="Picture 7" descr="A purple and blue cross&#10;&#10;AI-generated content may be incorrect.">
            <a:extLst>
              <a:ext uri="{FF2B5EF4-FFF2-40B4-BE49-F238E27FC236}">
                <a16:creationId xmlns:a16="http://schemas.microsoft.com/office/drawing/2014/main" id="{D7E6EC5D-B793-42F9-B7D6-7B47DB29AAC6}"/>
              </a:ext>
            </a:extLst>
          </p:cNvPr>
          <p:cNvPicPr>
            <a:picLocks noChangeAspect="1"/>
          </p:cNvPicPr>
          <p:nvPr/>
        </p:nvPicPr>
        <p:blipFill>
          <a:blip r:embed="rId4"/>
          <a:srcRect t="-926" b="35617"/>
          <a:stretch>
            <a:fillRect/>
          </a:stretch>
        </p:blipFill>
        <p:spPr>
          <a:xfrm>
            <a:off x="522517" y="576944"/>
            <a:ext cx="1186544" cy="564762"/>
          </a:xfrm>
          <a:prstGeom prst="rect">
            <a:avLst/>
          </a:prstGeom>
        </p:spPr>
      </p:pic>
      <p:sp>
        <p:nvSpPr>
          <p:cNvPr id="10" name="SK-7-text-12">
            <a:extLst>
              <a:ext uri="{FF2B5EF4-FFF2-40B4-BE49-F238E27FC236}">
                <a16:creationId xmlns:a16="http://schemas.microsoft.com/office/drawing/2014/main" id="{91AF9492-CA2D-7544-9E58-00C65FBE360D}"/>
              </a:ext>
            </a:extLst>
          </p:cNvPr>
          <p:cNvSpPr/>
          <p:nvPr/>
        </p:nvSpPr>
        <p:spPr>
          <a:xfrm>
            <a:off x="1705430" y="775447"/>
            <a:ext cx="1905000" cy="164456"/>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12" name="SK-7-text-13">
            <a:extLst>
              <a:ext uri="{FF2B5EF4-FFF2-40B4-BE49-F238E27FC236}">
                <a16:creationId xmlns:a16="http://schemas.microsoft.com/office/drawing/2014/main" id="{4A936052-2C70-5421-1E72-01E305F621AF}"/>
              </a:ext>
            </a:extLst>
          </p:cNvPr>
          <p:cNvSpPr/>
          <p:nvPr/>
        </p:nvSpPr>
        <p:spPr>
          <a:xfrm>
            <a:off x="1705430" y="940051"/>
            <a:ext cx="2476500" cy="150764"/>
          </a:xfrm>
          <a:prstGeom prst="rect">
            <a:avLst/>
          </a:prstGeom>
          <a:noFill/>
          <a:ln/>
        </p:spPr>
        <p:txBody>
          <a:bodyPr vert="horz" wrap="none" lIns="0" tIns="0" rIns="0" bIns="0" rtlCol="0" anchor="ctr"/>
          <a:ls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13" name="Text 14">
            <a:extLst>
              <a:ext uri="{FF2B5EF4-FFF2-40B4-BE49-F238E27FC236}">
                <a16:creationId xmlns:a16="http://schemas.microsoft.com/office/drawing/2014/main" id="{5E5CE795-B5ED-FF3E-4563-DF80236FF58F}"/>
              </a:ext>
            </a:extLst>
          </p:cNvPr>
          <p:cNvSpPr txBox="1"/>
          <p:nvPr/>
        </p:nvSpPr>
        <p:spPr>
          <a:xfrm>
            <a:off x="12767173" y="7597197"/>
            <a:ext cx="4303051" cy="939937"/>
          </a:xfrm>
          <a:prstGeom prst="rect">
            <a:avLst/>
          </a:prstGeom>
          <a:ln w="12700">
            <a:miter lim="400000"/>
          </a:ln>
          <a:extLst>
            <a:ext uri="{C572A759-6A51-4108-AA02-DFA0A04FC94B}">
              <ma14:wrappingTextBoxFlag xmlns="" xmlns:lc="http://schemas.openxmlformats.org/drawingml/2006/lockedCanvas" xmlns:ma14="http://schemas.microsoft.com/office/mac/drawingml/2011/main" xmlns:a14="http://schemas.microsoft.com/office/drawing/2010/main" xmlns:m="http://schemas.openxmlformats.org/officeDocument/2006/math" val="1"/>
            </a:ext>
          </a:extLst>
        </p:spPr>
        <p:txBody>
          <a:bodyPr wrap="square" lIns="0" tIns="0" rIns="0" bIns="0" anchor="ctr">
            <a:spAutoFit/>
          </a:bodyPr>
          <a:lstStyle>
            <a:defPPr>
              <a:defRPr lang="en-US"/>
            </a:defPPr>
            <a:lvl1pPr marL="0" algn="l" defTabSz="914400" rtl="0" eaLnBrk="1" latinLnBrk="0" hangingPunct="1">
              <a:lnSpc>
                <a:spcPct val="115000"/>
              </a:lnSpc>
              <a:defRPr sz="1400" kern="1200">
                <a:solidFill>
                  <a:srgbClr val="545B66"/>
                </a:solidFill>
                <a:latin typeface="Arial"/>
                <a:ea typeface="Arial"/>
                <a:cs typeface="Arial"/>
                <a:sym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800">
                <a:solidFill>
                  <a:schemeClr val="tx1">
                    <a:lumMod val="76000"/>
                    <a:lumOff val="24000"/>
                  </a:schemeClr>
                </a:solidFill>
                <a:latin typeface="Aptos"/>
              </a:rPr>
              <a:t>Wider sensor spacing provides broader obstacle coverage while reducing echo interference.</a:t>
            </a:r>
            <a:endParaRPr lang="en-US" sz="1800">
              <a:solidFill>
                <a:schemeClr val="tx1">
                  <a:lumMod val="76000"/>
                  <a:lumOff val="24000"/>
                </a:schemeClr>
              </a:solidFill>
              <a:latin typeface="Aptos"/>
            </a:endParaRPr>
          </a:p>
        </p:txBody>
      </p:sp>
    </p:spTree>
    <p:extLst>
      <p:ext uri="{BB962C8B-B14F-4D97-AF65-F5344CB8AC3E}">
        <p14:creationId xmlns:p14="http://schemas.microsoft.com/office/powerpoint/2010/main" val="23300578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8">
            <a:extLst>
              <a:ext uri="{FF2B5EF4-FFF2-40B4-BE49-F238E27FC236}">
                <a16:creationId xmlns:a16="http://schemas.microsoft.com/office/drawing/2014/main" id="{C6233D0F-2499-3852-C586-2068C41F6401}"/>
              </a:ext>
            </a:extLst>
          </p:cNvPr>
          <p:cNvSpPr/>
          <p:nvPr/>
        </p:nvSpPr>
        <p:spPr>
          <a:xfrm rot="768394">
            <a:off x="12328336" y="-4886216"/>
            <a:ext cx="10471526" cy="822960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2">
              <a:alphaModFix amt="55000"/>
            </a:blip>
            <a:stretch>
              <a:fillRect/>
            </a:stretch>
          </a:blipFill>
        </p:spPr>
        <p:txBody>
          <a:bodyPr/>
          <a:lstStyle/>
          <a:p>
            <a:endParaRPr lang="en-US"/>
          </a:p>
        </p:txBody>
      </p:sp>
      <p:sp>
        <p:nvSpPr>
          <p:cNvPr id="7" name="Freeform 8">
            <a:extLst>
              <a:ext uri="{FF2B5EF4-FFF2-40B4-BE49-F238E27FC236}">
                <a16:creationId xmlns:a16="http://schemas.microsoft.com/office/drawing/2014/main" id="{B58DE582-2509-851D-19DD-E598F909F0D2}"/>
              </a:ext>
            </a:extLst>
          </p:cNvPr>
          <p:cNvSpPr/>
          <p:nvPr/>
        </p:nvSpPr>
        <p:spPr>
          <a:xfrm rot="4620000">
            <a:off x="-2695801" y="6715359"/>
            <a:ext cx="7456184" cy="8501743"/>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2">
              <a:alphaModFix amt="55000"/>
            </a:blip>
            <a:stretch>
              <a:fillRect/>
            </a:stretch>
          </a:blipFill>
        </p:spPr>
        <p:txBody>
          <a:bodyPr/>
          <a:lstStyle/>
          <a:p>
            <a:endParaRPr lang="en-US"/>
          </a:p>
        </p:txBody>
      </p:sp>
      <p:sp>
        <p:nvSpPr>
          <p:cNvPr id="15" name="TextBox 4">
            <a:extLst>
              <a:ext uri="{FF2B5EF4-FFF2-40B4-BE49-F238E27FC236}">
                <a16:creationId xmlns:a16="http://schemas.microsoft.com/office/drawing/2014/main" id="{0FD3B00E-4F11-4D26-44D1-447645E4D3A8}"/>
              </a:ext>
            </a:extLst>
          </p:cNvPr>
          <p:cNvSpPr txBox="1"/>
          <p:nvPr/>
        </p:nvSpPr>
        <p:spPr>
          <a:xfrm>
            <a:off x="723899" y="2099056"/>
            <a:ext cx="8897482" cy="495585"/>
          </a:xfrm>
          <a:prstGeom prst="rect">
            <a:avLst/>
          </a:prstGeom>
        </p:spPr>
        <p:txBody>
          <a:bodyPr wrap="square" lIns="0" tIns="0" rIns="0" bIns="0" rtlCol="0" anchor="t">
            <a:spAutoFit/>
          </a:bodyPr>
          <a:lstStyle/>
          <a:p>
            <a:pPr>
              <a:lnSpc>
                <a:spcPts val="3465"/>
              </a:lnSpc>
            </a:pPr>
            <a:r>
              <a:rPr lang="en-US" sz="4800" b="1">
                <a:solidFill>
                  <a:srgbClr val="000000"/>
                </a:solidFill>
                <a:latin typeface="Open Sans Bold"/>
                <a:ea typeface="Open Sans Bold"/>
                <a:cs typeface="Open Sans Bold"/>
                <a:sym typeface="Open Sans Bold"/>
              </a:rPr>
              <a:t>Simulation Results</a:t>
            </a:r>
            <a:endParaRPr lang="en-US" sz="4800" b="1">
              <a:latin typeface="Open Sans Bold"/>
              <a:ea typeface="Open Sans Bold"/>
              <a:cs typeface="Open Sans Bold"/>
            </a:endParaRPr>
          </a:p>
        </p:txBody>
      </p:sp>
      <p:pic>
        <p:nvPicPr>
          <p:cNvPr id="19" name="Picture 18" descr="A purple and blue cross&#10;&#10;AI-generated content may be incorrect.">
            <a:extLst>
              <a:ext uri="{FF2B5EF4-FFF2-40B4-BE49-F238E27FC236}">
                <a16:creationId xmlns:a16="http://schemas.microsoft.com/office/drawing/2014/main" id="{0B3A3812-5E77-3E00-B426-1668A2C06934}"/>
              </a:ext>
            </a:extLst>
          </p:cNvPr>
          <p:cNvPicPr>
            <a:picLocks noChangeAspect="1"/>
          </p:cNvPicPr>
          <p:nvPr/>
        </p:nvPicPr>
        <p:blipFill>
          <a:blip r:embed="rId3"/>
          <a:srcRect t="-926" b="35617"/>
          <a:stretch>
            <a:fillRect/>
          </a:stretch>
        </p:blipFill>
        <p:spPr>
          <a:xfrm>
            <a:off x="544286" y="544286"/>
            <a:ext cx="1186544" cy="564762"/>
          </a:xfrm>
          <a:prstGeom prst="rect">
            <a:avLst/>
          </a:prstGeom>
        </p:spPr>
      </p:pic>
      <p:sp>
        <p:nvSpPr>
          <p:cNvPr id="21" name="SK-7-text-12">
            <a:extLst>
              <a:ext uri="{FF2B5EF4-FFF2-40B4-BE49-F238E27FC236}">
                <a16:creationId xmlns:a16="http://schemas.microsoft.com/office/drawing/2014/main" id="{B99EE0B6-D8C0-36ED-7CC1-BD7C6F51B2A3}"/>
              </a:ext>
            </a:extLst>
          </p:cNvPr>
          <p:cNvSpPr/>
          <p:nvPr/>
        </p:nvSpPr>
        <p:spPr>
          <a:xfrm>
            <a:off x="1727200" y="742788"/>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23" name="SK-7-text-13">
            <a:extLst>
              <a:ext uri="{FF2B5EF4-FFF2-40B4-BE49-F238E27FC236}">
                <a16:creationId xmlns:a16="http://schemas.microsoft.com/office/drawing/2014/main" id="{B99EC01F-0CC5-D0A2-698D-881382233945}"/>
              </a:ext>
            </a:extLst>
          </p:cNvPr>
          <p:cNvSpPr/>
          <p:nvPr/>
        </p:nvSpPr>
        <p:spPr>
          <a:xfrm>
            <a:off x="1727200" y="907392"/>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25" name="TextBox 24">
            <a:extLst>
              <a:ext uri="{FF2B5EF4-FFF2-40B4-BE49-F238E27FC236}">
                <a16:creationId xmlns:a16="http://schemas.microsoft.com/office/drawing/2014/main" id="{16D86762-DEC3-5BEE-E144-16A27EA6DAF2}"/>
              </a:ext>
            </a:extLst>
          </p:cNvPr>
          <p:cNvSpPr txBox="1"/>
          <p:nvPr/>
        </p:nvSpPr>
        <p:spPr>
          <a:xfrm>
            <a:off x="1137558" y="3187914"/>
            <a:ext cx="7135618"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SzPct val="140000"/>
              <a:buFont typeface="Arial"/>
              <a:buChar char="•"/>
            </a:pPr>
            <a:r>
              <a:rPr lang="en-US" sz="3200">
                <a:ea typeface="+mn-lt"/>
                <a:cs typeface="+mn-lt"/>
              </a:rPr>
              <a:t>  </a:t>
            </a:r>
            <a:r>
              <a:rPr lang="en-US" sz="3200" err="1">
                <a:ea typeface="+mn-lt"/>
                <a:cs typeface="+mn-lt"/>
              </a:rPr>
              <a:t>Tinkercad</a:t>
            </a:r>
            <a:r>
              <a:rPr lang="en-US" sz="3200">
                <a:ea typeface="+mn-lt"/>
                <a:cs typeface="+mn-lt"/>
              </a:rPr>
              <a:t> prototype used to test the robot logic</a:t>
            </a:r>
          </a:p>
          <a:p>
            <a:pPr>
              <a:buSzPct val="140000"/>
            </a:pPr>
            <a:endParaRPr lang="en-US">
              <a:ea typeface="Calibri"/>
              <a:cs typeface="Calibri"/>
            </a:endParaRPr>
          </a:p>
          <a:p>
            <a:pPr>
              <a:buSzPct val="140000"/>
              <a:buFont typeface="Arial"/>
              <a:buChar char="•"/>
            </a:pPr>
            <a:r>
              <a:rPr lang="en-US" sz="3200">
                <a:ea typeface="+mn-lt"/>
                <a:cs typeface="+mn-lt"/>
              </a:rPr>
              <a:t>  Similar components to the real hardware setup</a:t>
            </a:r>
          </a:p>
          <a:p>
            <a:pPr>
              <a:buSzPct val="140000"/>
            </a:pPr>
            <a:endParaRPr lang="en-US">
              <a:ea typeface="Calibri"/>
              <a:cs typeface="Calibri"/>
            </a:endParaRPr>
          </a:p>
          <a:p>
            <a:pPr>
              <a:buSzPct val="140000"/>
              <a:buFont typeface="Arial"/>
              <a:buChar char="•"/>
            </a:pPr>
            <a:r>
              <a:rPr lang="en-US" sz="3200">
                <a:ea typeface="+mn-lt"/>
                <a:cs typeface="+mn-lt"/>
              </a:rPr>
              <a:t>  Some components were replaced due to simulation limits</a:t>
            </a:r>
          </a:p>
          <a:p>
            <a:pPr>
              <a:buSzPct val="140000"/>
            </a:pPr>
            <a:endParaRPr lang="en-US">
              <a:ea typeface="Calibri"/>
              <a:cs typeface="Calibri"/>
            </a:endParaRPr>
          </a:p>
          <a:p>
            <a:pPr>
              <a:buSzPct val="140000"/>
              <a:buFont typeface="Arial"/>
              <a:buChar char="•"/>
            </a:pPr>
            <a:r>
              <a:rPr lang="en-US" sz="3200">
                <a:ea typeface="+mn-lt"/>
                <a:cs typeface="+mn-lt"/>
              </a:rPr>
              <a:t>  Helped validate the logic before final</a:t>
            </a:r>
            <a:r>
              <a:rPr lang="en-US"/>
              <a:t> </a:t>
            </a:r>
            <a:r>
              <a:rPr lang="en-US" sz="3200">
                <a:ea typeface="+mn-lt"/>
                <a:cs typeface="+mn-lt"/>
              </a:rPr>
              <a:t>code and hardware testing</a:t>
            </a:r>
            <a:endParaRPr lang="en-US">
              <a:ea typeface="Calibri"/>
              <a:cs typeface="Calibri"/>
            </a:endParaRPr>
          </a:p>
        </p:txBody>
      </p:sp>
      <p:pic>
        <p:nvPicPr>
          <p:cNvPr id="3" name="Picture 2">
            <a:extLst>
              <a:ext uri="{FF2B5EF4-FFF2-40B4-BE49-F238E27FC236}">
                <a16:creationId xmlns:a16="http://schemas.microsoft.com/office/drawing/2014/main" id="{16EFBE49-559F-C173-5D6C-0C4CB5FD717F}"/>
              </a:ext>
            </a:extLst>
          </p:cNvPr>
          <p:cNvPicPr>
            <a:picLocks noChangeAspect="1"/>
          </p:cNvPicPr>
          <p:nvPr/>
        </p:nvPicPr>
        <p:blipFill rotWithShape="1">
          <a:blip r:embed="rId4">
            <a:extLst>
              <a:ext uri="{28A0092B-C50C-407E-A947-70E740481C1C}">
                <a14:useLocalDpi xmlns:a14="http://schemas.microsoft.com/office/drawing/2010/main" val="0"/>
              </a:ext>
            </a:extLst>
          </a:blip>
          <a:srcRect l="1939" t="-1806" r="4735" b="2185"/>
          <a:stretch>
            <a:fillRect/>
          </a:stretch>
        </p:blipFill>
        <p:spPr>
          <a:xfrm>
            <a:off x="10520907" y="825015"/>
            <a:ext cx="6564633" cy="4359380"/>
          </a:xfrm>
          <a:prstGeom prst="roundRect">
            <a:avLst>
              <a:gd name="adj" fmla="val 3081"/>
            </a:avLst>
          </a:prstGeom>
          <a:ln w="12700">
            <a:solidFill>
              <a:schemeClr val="accent4">
                <a:lumMod val="60000"/>
                <a:lumOff val="40000"/>
              </a:schemeClr>
            </a:solidFill>
          </a:ln>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69A4ED10-4FEC-7CE5-1BD2-1DA71305D34D}"/>
              </a:ext>
            </a:extLst>
          </p:cNvPr>
          <p:cNvPicPr>
            <a:picLocks noChangeAspect="1"/>
          </p:cNvPicPr>
          <p:nvPr/>
        </p:nvPicPr>
        <p:blipFill>
          <a:blip r:embed="rId5"/>
          <a:srcRect l="2442" t="3264" r="3617" b="10859"/>
          <a:stretch>
            <a:fillRect/>
          </a:stretch>
        </p:blipFill>
        <p:spPr>
          <a:xfrm>
            <a:off x="10520907" y="5425439"/>
            <a:ext cx="6629535" cy="4319297"/>
          </a:xfrm>
          <a:prstGeom prst="roundRect">
            <a:avLst>
              <a:gd name="adj" fmla="val 4758"/>
            </a:avLst>
          </a:prstGeom>
          <a:ln>
            <a:solidFill>
              <a:schemeClr val="accent4">
                <a:lumMod val="60000"/>
                <a:lumOff val="40000"/>
              </a:schemeClr>
            </a:solid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7CE14714-BD28-6B63-73A4-EBE2F847B0B7}"/>
              </a:ext>
            </a:extLst>
          </p:cNvPr>
          <p:cNvSpPr txBox="1"/>
          <p:nvPr/>
        </p:nvSpPr>
        <p:spPr>
          <a:xfrm>
            <a:off x="10652760" y="4728846"/>
            <a:ext cx="2076722" cy="369332"/>
          </a:xfrm>
          <a:prstGeom prst="rect">
            <a:avLst/>
          </a:prstGeom>
          <a:noFill/>
        </p:spPr>
        <p:txBody>
          <a:bodyPr wrap="none" rtlCol="0">
            <a:spAutoFit/>
          </a:bodyPr>
          <a:lstStyle/>
          <a:p>
            <a:r>
              <a:rPr lang="de-DE"/>
              <a:t>Tinkercad prototype</a:t>
            </a:r>
            <a:endParaRPr lang="es-ES"/>
          </a:p>
        </p:txBody>
      </p:sp>
      <p:sp>
        <p:nvSpPr>
          <p:cNvPr id="11" name="TextBox 10">
            <a:extLst>
              <a:ext uri="{FF2B5EF4-FFF2-40B4-BE49-F238E27FC236}">
                <a16:creationId xmlns:a16="http://schemas.microsoft.com/office/drawing/2014/main" id="{D58EAC25-E577-0474-91E8-396EE967D452}"/>
              </a:ext>
            </a:extLst>
          </p:cNvPr>
          <p:cNvSpPr txBox="1"/>
          <p:nvPr/>
        </p:nvSpPr>
        <p:spPr>
          <a:xfrm>
            <a:off x="10652760" y="9277319"/>
            <a:ext cx="1434560" cy="369332"/>
          </a:xfrm>
          <a:prstGeom prst="rect">
            <a:avLst/>
          </a:prstGeom>
          <a:noFill/>
        </p:spPr>
        <p:txBody>
          <a:bodyPr wrap="none" rtlCol="0">
            <a:spAutoFit/>
          </a:bodyPr>
          <a:lstStyle/>
          <a:p>
            <a:r>
              <a:rPr lang="de-DE"/>
              <a:t>Circuit sketch</a:t>
            </a:r>
            <a:endParaRPr lang="es-ES"/>
          </a:p>
        </p:txBody>
      </p:sp>
    </p:spTree>
    <p:extLst>
      <p:ext uri="{BB962C8B-B14F-4D97-AF65-F5344CB8AC3E}">
        <p14:creationId xmlns:p14="http://schemas.microsoft.com/office/powerpoint/2010/main" val="551309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87E9E0-AB1D-6943-ED56-1696B61FEED6}"/>
              </a:ext>
            </a:extLst>
          </p:cNvPr>
          <p:cNvPicPr>
            <a:picLocks noChangeAspect="1"/>
          </p:cNvPicPr>
          <p:nvPr/>
        </p:nvPicPr>
        <p:blipFill>
          <a:blip r:embed="rId2"/>
          <a:stretch>
            <a:fillRect/>
          </a:stretch>
        </p:blipFill>
        <p:spPr>
          <a:xfrm>
            <a:off x="518886" y="2547485"/>
            <a:ext cx="7937499" cy="6748686"/>
          </a:xfrm>
          <a:prstGeom prst="rect">
            <a:avLst/>
          </a:prstGeom>
        </p:spPr>
      </p:pic>
      <p:pic>
        <p:nvPicPr>
          <p:cNvPr id="4" name="Content Placeholder 3">
            <a:extLst>
              <a:ext uri="{FF2B5EF4-FFF2-40B4-BE49-F238E27FC236}">
                <a16:creationId xmlns:a16="http://schemas.microsoft.com/office/drawing/2014/main" id="{7C0575F7-ED3E-844B-BE0C-B0F91027FA5F}"/>
              </a:ext>
            </a:extLst>
          </p:cNvPr>
          <p:cNvPicPr>
            <a:picLocks noGrp="1" noChangeAspect="1"/>
          </p:cNvPicPr>
          <p:nvPr>
            <p:ph idx="1"/>
          </p:nvPr>
        </p:nvPicPr>
        <p:blipFill>
          <a:blip r:embed="rId3"/>
          <a:srcRect t="16718" b="153"/>
          <a:stretch>
            <a:fillRect/>
          </a:stretch>
        </p:blipFill>
        <p:spPr>
          <a:xfrm>
            <a:off x="8460012" y="2597209"/>
            <a:ext cx="9526814" cy="6704007"/>
          </a:xfrm>
          <a:prstGeom prst="rect">
            <a:avLst/>
          </a:prstGeom>
        </p:spPr>
      </p:pic>
      <p:sp>
        <p:nvSpPr>
          <p:cNvPr id="7" name="Freeform 8">
            <a:extLst>
              <a:ext uri="{FF2B5EF4-FFF2-40B4-BE49-F238E27FC236}">
                <a16:creationId xmlns:a16="http://schemas.microsoft.com/office/drawing/2014/main" id="{FD2A8DBD-A1C2-69AD-A6D8-CDC9758A783A}"/>
              </a:ext>
            </a:extLst>
          </p:cNvPr>
          <p:cNvSpPr/>
          <p:nvPr/>
        </p:nvSpPr>
        <p:spPr>
          <a:xfrm rot="768394">
            <a:off x="13503993" y="-5114816"/>
            <a:ext cx="10471526" cy="822960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4">
              <a:alphaModFix amt="55000"/>
            </a:blip>
            <a:stretch>
              <a:fillRect/>
            </a:stretch>
          </a:blipFill>
        </p:spPr>
        <p:txBody>
          <a:bodyPr/>
          <a:lstStyle/>
          <a:p>
            <a:endParaRPr lang="en-US"/>
          </a:p>
        </p:txBody>
      </p:sp>
      <p:sp>
        <p:nvSpPr>
          <p:cNvPr id="3" name="Freeform 8">
            <a:extLst>
              <a:ext uri="{FF2B5EF4-FFF2-40B4-BE49-F238E27FC236}">
                <a16:creationId xmlns:a16="http://schemas.microsoft.com/office/drawing/2014/main" id="{5ACD9C09-CD92-1C3D-2AB6-27E75DF30663}"/>
              </a:ext>
            </a:extLst>
          </p:cNvPr>
          <p:cNvSpPr/>
          <p:nvPr/>
        </p:nvSpPr>
        <p:spPr>
          <a:xfrm rot="4620000">
            <a:off x="-3207429" y="6704473"/>
            <a:ext cx="7456184" cy="8501743"/>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4">
              <a:alphaModFix amt="55000"/>
            </a:blip>
            <a:stretch>
              <a:fillRect/>
            </a:stretch>
          </a:blipFill>
        </p:spPr>
        <p:txBody>
          <a:bodyPr/>
          <a:lstStyle/>
          <a:p>
            <a:endParaRPr lang="en-US"/>
          </a:p>
        </p:txBody>
      </p:sp>
      <p:sp>
        <p:nvSpPr>
          <p:cNvPr id="9" name="TextBox 4">
            <a:extLst>
              <a:ext uri="{FF2B5EF4-FFF2-40B4-BE49-F238E27FC236}">
                <a16:creationId xmlns:a16="http://schemas.microsoft.com/office/drawing/2014/main" id="{D9AF6E19-A09E-E1D8-6C49-5CDF5A681A68}"/>
              </a:ext>
            </a:extLst>
          </p:cNvPr>
          <p:cNvSpPr txBox="1"/>
          <p:nvPr/>
        </p:nvSpPr>
        <p:spPr>
          <a:xfrm>
            <a:off x="549727" y="1358827"/>
            <a:ext cx="8897482" cy="495585"/>
          </a:xfrm>
          <a:prstGeom prst="rect">
            <a:avLst/>
          </a:prstGeom>
        </p:spPr>
        <p:txBody>
          <a:bodyPr wrap="square" lIns="0" tIns="0" rIns="0" bIns="0" rtlCol="0" anchor="t">
            <a:spAutoFit/>
          </a:bodyPr>
          <a:lstStyle/>
          <a:p>
            <a:pPr>
              <a:lnSpc>
                <a:spcPts val="3465"/>
              </a:lnSpc>
            </a:pPr>
            <a:r>
              <a:rPr lang="en-US" sz="4800" b="1">
                <a:solidFill>
                  <a:srgbClr val="000000"/>
                </a:solidFill>
                <a:latin typeface="Open Sans Bold"/>
                <a:ea typeface="Open Sans Bold"/>
                <a:cs typeface="Open Sans Bold"/>
                <a:sym typeface="Open Sans Bold"/>
              </a:rPr>
              <a:t>Sensor Readings</a:t>
            </a:r>
            <a:endParaRPr lang="en-US" sz="4800" b="1" err="1">
              <a:latin typeface="Open Sans Bold"/>
              <a:ea typeface="Open Sans Bold"/>
              <a:cs typeface="Open Sans Bold"/>
            </a:endParaRPr>
          </a:p>
        </p:txBody>
      </p:sp>
      <p:pic>
        <p:nvPicPr>
          <p:cNvPr id="11" name="Picture 10" descr="A purple and blue cross&#10;&#10;AI-generated content may be incorrect.">
            <a:extLst>
              <a:ext uri="{FF2B5EF4-FFF2-40B4-BE49-F238E27FC236}">
                <a16:creationId xmlns:a16="http://schemas.microsoft.com/office/drawing/2014/main" id="{5DC9487A-E8D3-40B1-2214-8C2E63E9A9A0}"/>
              </a:ext>
            </a:extLst>
          </p:cNvPr>
          <p:cNvPicPr>
            <a:picLocks noChangeAspect="1"/>
          </p:cNvPicPr>
          <p:nvPr/>
        </p:nvPicPr>
        <p:blipFill>
          <a:blip r:embed="rId5"/>
          <a:srcRect t="-926" b="35617"/>
          <a:stretch>
            <a:fillRect/>
          </a:stretch>
        </p:blipFill>
        <p:spPr>
          <a:xfrm>
            <a:off x="544286" y="544286"/>
            <a:ext cx="1186544" cy="564762"/>
          </a:xfrm>
          <a:prstGeom prst="rect">
            <a:avLst/>
          </a:prstGeom>
        </p:spPr>
      </p:pic>
      <p:sp>
        <p:nvSpPr>
          <p:cNvPr id="13" name="SK-7-text-12">
            <a:extLst>
              <a:ext uri="{FF2B5EF4-FFF2-40B4-BE49-F238E27FC236}">
                <a16:creationId xmlns:a16="http://schemas.microsoft.com/office/drawing/2014/main" id="{65E5A00D-92EC-A1AB-5938-DE48803B43C7}"/>
              </a:ext>
            </a:extLst>
          </p:cNvPr>
          <p:cNvSpPr/>
          <p:nvPr/>
        </p:nvSpPr>
        <p:spPr>
          <a:xfrm>
            <a:off x="1727200" y="742788"/>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15" name="SK-7-text-13">
            <a:extLst>
              <a:ext uri="{FF2B5EF4-FFF2-40B4-BE49-F238E27FC236}">
                <a16:creationId xmlns:a16="http://schemas.microsoft.com/office/drawing/2014/main" id="{827B6C18-AB98-51F6-4B90-00F7C92F0E49}"/>
              </a:ext>
            </a:extLst>
          </p:cNvPr>
          <p:cNvSpPr/>
          <p:nvPr/>
        </p:nvSpPr>
        <p:spPr>
          <a:xfrm>
            <a:off x="1727200" y="907392"/>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18" name="Freeform 13">
            <a:extLst>
              <a:ext uri="{FF2B5EF4-FFF2-40B4-BE49-F238E27FC236}">
                <a16:creationId xmlns:a16="http://schemas.microsoft.com/office/drawing/2014/main" id="{B4D83C79-A05E-912A-7E99-D9BD3225DBE5}"/>
              </a:ext>
            </a:extLst>
          </p:cNvPr>
          <p:cNvSpPr/>
          <p:nvPr/>
        </p:nvSpPr>
        <p:spPr>
          <a:xfrm>
            <a:off x="15580813" y="726127"/>
            <a:ext cx="356816" cy="391822"/>
          </a:xfrm>
          <a:custGeom>
            <a:avLst/>
            <a:gdLst/>
            <a:ahLst/>
            <a:cxnLst/>
            <a:rect l="l" t="t" r="r" b="b"/>
            <a:pathLst>
              <a:path w="607187" h="685735">
                <a:moveTo>
                  <a:pt x="0" y="0"/>
                </a:moveTo>
                <a:lnTo>
                  <a:pt x="607188" y="0"/>
                </a:lnTo>
                <a:lnTo>
                  <a:pt x="607188" y="685735"/>
                </a:lnTo>
                <a:lnTo>
                  <a:pt x="0" y="6857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ES"/>
          </a:p>
        </p:txBody>
      </p:sp>
    </p:spTree>
    <p:extLst>
      <p:ext uri="{BB962C8B-B14F-4D97-AF65-F5344CB8AC3E}">
        <p14:creationId xmlns:p14="http://schemas.microsoft.com/office/powerpoint/2010/main" val="394461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E8B6-6DF5-79A5-EB3D-A78C9541556A}"/>
            </a:ext>
          </a:extLst>
        </p:cNvPr>
        <p:cNvGrpSpPr/>
        <p:nvPr/>
      </p:nvGrpSpPr>
      <p:grpSpPr>
        <a:xfrm>
          <a:off x="0" y="0"/>
          <a:ext cx="0" cy="0"/>
          <a:chOff x="0" y="0"/>
          <a:chExt cx="0" cy="0"/>
        </a:xfrm>
      </p:grpSpPr>
      <p:sp>
        <p:nvSpPr>
          <p:cNvPr id="45" name="Shape 43">
            <a:extLst>
              <a:ext uri="{FF2B5EF4-FFF2-40B4-BE49-F238E27FC236}">
                <a16:creationId xmlns:a16="http://schemas.microsoft.com/office/drawing/2014/main" id="{37433B0B-3D2A-C9A6-D238-DBDC7BB774C1}"/>
              </a:ext>
            </a:extLst>
          </p:cNvPr>
          <p:cNvSpPr/>
          <p:nvPr/>
        </p:nvSpPr>
        <p:spPr>
          <a:xfrm>
            <a:off x="12471764" y="1138008"/>
            <a:ext cx="0" cy="8435340"/>
          </a:xfrm>
          <a:prstGeom prst="line">
            <a:avLst/>
          </a:prstGeom>
          <a:noFill/>
          <a:ln w="15240">
            <a:solidFill>
              <a:srgbClr val="E2E8F0"/>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46" name="Text 44">
            <a:extLst>
              <a:ext uri="{FF2B5EF4-FFF2-40B4-BE49-F238E27FC236}">
                <a16:creationId xmlns:a16="http://schemas.microsoft.com/office/drawing/2014/main" id="{6027DE35-A036-07D6-CC44-C9493B43D196}"/>
              </a:ext>
            </a:extLst>
          </p:cNvPr>
          <p:cNvSpPr/>
          <p:nvPr/>
        </p:nvSpPr>
        <p:spPr>
          <a:xfrm>
            <a:off x="12783312" y="1077825"/>
            <a:ext cx="4526280" cy="411480"/>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550" b="1">
                <a:solidFill>
                  <a:srgbClr val="0F172A"/>
                </a:solidFill>
              </a:rPr>
              <a:t>Testing Videos</a:t>
            </a:r>
            <a:endParaRPr lang="en-US" sz="2550"/>
          </a:p>
        </p:txBody>
      </p:sp>
      <p:sp>
        <p:nvSpPr>
          <p:cNvPr id="51" name="Shape 49">
            <a:extLst>
              <a:ext uri="{FF2B5EF4-FFF2-40B4-BE49-F238E27FC236}">
                <a16:creationId xmlns:a16="http://schemas.microsoft.com/office/drawing/2014/main" id="{EA391DBA-6730-B0A8-975C-E8258B85348B}"/>
              </a:ext>
            </a:extLst>
          </p:cNvPr>
          <p:cNvSpPr/>
          <p:nvPr/>
        </p:nvSpPr>
        <p:spPr>
          <a:xfrm rot="5400000">
            <a:off x="15183612" y="2948940"/>
            <a:ext cx="246888" cy="329184"/>
          </a:xfrm>
          <a:prstGeom prst="triangle">
            <a:avLst/>
          </a:prstGeom>
          <a:solidFill>
            <a:srgbClr val="FFFFFF"/>
          </a:solidFill>
          <a:ln w="12700">
            <a:solidFill>
              <a:srgbClr val="FFFFFF"/>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52" name="Text 50">
            <a:extLst>
              <a:ext uri="{FF2B5EF4-FFF2-40B4-BE49-F238E27FC236}">
                <a16:creationId xmlns:a16="http://schemas.microsoft.com/office/drawing/2014/main" id="{08FA497A-7E0E-01A4-F60F-7D8A5F423316}"/>
              </a:ext>
            </a:extLst>
          </p:cNvPr>
          <p:cNvSpPr/>
          <p:nvPr/>
        </p:nvSpPr>
        <p:spPr>
          <a:xfrm>
            <a:off x="12111228" y="4986260"/>
            <a:ext cx="4251960" cy="301752"/>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75" b="1">
                <a:solidFill>
                  <a:srgbClr val="0F172A"/>
                </a:solidFill>
              </a:rPr>
              <a:t>Failure video: </a:t>
            </a:r>
            <a:endParaRPr lang="en-US" sz="1875"/>
          </a:p>
        </p:txBody>
      </p:sp>
      <p:sp>
        <p:nvSpPr>
          <p:cNvPr id="53" name="Text 51">
            <a:extLst>
              <a:ext uri="{FF2B5EF4-FFF2-40B4-BE49-F238E27FC236}">
                <a16:creationId xmlns:a16="http://schemas.microsoft.com/office/drawing/2014/main" id="{01394A2D-F91F-4CEB-07CB-70D7111D433F}"/>
              </a:ext>
            </a:extLst>
          </p:cNvPr>
          <p:cNvSpPr/>
          <p:nvPr/>
        </p:nvSpPr>
        <p:spPr>
          <a:xfrm>
            <a:off x="13911319" y="5050805"/>
            <a:ext cx="4251960" cy="246888"/>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440">
                <a:solidFill>
                  <a:srgbClr val="475569"/>
                </a:solidFill>
              </a:rPr>
              <a:t>Jerking / unstable correction</a:t>
            </a:r>
            <a:endParaRPr lang="en-US" sz="1440"/>
          </a:p>
        </p:txBody>
      </p:sp>
      <p:sp>
        <p:nvSpPr>
          <p:cNvPr id="57" name="Shape 55">
            <a:extLst>
              <a:ext uri="{FF2B5EF4-FFF2-40B4-BE49-F238E27FC236}">
                <a16:creationId xmlns:a16="http://schemas.microsoft.com/office/drawing/2014/main" id="{6A9A18D1-3235-199A-0D86-A85A2EC57CC0}"/>
              </a:ext>
            </a:extLst>
          </p:cNvPr>
          <p:cNvSpPr/>
          <p:nvPr/>
        </p:nvSpPr>
        <p:spPr>
          <a:xfrm rot="5400000">
            <a:off x="15183612" y="6830568"/>
            <a:ext cx="246888" cy="329184"/>
          </a:xfrm>
          <a:prstGeom prst="triangle">
            <a:avLst/>
          </a:prstGeom>
          <a:solidFill>
            <a:srgbClr val="FFFFFF"/>
          </a:solidFill>
          <a:ln w="12700">
            <a:solidFill>
              <a:srgbClr val="FFFFFF"/>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58" name="Text 56">
            <a:extLst>
              <a:ext uri="{FF2B5EF4-FFF2-40B4-BE49-F238E27FC236}">
                <a16:creationId xmlns:a16="http://schemas.microsoft.com/office/drawing/2014/main" id="{16228343-1FBA-E0D2-46F1-085C781F7881}"/>
              </a:ext>
            </a:extLst>
          </p:cNvPr>
          <p:cNvSpPr/>
          <p:nvPr/>
        </p:nvSpPr>
        <p:spPr>
          <a:xfrm>
            <a:off x="12111228" y="9178043"/>
            <a:ext cx="4251960" cy="301752"/>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75" b="1">
                <a:solidFill>
                  <a:srgbClr val="0F172A"/>
                </a:solidFill>
              </a:rPr>
              <a:t>Improved video:</a:t>
            </a:r>
            <a:endParaRPr lang="en-US" sz="1875"/>
          </a:p>
        </p:txBody>
      </p:sp>
      <p:sp>
        <p:nvSpPr>
          <p:cNvPr id="59" name="Text 57">
            <a:extLst>
              <a:ext uri="{FF2B5EF4-FFF2-40B4-BE49-F238E27FC236}">
                <a16:creationId xmlns:a16="http://schemas.microsoft.com/office/drawing/2014/main" id="{9FECFFA3-D992-B0C6-1084-92EDA7EF04E3}"/>
              </a:ext>
            </a:extLst>
          </p:cNvPr>
          <p:cNvSpPr/>
          <p:nvPr/>
        </p:nvSpPr>
        <p:spPr>
          <a:xfrm>
            <a:off x="13895063" y="9222378"/>
            <a:ext cx="4251960" cy="246888"/>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440">
                <a:solidFill>
                  <a:srgbClr val="475569"/>
                </a:solidFill>
              </a:rPr>
              <a:t>Smooth line following</a:t>
            </a:r>
            <a:endParaRPr lang="en-US" sz="1440"/>
          </a:p>
        </p:txBody>
      </p:sp>
      <p:pic>
        <p:nvPicPr>
          <p:cNvPr id="2" name="WhatsApp Video 2026-07-04 at 11.10.23 PM (online-video-cutter (1)">
            <a:hlinkClick r:id="" action="ppaction://media"/>
            <a:extLst>
              <a:ext uri="{FF2B5EF4-FFF2-40B4-BE49-F238E27FC236}">
                <a16:creationId xmlns:a16="http://schemas.microsoft.com/office/drawing/2014/main" id="{7C250536-C485-7754-0A38-CC944E24A68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2855815" y="5637277"/>
            <a:ext cx="4896609" cy="3371345"/>
          </a:xfrm>
          <a:prstGeom prst="rect">
            <a:avLst/>
          </a:prstGeom>
        </p:spPr>
      </p:pic>
      <p:pic>
        <p:nvPicPr>
          <p:cNvPr id="49" name="WhatsApp Video 2026-07-05 at 1.24.35 AM (online-video-cutter">
            <a:hlinkClick r:id="" action="ppaction://media"/>
            <a:extLst>
              <a:ext uri="{FF2B5EF4-FFF2-40B4-BE49-F238E27FC236}">
                <a16:creationId xmlns:a16="http://schemas.microsoft.com/office/drawing/2014/main" id="{13FE8204-D4C5-6018-46BF-3D0C25886970}"/>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12848257" y="1607310"/>
            <a:ext cx="4904165" cy="3274074"/>
          </a:xfrm>
          <a:prstGeom prst="rect">
            <a:avLst/>
          </a:prstGeom>
        </p:spPr>
      </p:pic>
      <p:sp>
        <p:nvSpPr>
          <p:cNvPr id="56" name="Freeform 9">
            <a:extLst>
              <a:ext uri="{FF2B5EF4-FFF2-40B4-BE49-F238E27FC236}">
                <a16:creationId xmlns:a16="http://schemas.microsoft.com/office/drawing/2014/main" id="{E7792F24-A892-E8C4-5ED0-8854759B12DE}"/>
              </a:ext>
            </a:extLst>
          </p:cNvPr>
          <p:cNvSpPr/>
          <p:nvPr/>
        </p:nvSpPr>
        <p:spPr>
          <a:xfrm rot="960000">
            <a:off x="15170147" y="7614166"/>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9">
              <a:alphaModFix amt="67000"/>
            </a:blip>
            <a:stretch>
              <a:fillRect/>
            </a:stretch>
          </a:blipFill>
        </p:spPr>
        <p:txBody>
          <a:bodyPr/>
          <a:lstStyle/>
          <a:p>
            <a:endParaRPr lang="en-US"/>
          </a:p>
        </p:txBody>
      </p:sp>
      <p:pic>
        <p:nvPicPr>
          <p:cNvPr id="65" name="Picture 64" descr="A purple and blue cross&#10;&#10;AI-generated content may be incorrect.">
            <a:extLst>
              <a:ext uri="{FF2B5EF4-FFF2-40B4-BE49-F238E27FC236}">
                <a16:creationId xmlns:a16="http://schemas.microsoft.com/office/drawing/2014/main" id="{107A6B5E-225C-E372-084A-E84F860F390A}"/>
              </a:ext>
            </a:extLst>
          </p:cNvPr>
          <p:cNvPicPr>
            <a:picLocks noChangeAspect="1"/>
          </p:cNvPicPr>
          <p:nvPr/>
        </p:nvPicPr>
        <p:blipFill>
          <a:blip r:embed="rId10"/>
          <a:srcRect t="-926" b="35617"/>
          <a:stretch>
            <a:fillRect/>
          </a:stretch>
        </p:blipFill>
        <p:spPr>
          <a:xfrm>
            <a:off x="544286" y="544286"/>
            <a:ext cx="1186544" cy="564762"/>
          </a:xfrm>
          <a:prstGeom prst="rect">
            <a:avLst/>
          </a:prstGeom>
        </p:spPr>
      </p:pic>
      <p:sp>
        <p:nvSpPr>
          <p:cNvPr id="67" name="SK-7-text-12">
            <a:extLst>
              <a:ext uri="{FF2B5EF4-FFF2-40B4-BE49-F238E27FC236}">
                <a16:creationId xmlns:a16="http://schemas.microsoft.com/office/drawing/2014/main" id="{FFE54AF6-D2BF-692C-99DA-0C3BBEAC22D2}"/>
              </a:ext>
            </a:extLst>
          </p:cNvPr>
          <p:cNvSpPr/>
          <p:nvPr/>
        </p:nvSpPr>
        <p:spPr>
          <a:xfrm>
            <a:off x="1727200" y="742788"/>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69" name="SK-7-text-13">
            <a:extLst>
              <a:ext uri="{FF2B5EF4-FFF2-40B4-BE49-F238E27FC236}">
                <a16:creationId xmlns:a16="http://schemas.microsoft.com/office/drawing/2014/main" id="{51F75E87-F09B-0102-E5DE-A3CB5F0C9148}"/>
              </a:ext>
            </a:extLst>
          </p:cNvPr>
          <p:cNvSpPr/>
          <p:nvPr/>
        </p:nvSpPr>
        <p:spPr>
          <a:xfrm>
            <a:off x="1727200" y="907392"/>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108" name="TextBox 107">
            <a:extLst>
              <a:ext uri="{FF2B5EF4-FFF2-40B4-BE49-F238E27FC236}">
                <a16:creationId xmlns:a16="http://schemas.microsoft.com/office/drawing/2014/main" id="{3094461E-D6C4-8000-D534-65E0257B9C0B}"/>
              </a:ext>
            </a:extLst>
          </p:cNvPr>
          <p:cNvSpPr txBox="1"/>
          <p:nvPr/>
        </p:nvSpPr>
        <p:spPr>
          <a:xfrm>
            <a:off x="617220" y="2811779"/>
            <a:ext cx="5212080" cy="357790"/>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2325" b="1">
                <a:solidFill>
                  <a:srgbClr val="050B18"/>
                </a:solidFill>
                <a:latin typeface="Aptos"/>
              </a:rPr>
              <a:t>Line Following Logic</a:t>
            </a:r>
          </a:p>
        </p:txBody>
      </p:sp>
      <p:sp>
        <p:nvSpPr>
          <p:cNvPr id="110" name="TextBox 109">
            <a:extLst>
              <a:ext uri="{FF2B5EF4-FFF2-40B4-BE49-F238E27FC236}">
                <a16:creationId xmlns:a16="http://schemas.microsoft.com/office/drawing/2014/main" id="{61924D6C-C49A-AC16-B77E-47098B2676B4}"/>
              </a:ext>
            </a:extLst>
          </p:cNvPr>
          <p:cNvSpPr txBox="1"/>
          <p:nvPr/>
        </p:nvSpPr>
        <p:spPr>
          <a:xfrm>
            <a:off x="617220" y="3209544"/>
            <a:ext cx="11178540" cy="249299"/>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620" b="0">
                <a:solidFill>
                  <a:srgbClr val="35405A"/>
                </a:solidFill>
                <a:latin typeface="Aptos"/>
              </a:rPr>
              <a:t>Black-line tracking with sensor cases, differential speeds, and memory-based realignment</a:t>
            </a:r>
          </a:p>
        </p:txBody>
      </p:sp>
      <p:sp>
        <p:nvSpPr>
          <p:cNvPr id="112" name="Rounded Rectangle 6">
            <a:extLst>
              <a:ext uri="{FF2B5EF4-FFF2-40B4-BE49-F238E27FC236}">
                <a16:creationId xmlns:a16="http://schemas.microsoft.com/office/drawing/2014/main" id="{7D01E332-071D-542E-F310-C92C55B1CCB0}"/>
              </a:ext>
            </a:extLst>
          </p:cNvPr>
          <p:cNvSpPr/>
          <p:nvPr/>
        </p:nvSpPr>
        <p:spPr>
          <a:xfrm>
            <a:off x="57367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14" name="Rounded Rectangle 7">
            <a:extLst>
              <a:ext uri="{FF2B5EF4-FFF2-40B4-BE49-F238E27FC236}">
                <a16:creationId xmlns:a16="http://schemas.microsoft.com/office/drawing/2014/main" id="{962B1DB9-ABA2-0969-8064-9AB4DD1547F8}"/>
              </a:ext>
            </a:extLst>
          </p:cNvPr>
          <p:cNvSpPr/>
          <p:nvPr/>
        </p:nvSpPr>
        <p:spPr>
          <a:xfrm>
            <a:off x="793133" y="3808694"/>
            <a:ext cx="384048" cy="315468"/>
          </a:xfrm>
          <a:prstGeom prst="round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1</a:t>
            </a:r>
          </a:p>
        </p:txBody>
      </p:sp>
      <p:sp>
        <p:nvSpPr>
          <p:cNvPr id="116" name="TextBox 115">
            <a:extLst>
              <a:ext uri="{FF2B5EF4-FFF2-40B4-BE49-F238E27FC236}">
                <a16:creationId xmlns:a16="http://schemas.microsoft.com/office/drawing/2014/main" id="{ED65F172-4468-AE61-1456-09E29327BD77}"/>
              </a:ext>
            </a:extLst>
          </p:cNvPr>
          <p:cNvSpPr txBox="1"/>
          <p:nvPr/>
        </p:nvSpPr>
        <p:spPr>
          <a:xfrm>
            <a:off x="135548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79" b="1">
                <a:solidFill>
                  <a:srgbClr val="050B18"/>
                </a:solidFill>
                <a:latin typeface="Aptos"/>
              </a:rPr>
              <a:t>Read sensors</a:t>
            </a:r>
          </a:p>
        </p:txBody>
      </p:sp>
      <p:sp>
        <p:nvSpPr>
          <p:cNvPr id="118" name="Chevron 9">
            <a:extLst>
              <a:ext uri="{FF2B5EF4-FFF2-40B4-BE49-F238E27FC236}">
                <a16:creationId xmlns:a16="http://schemas.microsoft.com/office/drawing/2014/main" id="{8CAD606F-D342-EC03-C48B-66EBBE6BF686}"/>
              </a:ext>
            </a:extLst>
          </p:cNvPr>
          <p:cNvSpPr/>
          <p:nvPr/>
        </p:nvSpPr>
        <p:spPr>
          <a:xfrm>
            <a:off x="324829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20" name="Rounded Rectangle 10">
            <a:extLst>
              <a:ext uri="{FF2B5EF4-FFF2-40B4-BE49-F238E27FC236}">
                <a16:creationId xmlns:a16="http://schemas.microsoft.com/office/drawing/2014/main" id="{12882493-336F-A485-B1FB-E186E0CA3245}"/>
              </a:ext>
            </a:extLst>
          </p:cNvPr>
          <p:cNvSpPr/>
          <p:nvPr/>
        </p:nvSpPr>
        <p:spPr>
          <a:xfrm>
            <a:off x="359119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22" name="Rounded Rectangle 11">
            <a:extLst>
              <a:ext uri="{FF2B5EF4-FFF2-40B4-BE49-F238E27FC236}">
                <a16:creationId xmlns:a16="http://schemas.microsoft.com/office/drawing/2014/main" id="{235BFB3E-59D0-B84B-425F-D9AB00AAA3A8}"/>
              </a:ext>
            </a:extLst>
          </p:cNvPr>
          <p:cNvSpPr/>
          <p:nvPr/>
        </p:nvSpPr>
        <p:spPr>
          <a:xfrm>
            <a:off x="3810653" y="3808694"/>
            <a:ext cx="384048" cy="315468"/>
          </a:xfrm>
          <a:prstGeom prst="roundRect">
            <a:avLst/>
          </a:prstGeom>
          <a:solidFill>
            <a:srgbClr val="6020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2</a:t>
            </a:r>
          </a:p>
        </p:txBody>
      </p:sp>
      <p:sp>
        <p:nvSpPr>
          <p:cNvPr id="124" name="TextBox 123">
            <a:extLst>
              <a:ext uri="{FF2B5EF4-FFF2-40B4-BE49-F238E27FC236}">
                <a16:creationId xmlns:a16="http://schemas.microsoft.com/office/drawing/2014/main" id="{5736E3EE-79DD-B8C1-1709-C484B04CC28F}"/>
              </a:ext>
            </a:extLst>
          </p:cNvPr>
          <p:cNvSpPr txBox="1"/>
          <p:nvPr/>
        </p:nvSpPr>
        <p:spPr>
          <a:xfrm>
            <a:off x="437300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79" b="1">
                <a:solidFill>
                  <a:srgbClr val="050B18"/>
                </a:solidFill>
                <a:latin typeface="Aptos"/>
              </a:rPr>
              <a:t>Choose case</a:t>
            </a:r>
          </a:p>
        </p:txBody>
      </p:sp>
      <p:sp>
        <p:nvSpPr>
          <p:cNvPr id="132" name="TextBox 131">
            <a:extLst>
              <a:ext uri="{FF2B5EF4-FFF2-40B4-BE49-F238E27FC236}">
                <a16:creationId xmlns:a16="http://schemas.microsoft.com/office/drawing/2014/main" id="{9CD30E37-32D9-82B7-38E4-C04D63ACC533}"/>
              </a:ext>
            </a:extLst>
          </p:cNvPr>
          <p:cNvSpPr txBox="1"/>
          <p:nvPr/>
        </p:nvSpPr>
        <p:spPr>
          <a:xfrm>
            <a:off x="617220" y="4663440"/>
            <a:ext cx="3017520" cy="357790"/>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2325" b="1">
                <a:solidFill>
                  <a:srgbClr val="050B18"/>
                </a:solidFill>
                <a:latin typeface="Aptos"/>
              </a:rPr>
              <a:t>3 sensor cases</a:t>
            </a:r>
          </a:p>
        </p:txBody>
      </p:sp>
      <p:sp>
        <p:nvSpPr>
          <p:cNvPr id="134" name="Rounded Rectangle 22">
            <a:extLst>
              <a:ext uri="{FF2B5EF4-FFF2-40B4-BE49-F238E27FC236}">
                <a16:creationId xmlns:a16="http://schemas.microsoft.com/office/drawing/2014/main" id="{B01ABC69-43F2-AE9E-58E4-6890B9DBA854}"/>
              </a:ext>
            </a:extLst>
          </p:cNvPr>
          <p:cNvSpPr/>
          <p:nvPr/>
        </p:nvSpPr>
        <p:spPr>
          <a:xfrm>
            <a:off x="641909" y="5209337"/>
            <a:ext cx="11452860" cy="1069848"/>
          </a:xfrm>
          <a:prstGeom prst="roundRect">
            <a:avLst/>
          </a:prstGeom>
          <a:solidFill>
            <a:srgbClr val="E9EDF6"/>
          </a:solidFill>
          <a:ln>
            <a:solidFill>
              <a:srgbClr val="E9EDF6"/>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36" name="Rounded Rectangle 23">
            <a:extLst>
              <a:ext uri="{FF2B5EF4-FFF2-40B4-BE49-F238E27FC236}">
                <a16:creationId xmlns:a16="http://schemas.microsoft.com/office/drawing/2014/main" id="{557B1CC0-43FA-677F-92C9-8227EE7DF792}"/>
              </a:ext>
            </a:extLst>
          </p:cNvPr>
          <p:cNvSpPr/>
          <p:nvPr/>
        </p:nvSpPr>
        <p:spPr>
          <a:xfrm>
            <a:off x="617220" y="5184648"/>
            <a:ext cx="11452860" cy="1069848"/>
          </a:xfrm>
          <a:prstGeom prst="roundRect">
            <a:avLst/>
          </a:prstGeom>
          <a:solidFill>
            <a:srgbClr val="FFFFFF"/>
          </a:solidFill>
          <a:ln w="8890">
            <a:solidFill>
              <a:srgbClr val="D9E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38" name="Rectangle 137">
            <a:extLst>
              <a:ext uri="{FF2B5EF4-FFF2-40B4-BE49-F238E27FC236}">
                <a16:creationId xmlns:a16="http://schemas.microsoft.com/office/drawing/2014/main" id="{8CBDFA76-E4F1-D4FD-0C02-35477B17D508}"/>
              </a:ext>
            </a:extLst>
          </p:cNvPr>
          <p:cNvSpPr/>
          <p:nvPr/>
        </p:nvSpPr>
        <p:spPr>
          <a:xfrm>
            <a:off x="617220" y="5184648"/>
            <a:ext cx="68580" cy="1069848"/>
          </a:xfrm>
          <a:prstGeom prst="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40" name="Oval 139">
            <a:extLst>
              <a:ext uri="{FF2B5EF4-FFF2-40B4-BE49-F238E27FC236}">
                <a16:creationId xmlns:a16="http://schemas.microsoft.com/office/drawing/2014/main" id="{5BBC3026-1011-5744-DCD5-ADA4D0BA9569}"/>
              </a:ext>
            </a:extLst>
          </p:cNvPr>
          <p:cNvSpPr/>
          <p:nvPr/>
        </p:nvSpPr>
        <p:spPr>
          <a:xfrm>
            <a:off x="1207008" y="5513831"/>
            <a:ext cx="425196" cy="425196"/>
          </a:xfrm>
          <a:prstGeom prst="ellipse">
            <a:avLst/>
          </a:prstGeom>
          <a:solidFill>
            <a:srgbClr val="FFFFFF"/>
          </a:solidFill>
          <a:ln w="12700">
            <a:solidFill>
              <a:srgbClr val="AEB8C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42" name="Oval 141">
            <a:extLst>
              <a:ext uri="{FF2B5EF4-FFF2-40B4-BE49-F238E27FC236}">
                <a16:creationId xmlns:a16="http://schemas.microsoft.com/office/drawing/2014/main" id="{E92CCE89-7005-3BEE-8899-35B71AC92C94}"/>
              </a:ext>
            </a:extLst>
          </p:cNvPr>
          <p:cNvSpPr/>
          <p:nvPr/>
        </p:nvSpPr>
        <p:spPr>
          <a:xfrm>
            <a:off x="1879092" y="5513831"/>
            <a:ext cx="425196" cy="425196"/>
          </a:xfrm>
          <a:prstGeom prst="ellipse">
            <a:avLst/>
          </a:prstGeom>
          <a:solidFill>
            <a:srgbClr val="FFFFFF"/>
          </a:solidFill>
          <a:ln w="12700">
            <a:solidFill>
              <a:srgbClr val="AEB8C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44" name="TextBox 143">
            <a:extLst>
              <a:ext uri="{FF2B5EF4-FFF2-40B4-BE49-F238E27FC236}">
                <a16:creationId xmlns:a16="http://schemas.microsoft.com/office/drawing/2014/main" id="{F9DC75F0-3BA4-E51C-7F87-C1803E3539A5}"/>
              </a:ext>
            </a:extLst>
          </p:cNvPr>
          <p:cNvSpPr txBox="1"/>
          <p:nvPr/>
        </p:nvSpPr>
        <p:spPr>
          <a:xfrm>
            <a:off x="3154680" y="5431536"/>
            <a:ext cx="7680960" cy="30931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2010" b="1">
                <a:solidFill>
                  <a:srgbClr val="050B18"/>
                </a:solidFill>
                <a:latin typeface="Aptos"/>
              </a:rPr>
              <a:t>White + White</a:t>
            </a:r>
          </a:p>
        </p:txBody>
      </p:sp>
      <p:sp>
        <p:nvSpPr>
          <p:cNvPr id="146" name="TextBox 145">
            <a:extLst>
              <a:ext uri="{FF2B5EF4-FFF2-40B4-BE49-F238E27FC236}">
                <a16:creationId xmlns:a16="http://schemas.microsoft.com/office/drawing/2014/main" id="{C413B351-505A-8EEF-2648-9E490653264C}"/>
              </a:ext>
            </a:extLst>
          </p:cNvPr>
          <p:cNvSpPr txBox="1"/>
          <p:nvPr/>
        </p:nvSpPr>
        <p:spPr>
          <a:xfrm>
            <a:off x="3154680" y="5843016"/>
            <a:ext cx="8229600" cy="205441"/>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35" b="0">
                <a:solidFill>
                  <a:srgbClr val="35405A"/>
                </a:solidFill>
                <a:latin typeface="Aptos"/>
              </a:rPr>
              <a:t>Line not detected → use memory and search in the last known direction</a:t>
            </a:r>
          </a:p>
        </p:txBody>
      </p:sp>
      <p:sp>
        <p:nvSpPr>
          <p:cNvPr id="148" name="Rounded Rectangle 29">
            <a:extLst>
              <a:ext uri="{FF2B5EF4-FFF2-40B4-BE49-F238E27FC236}">
                <a16:creationId xmlns:a16="http://schemas.microsoft.com/office/drawing/2014/main" id="{AE71B882-48F0-AF9B-887D-FAC9B9076A50}"/>
              </a:ext>
            </a:extLst>
          </p:cNvPr>
          <p:cNvSpPr/>
          <p:nvPr/>
        </p:nvSpPr>
        <p:spPr>
          <a:xfrm>
            <a:off x="641909" y="6416345"/>
            <a:ext cx="11452860" cy="1069848"/>
          </a:xfrm>
          <a:prstGeom prst="roundRect">
            <a:avLst/>
          </a:prstGeom>
          <a:solidFill>
            <a:srgbClr val="E9EDF6"/>
          </a:solidFill>
          <a:ln>
            <a:solidFill>
              <a:srgbClr val="E9EDF6"/>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50" name="Rounded Rectangle 30">
            <a:extLst>
              <a:ext uri="{FF2B5EF4-FFF2-40B4-BE49-F238E27FC236}">
                <a16:creationId xmlns:a16="http://schemas.microsoft.com/office/drawing/2014/main" id="{8B691A20-5661-4964-387B-43F1BB4FA55F}"/>
              </a:ext>
            </a:extLst>
          </p:cNvPr>
          <p:cNvSpPr/>
          <p:nvPr/>
        </p:nvSpPr>
        <p:spPr>
          <a:xfrm>
            <a:off x="617220" y="6391656"/>
            <a:ext cx="11452860" cy="1069848"/>
          </a:xfrm>
          <a:prstGeom prst="roundRect">
            <a:avLst/>
          </a:prstGeom>
          <a:solidFill>
            <a:srgbClr val="FFFFFF"/>
          </a:solidFill>
          <a:ln w="8890">
            <a:solidFill>
              <a:srgbClr val="D9E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52" name="Rectangle 151">
            <a:extLst>
              <a:ext uri="{FF2B5EF4-FFF2-40B4-BE49-F238E27FC236}">
                <a16:creationId xmlns:a16="http://schemas.microsoft.com/office/drawing/2014/main" id="{6807D97A-90E5-3405-127F-423A7225021E}"/>
              </a:ext>
            </a:extLst>
          </p:cNvPr>
          <p:cNvSpPr/>
          <p:nvPr/>
        </p:nvSpPr>
        <p:spPr>
          <a:xfrm>
            <a:off x="617220" y="6391656"/>
            <a:ext cx="68580" cy="1069848"/>
          </a:xfrm>
          <a:prstGeom prst="rect">
            <a:avLst/>
          </a:prstGeom>
          <a:solidFill>
            <a:srgbClr val="60207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54" name="Oval 153">
            <a:extLst>
              <a:ext uri="{FF2B5EF4-FFF2-40B4-BE49-F238E27FC236}">
                <a16:creationId xmlns:a16="http://schemas.microsoft.com/office/drawing/2014/main" id="{6A326784-57B7-F89A-C7C3-A7ABBDCCFF8C}"/>
              </a:ext>
            </a:extLst>
          </p:cNvPr>
          <p:cNvSpPr/>
          <p:nvPr/>
        </p:nvSpPr>
        <p:spPr>
          <a:xfrm>
            <a:off x="1207008" y="6720840"/>
            <a:ext cx="425196" cy="425196"/>
          </a:xfrm>
          <a:prstGeom prst="ellipse">
            <a:avLst/>
          </a:prstGeom>
          <a:solidFill>
            <a:srgbClr val="FFFFFF"/>
          </a:solidFill>
          <a:ln w="12700">
            <a:solidFill>
              <a:srgbClr val="AEB8C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56" name="Oval 155">
            <a:extLst>
              <a:ext uri="{FF2B5EF4-FFF2-40B4-BE49-F238E27FC236}">
                <a16:creationId xmlns:a16="http://schemas.microsoft.com/office/drawing/2014/main" id="{BAACFB89-A502-8692-92C1-296FE905F73D}"/>
              </a:ext>
            </a:extLst>
          </p:cNvPr>
          <p:cNvSpPr/>
          <p:nvPr/>
        </p:nvSpPr>
        <p:spPr>
          <a:xfrm>
            <a:off x="1879092" y="6720840"/>
            <a:ext cx="425196" cy="425196"/>
          </a:xfrm>
          <a:prstGeom prst="ellipse">
            <a:avLst/>
          </a:prstGeom>
          <a:solidFill>
            <a:srgbClr val="050B18"/>
          </a:solidFill>
          <a:ln w="7620">
            <a:solidFill>
              <a:srgbClr val="050B18"/>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58" name="TextBox 157">
            <a:extLst>
              <a:ext uri="{FF2B5EF4-FFF2-40B4-BE49-F238E27FC236}">
                <a16:creationId xmlns:a16="http://schemas.microsoft.com/office/drawing/2014/main" id="{7A595982-03F3-FA12-C2D3-5210BD0FCEEF}"/>
              </a:ext>
            </a:extLst>
          </p:cNvPr>
          <p:cNvSpPr txBox="1"/>
          <p:nvPr/>
        </p:nvSpPr>
        <p:spPr>
          <a:xfrm>
            <a:off x="3154680" y="6638544"/>
            <a:ext cx="7680960" cy="30931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2010" b="1">
                <a:solidFill>
                  <a:srgbClr val="050B18"/>
                </a:solidFill>
                <a:latin typeface="Aptos"/>
              </a:rPr>
              <a:t>White + Black / Black + White</a:t>
            </a:r>
          </a:p>
        </p:txBody>
      </p:sp>
      <p:sp>
        <p:nvSpPr>
          <p:cNvPr id="160" name="TextBox 159">
            <a:extLst>
              <a:ext uri="{FF2B5EF4-FFF2-40B4-BE49-F238E27FC236}">
                <a16:creationId xmlns:a16="http://schemas.microsoft.com/office/drawing/2014/main" id="{FE109DCF-1DDE-C761-CB73-22FAD9A5D3DE}"/>
              </a:ext>
            </a:extLst>
          </p:cNvPr>
          <p:cNvSpPr txBox="1"/>
          <p:nvPr/>
        </p:nvSpPr>
        <p:spPr>
          <a:xfrm>
            <a:off x="3154680" y="7050024"/>
            <a:ext cx="8229600" cy="205441"/>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35" b="0">
                <a:solidFill>
                  <a:srgbClr val="35405A"/>
                </a:solidFill>
                <a:latin typeface="Aptos"/>
              </a:rPr>
              <a:t>One sensor detects the edge → differential speeds curve the car back</a:t>
            </a:r>
          </a:p>
        </p:txBody>
      </p:sp>
      <p:sp>
        <p:nvSpPr>
          <p:cNvPr id="162" name="Rounded Rectangle 36">
            <a:extLst>
              <a:ext uri="{FF2B5EF4-FFF2-40B4-BE49-F238E27FC236}">
                <a16:creationId xmlns:a16="http://schemas.microsoft.com/office/drawing/2014/main" id="{98107604-6AFA-5F7C-A1E9-648E910395D4}"/>
              </a:ext>
            </a:extLst>
          </p:cNvPr>
          <p:cNvSpPr/>
          <p:nvPr/>
        </p:nvSpPr>
        <p:spPr>
          <a:xfrm>
            <a:off x="641909" y="7623353"/>
            <a:ext cx="11452860" cy="1069848"/>
          </a:xfrm>
          <a:prstGeom prst="roundRect">
            <a:avLst/>
          </a:prstGeom>
          <a:solidFill>
            <a:srgbClr val="E9EDF6"/>
          </a:solidFill>
          <a:ln>
            <a:solidFill>
              <a:srgbClr val="E9EDF6"/>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64" name="Rounded Rectangle 37">
            <a:extLst>
              <a:ext uri="{FF2B5EF4-FFF2-40B4-BE49-F238E27FC236}">
                <a16:creationId xmlns:a16="http://schemas.microsoft.com/office/drawing/2014/main" id="{2762063C-5F1A-6635-9DA6-14E610E40F49}"/>
              </a:ext>
            </a:extLst>
          </p:cNvPr>
          <p:cNvSpPr/>
          <p:nvPr/>
        </p:nvSpPr>
        <p:spPr>
          <a:xfrm>
            <a:off x="617220" y="7598664"/>
            <a:ext cx="11452860" cy="1069848"/>
          </a:xfrm>
          <a:prstGeom prst="roundRect">
            <a:avLst/>
          </a:prstGeom>
          <a:solidFill>
            <a:srgbClr val="FFFFFF"/>
          </a:solidFill>
          <a:ln w="8890">
            <a:solidFill>
              <a:srgbClr val="D9E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66" name="Rectangle 165">
            <a:extLst>
              <a:ext uri="{FF2B5EF4-FFF2-40B4-BE49-F238E27FC236}">
                <a16:creationId xmlns:a16="http://schemas.microsoft.com/office/drawing/2014/main" id="{A6FC7CF2-6E81-E854-061E-8171A55B0422}"/>
              </a:ext>
            </a:extLst>
          </p:cNvPr>
          <p:cNvSpPr/>
          <p:nvPr/>
        </p:nvSpPr>
        <p:spPr>
          <a:xfrm>
            <a:off x="617220" y="7598664"/>
            <a:ext cx="68580" cy="1069848"/>
          </a:xfrm>
          <a:prstGeom prst="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68" name="Oval 167">
            <a:extLst>
              <a:ext uri="{FF2B5EF4-FFF2-40B4-BE49-F238E27FC236}">
                <a16:creationId xmlns:a16="http://schemas.microsoft.com/office/drawing/2014/main" id="{00568EAF-6C23-A17A-AE62-1F4E2FF72DF0}"/>
              </a:ext>
            </a:extLst>
          </p:cNvPr>
          <p:cNvSpPr/>
          <p:nvPr/>
        </p:nvSpPr>
        <p:spPr>
          <a:xfrm>
            <a:off x="1207008" y="7927848"/>
            <a:ext cx="425196" cy="425196"/>
          </a:xfrm>
          <a:prstGeom prst="ellipse">
            <a:avLst/>
          </a:prstGeom>
          <a:solidFill>
            <a:srgbClr val="050B18"/>
          </a:solidFill>
          <a:ln w="7620">
            <a:solidFill>
              <a:srgbClr val="050B18"/>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70" name="Oval 169">
            <a:extLst>
              <a:ext uri="{FF2B5EF4-FFF2-40B4-BE49-F238E27FC236}">
                <a16:creationId xmlns:a16="http://schemas.microsoft.com/office/drawing/2014/main" id="{DA752285-2BD1-0638-4E18-E3F2FA02840C}"/>
              </a:ext>
            </a:extLst>
          </p:cNvPr>
          <p:cNvSpPr/>
          <p:nvPr/>
        </p:nvSpPr>
        <p:spPr>
          <a:xfrm>
            <a:off x="1879092" y="7927848"/>
            <a:ext cx="425196" cy="425196"/>
          </a:xfrm>
          <a:prstGeom prst="ellipse">
            <a:avLst/>
          </a:prstGeom>
          <a:solidFill>
            <a:srgbClr val="050B18"/>
          </a:solidFill>
          <a:ln w="7620">
            <a:solidFill>
              <a:srgbClr val="050B18"/>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72" name="TextBox 171">
            <a:extLst>
              <a:ext uri="{FF2B5EF4-FFF2-40B4-BE49-F238E27FC236}">
                <a16:creationId xmlns:a16="http://schemas.microsoft.com/office/drawing/2014/main" id="{97A3FD4D-4B95-9F63-1E05-8FE33D82EBCE}"/>
              </a:ext>
            </a:extLst>
          </p:cNvPr>
          <p:cNvSpPr txBox="1"/>
          <p:nvPr/>
        </p:nvSpPr>
        <p:spPr>
          <a:xfrm>
            <a:off x="3154680" y="7845552"/>
            <a:ext cx="7680960" cy="30931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2010" b="1">
                <a:solidFill>
                  <a:srgbClr val="050B18"/>
                </a:solidFill>
                <a:latin typeface="Aptos"/>
              </a:rPr>
              <a:t>Black + Black</a:t>
            </a:r>
          </a:p>
        </p:txBody>
      </p:sp>
      <p:sp>
        <p:nvSpPr>
          <p:cNvPr id="174" name="TextBox 173">
            <a:extLst>
              <a:ext uri="{FF2B5EF4-FFF2-40B4-BE49-F238E27FC236}">
                <a16:creationId xmlns:a16="http://schemas.microsoft.com/office/drawing/2014/main" id="{8A2B8AE2-020F-93D1-24B3-25DCDC3A4B68}"/>
              </a:ext>
            </a:extLst>
          </p:cNvPr>
          <p:cNvSpPr txBox="1"/>
          <p:nvPr/>
        </p:nvSpPr>
        <p:spPr>
          <a:xfrm>
            <a:off x="3154680" y="8257032"/>
            <a:ext cx="8229600" cy="205441"/>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35" b="0">
                <a:solidFill>
                  <a:srgbClr val="35405A"/>
                </a:solidFill>
                <a:latin typeface="Aptos"/>
              </a:rPr>
              <a:t>Both sensors see the line → keep the car moving stable and straight</a:t>
            </a:r>
          </a:p>
        </p:txBody>
      </p:sp>
      <p:sp>
        <p:nvSpPr>
          <p:cNvPr id="176" name="Rounded Rectangle 43">
            <a:extLst>
              <a:ext uri="{FF2B5EF4-FFF2-40B4-BE49-F238E27FC236}">
                <a16:creationId xmlns:a16="http://schemas.microsoft.com/office/drawing/2014/main" id="{338CD215-1480-084D-5329-38C83B13FA9E}"/>
              </a:ext>
            </a:extLst>
          </p:cNvPr>
          <p:cNvSpPr/>
          <p:nvPr/>
        </p:nvSpPr>
        <p:spPr>
          <a:xfrm>
            <a:off x="641909" y="8857793"/>
            <a:ext cx="11452860" cy="617220"/>
          </a:xfrm>
          <a:prstGeom prst="roundRect">
            <a:avLst/>
          </a:prstGeom>
          <a:noFill/>
          <a:ln>
            <a:solidFill>
              <a:srgbClr val="E9EDF6"/>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78" name="Rounded Rectangle 44">
            <a:extLst>
              <a:ext uri="{FF2B5EF4-FFF2-40B4-BE49-F238E27FC236}">
                <a16:creationId xmlns:a16="http://schemas.microsoft.com/office/drawing/2014/main" id="{7E809ADE-3F0A-7147-03A0-B14618DD7D28}"/>
              </a:ext>
            </a:extLst>
          </p:cNvPr>
          <p:cNvSpPr/>
          <p:nvPr/>
        </p:nvSpPr>
        <p:spPr>
          <a:xfrm>
            <a:off x="617220" y="8833104"/>
            <a:ext cx="11452860" cy="617220"/>
          </a:xfrm>
          <a:prstGeom prst="roundRect">
            <a:avLst/>
          </a:prstGeom>
          <a:solidFill>
            <a:srgbClr val="E1E7F7">
              <a:alpha val="29000"/>
            </a:srgbClr>
          </a:solidFill>
          <a:ln w="8890">
            <a:solidFill>
              <a:srgbClr val="E1E7F7">
                <a:alpha val="16000"/>
              </a:srgb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80" name="Oval 179">
            <a:extLst>
              <a:ext uri="{FF2B5EF4-FFF2-40B4-BE49-F238E27FC236}">
                <a16:creationId xmlns:a16="http://schemas.microsoft.com/office/drawing/2014/main" id="{DD01192B-3507-CECE-38B1-66C04607FB70}"/>
              </a:ext>
            </a:extLst>
          </p:cNvPr>
          <p:cNvSpPr/>
          <p:nvPr/>
        </p:nvSpPr>
        <p:spPr>
          <a:xfrm>
            <a:off x="955983" y="9040883"/>
            <a:ext cx="274320" cy="274320"/>
          </a:xfrm>
          <a:prstGeom prst="ellipse">
            <a:avLst/>
          </a:prstGeom>
          <a:noFill/>
          <a:ln w="1397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350" b="1">
                <a:latin typeface="Aptos"/>
              </a:rPr>
              <a:t>i</a:t>
            </a:r>
            <a:endParaRPr lang="en-US" sz="1350" b="1">
              <a:latin typeface="Aptos"/>
            </a:endParaRPr>
          </a:p>
        </p:txBody>
      </p:sp>
      <p:sp>
        <p:nvSpPr>
          <p:cNvPr id="182" name="TextBox 181">
            <a:extLst>
              <a:ext uri="{FF2B5EF4-FFF2-40B4-BE49-F238E27FC236}">
                <a16:creationId xmlns:a16="http://schemas.microsoft.com/office/drawing/2014/main" id="{07DE94D4-21FC-4E6C-B92F-379E9DDB9C61}"/>
              </a:ext>
            </a:extLst>
          </p:cNvPr>
          <p:cNvSpPr txBox="1"/>
          <p:nvPr/>
        </p:nvSpPr>
        <p:spPr>
          <a:xfrm>
            <a:off x="1431145" y="9057912"/>
            <a:ext cx="10135687" cy="216982"/>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400" b="1">
                <a:latin typeface="Open Sans Bold"/>
                <a:ea typeface="Open Sans Bold"/>
                <a:cs typeface="Open Sans Bold"/>
              </a:rPr>
              <a:t>Extra tuning:</a:t>
            </a:r>
            <a:r>
              <a:rPr sz="1400" b="1">
                <a:solidFill>
                  <a:srgbClr val="602078"/>
                </a:solidFill>
                <a:latin typeface="Open Sans Bold"/>
                <a:ea typeface="Open Sans Bold"/>
                <a:cs typeface="Open Sans Bold"/>
              </a:rPr>
              <a:t> </a:t>
            </a:r>
            <a:r>
              <a:rPr sz="1400">
                <a:solidFill>
                  <a:srgbClr val="35405A"/>
                </a:solidFill>
                <a:latin typeface="Aptos"/>
              </a:rPr>
              <a:t>the IR potentiometer was adjusted to match the actual line width and surface contrast.</a:t>
            </a:r>
          </a:p>
        </p:txBody>
      </p:sp>
      <p:sp>
        <p:nvSpPr>
          <p:cNvPr id="186" name="TextBox 185">
            <a:extLst>
              <a:ext uri="{FF2B5EF4-FFF2-40B4-BE49-F238E27FC236}">
                <a16:creationId xmlns:a16="http://schemas.microsoft.com/office/drawing/2014/main" id="{B84D8B7C-D708-BA7D-61CE-C566F946EC90}"/>
              </a:ext>
            </a:extLst>
          </p:cNvPr>
          <p:cNvSpPr txBox="1"/>
          <p:nvPr/>
        </p:nvSpPr>
        <p:spPr>
          <a:xfrm>
            <a:off x="617220" y="1399032"/>
            <a:ext cx="11795760" cy="108183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nSpc>
                <a:spcPct val="86000"/>
              </a:lnSpc>
            </a:pPr>
            <a:r>
              <a:rPr sz="4050" b="1">
                <a:solidFill>
                  <a:srgbClr val="050B18"/>
                </a:solidFill>
                <a:latin typeface="Aptos Display"/>
              </a:rPr>
              <a:t>Code Implementation,</a:t>
            </a:r>
          </a:p>
          <a:p>
            <a:pPr>
              <a:lnSpc>
                <a:spcPct val="86000"/>
              </a:lnSpc>
            </a:pPr>
            <a:r>
              <a:rPr sz="4050" b="1">
                <a:solidFill>
                  <a:srgbClr val="050B18"/>
                </a:solidFill>
                <a:latin typeface="Aptos Display"/>
              </a:rPr>
              <a:t>Testing and Evaluation</a:t>
            </a:r>
          </a:p>
        </p:txBody>
      </p:sp>
      <p:sp>
        <p:nvSpPr>
          <p:cNvPr id="188" name="Chevron 13">
            <a:extLst>
              <a:ext uri="{FF2B5EF4-FFF2-40B4-BE49-F238E27FC236}">
                <a16:creationId xmlns:a16="http://schemas.microsoft.com/office/drawing/2014/main" id="{6C7BFD87-87C9-D9DA-C26C-2DF0EF70BD2A}"/>
              </a:ext>
            </a:extLst>
          </p:cNvPr>
          <p:cNvSpPr/>
          <p:nvPr/>
        </p:nvSpPr>
        <p:spPr>
          <a:xfrm>
            <a:off x="626581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90" name="Rounded Rectangle 14">
            <a:extLst>
              <a:ext uri="{FF2B5EF4-FFF2-40B4-BE49-F238E27FC236}">
                <a16:creationId xmlns:a16="http://schemas.microsoft.com/office/drawing/2014/main" id="{25AEA1BD-9E05-16C5-C36D-FB7FE0118CE7}"/>
              </a:ext>
            </a:extLst>
          </p:cNvPr>
          <p:cNvSpPr/>
          <p:nvPr/>
        </p:nvSpPr>
        <p:spPr>
          <a:xfrm>
            <a:off x="660871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92" name="Rounded Rectangle 15">
            <a:extLst>
              <a:ext uri="{FF2B5EF4-FFF2-40B4-BE49-F238E27FC236}">
                <a16:creationId xmlns:a16="http://schemas.microsoft.com/office/drawing/2014/main" id="{AA50B2B2-C9A0-CBFB-CA1D-E757F003A83A}"/>
              </a:ext>
            </a:extLst>
          </p:cNvPr>
          <p:cNvSpPr/>
          <p:nvPr/>
        </p:nvSpPr>
        <p:spPr>
          <a:xfrm>
            <a:off x="6828173" y="3808694"/>
            <a:ext cx="384048" cy="315468"/>
          </a:xfrm>
          <a:prstGeom prst="round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3</a:t>
            </a:r>
          </a:p>
        </p:txBody>
      </p:sp>
      <p:sp>
        <p:nvSpPr>
          <p:cNvPr id="194" name="TextBox 193">
            <a:extLst>
              <a:ext uri="{FF2B5EF4-FFF2-40B4-BE49-F238E27FC236}">
                <a16:creationId xmlns:a16="http://schemas.microsoft.com/office/drawing/2014/main" id="{03AFE5D3-4114-F4D9-6AEE-DE5E1EC2872E}"/>
              </a:ext>
            </a:extLst>
          </p:cNvPr>
          <p:cNvSpPr txBox="1"/>
          <p:nvPr/>
        </p:nvSpPr>
        <p:spPr>
          <a:xfrm>
            <a:off x="739052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79" b="1">
                <a:solidFill>
                  <a:srgbClr val="050B18"/>
                </a:solidFill>
                <a:latin typeface="Aptos"/>
              </a:rPr>
              <a:t>Adjust motors</a:t>
            </a:r>
          </a:p>
        </p:txBody>
      </p:sp>
      <p:sp>
        <p:nvSpPr>
          <p:cNvPr id="196" name="Chevron 17">
            <a:extLst>
              <a:ext uri="{FF2B5EF4-FFF2-40B4-BE49-F238E27FC236}">
                <a16:creationId xmlns:a16="http://schemas.microsoft.com/office/drawing/2014/main" id="{38FD2E02-EF73-12F9-5E10-5AF7E4E4A027}"/>
              </a:ext>
            </a:extLst>
          </p:cNvPr>
          <p:cNvSpPr/>
          <p:nvPr/>
        </p:nvSpPr>
        <p:spPr>
          <a:xfrm>
            <a:off x="928333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98" name="Rounded Rectangle 18">
            <a:extLst>
              <a:ext uri="{FF2B5EF4-FFF2-40B4-BE49-F238E27FC236}">
                <a16:creationId xmlns:a16="http://schemas.microsoft.com/office/drawing/2014/main" id="{338408FA-AE8F-7B01-ED02-4A68E4F4B661}"/>
              </a:ext>
            </a:extLst>
          </p:cNvPr>
          <p:cNvSpPr/>
          <p:nvPr/>
        </p:nvSpPr>
        <p:spPr>
          <a:xfrm>
            <a:off x="962623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200" name="Rounded Rectangle 19">
            <a:extLst>
              <a:ext uri="{FF2B5EF4-FFF2-40B4-BE49-F238E27FC236}">
                <a16:creationId xmlns:a16="http://schemas.microsoft.com/office/drawing/2014/main" id="{0D4A9AAE-3E39-CA75-1650-BF0B99B7B42C}"/>
              </a:ext>
            </a:extLst>
          </p:cNvPr>
          <p:cNvSpPr/>
          <p:nvPr/>
        </p:nvSpPr>
        <p:spPr>
          <a:xfrm>
            <a:off x="9845693" y="3808694"/>
            <a:ext cx="384048" cy="315468"/>
          </a:xfrm>
          <a:prstGeom prst="roundRect">
            <a:avLst/>
          </a:prstGeom>
          <a:solidFill>
            <a:srgbClr val="6020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4</a:t>
            </a:r>
          </a:p>
        </p:txBody>
      </p:sp>
      <p:sp>
        <p:nvSpPr>
          <p:cNvPr id="202" name="TextBox 201">
            <a:extLst>
              <a:ext uri="{FF2B5EF4-FFF2-40B4-BE49-F238E27FC236}">
                <a16:creationId xmlns:a16="http://schemas.microsoft.com/office/drawing/2014/main" id="{2DA1E580-482D-58DC-34B2-0BF8DB1E5D05}"/>
              </a:ext>
            </a:extLst>
          </p:cNvPr>
          <p:cNvSpPr txBox="1"/>
          <p:nvPr/>
        </p:nvSpPr>
        <p:spPr>
          <a:xfrm>
            <a:off x="1040804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sz="1379" b="1">
                <a:solidFill>
                  <a:srgbClr val="050B18"/>
                </a:solidFill>
                <a:latin typeface="Aptos"/>
              </a:rPr>
              <a:t>Realign</a:t>
            </a:r>
          </a:p>
        </p:txBody>
      </p:sp>
      <p:sp>
        <p:nvSpPr>
          <p:cNvPr id="204" name="Freeform 8">
            <a:extLst>
              <a:ext uri="{FF2B5EF4-FFF2-40B4-BE49-F238E27FC236}">
                <a16:creationId xmlns:a16="http://schemas.microsoft.com/office/drawing/2014/main" id="{68565606-B7F0-9358-B7FD-0E23027FFEF1}"/>
              </a:ext>
            </a:extLst>
          </p:cNvPr>
          <p:cNvSpPr/>
          <p:nvPr/>
        </p:nvSpPr>
        <p:spPr>
          <a:xfrm>
            <a:off x="5517336" y="-6334775"/>
            <a:ext cx="12550700" cy="847997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11">
              <a:alphaModFix amt="55000"/>
            </a:blip>
            <a:stretch>
              <a:fillRect/>
            </a:stretch>
          </a:blipFill>
        </p:spPr>
        <p:txBody>
          <a:bodyPr/>
          <a:lstStyle/>
          <a:p>
            <a:endParaRPr lang="en-US"/>
          </a:p>
        </p:txBody>
      </p:sp>
      <p:sp>
        <p:nvSpPr>
          <p:cNvPr id="206" name="Freeform 8">
            <a:extLst>
              <a:ext uri="{FF2B5EF4-FFF2-40B4-BE49-F238E27FC236}">
                <a16:creationId xmlns:a16="http://schemas.microsoft.com/office/drawing/2014/main" id="{BCE30404-B435-0546-6073-62085BE4E7D6}"/>
              </a:ext>
            </a:extLst>
          </p:cNvPr>
          <p:cNvSpPr/>
          <p:nvPr/>
        </p:nvSpPr>
        <p:spPr>
          <a:xfrm rot="600000">
            <a:off x="13085454" y="-6458545"/>
            <a:ext cx="8980185" cy="855617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11">
              <a:alphaModFix amt="55000"/>
            </a:blip>
            <a:stretch>
              <a:fillRect/>
            </a:stretch>
          </a:blipFill>
        </p:spPr>
        <p:txBody>
          <a:bodyPr/>
          <a:lstStyle/>
          <a:p>
            <a:endParaRPr lang="en-US"/>
          </a:p>
        </p:txBody>
      </p:sp>
    </p:spTree>
    <p:extLst>
      <p:ext uri="{BB962C8B-B14F-4D97-AF65-F5344CB8AC3E}">
        <p14:creationId xmlns:p14="http://schemas.microsoft.com/office/powerpoint/2010/main" val="247630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760" fill="hold"/>
                                        <p:tgtEl>
                                          <p:spTgt spid="2"/>
                                        </p:tgtEl>
                                      </p:cBhvr>
                                    </p:cmd>
                                  </p:childTnLst>
                                </p:cTn>
                              </p:par>
                            </p:childTnLst>
                          </p:cTn>
                        </p:par>
                        <p:par>
                          <p:cTn id="7" fill="hold">
                            <p:stCondLst>
                              <p:cond delay="25760"/>
                            </p:stCondLst>
                            <p:childTnLst>
                              <p:par>
                                <p:cTn id="8" presetID="1" presetClass="mediacall" presetSubtype="0" fill="hold" nodeType="afterEffect">
                                  <p:stCondLst>
                                    <p:cond delay="0"/>
                                  </p:stCondLst>
                                  <p:childTnLst>
                                    <p:cmd type="call" cmd="playFrom(0.0)">
                                      <p:cBhvr>
                                        <p:cTn id="9" dur="40167"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2"/>
                </p:tgtEl>
              </p:cMediaNode>
            </p:video>
            <p:seq concurrent="1" nextAc="seek">
              <p:cTn id="11" restart="whenNotActive" fill="hold" evtFilter="cancelBubble" nodeType="interactiveSeq">
                <p:stCondLst>
                  <p:cond evt="onClick" delay="0">
                    <p:tgtEl>
                      <p:spTgt spid="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2"/>
                                        </p:tgtEl>
                                      </p:cBhvr>
                                    </p:cmd>
                                  </p:childTnLst>
                                </p:cTn>
                              </p:par>
                            </p:childTnLst>
                          </p:cTn>
                        </p:par>
                      </p:childTnLst>
                    </p:cTn>
                  </p:par>
                </p:childTnLst>
              </p:cTn>
              <p:nextCondLst>
                <p:cond evt="onClick" delay="0">
                  <p:tgtEl>
                    <p:spTgt spid="2"/>
                  </p:tgtEl>
                </p:cond>
              </p:nextCondLst>
            </p:seq>
            <p:video>
              <p:cMediaNode vol="80000">
                <p:cTn id="16" repeatCount="indefinite" fill="hold" display="0">
                  <p:stCondLst>
                    <p:cond delay="indefinite"/>
                  </p:stCondLst>
                </p:cTn>
                <p:tgtEl>
                  <p:spTgt spid="49"/>
                </p:tgtEl>
              </p:cMediaNode>
            </p:video>
            <p:seq concurrent="1" nextAc="seek">
              <p:cTn id="17" restart="whenNotActive" fill="hold" evtFilter="cancelBubble" nodeType="interactiveSeq">
                <p:stCondLst>
                  <p:cond evt="onClick" delay="0">
                    <p:tgtEl>
                      <p:spTgt spid="49"/>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9"/>
                                        </p:tgtEl>
                                      </p:cBhvr>
                                    </p:cmd>
                                  </p:childTnLst>
                                </p:cTn>
                              </p:par>
                            </p:childTnLst>
                          </p:cTn>
                        </p:par>
                      </p:childTnLst>
                    </p:cTn>
                  </p:par>
                </p:childTnLst>
              </p:cTn>
              <p:nextCondLst>
                <p:cond evt="onClick" delay="0">
                  <p:tgtEl>
                    <p:spTgt spid="4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6598-40DF-A0CB-8F3A-B063AF60C98D}"/>
            </a:ext>
          </a:extLst>
        </p:cNvPr>
        <p:cNvGrpSpPr/>
        <p:nvPr/>
      </p:nvGrpSpPr>
      <p:grpSpPr>
        <a:xfrm>
          <a:off x="0" y="0"/>
          <a:ext cx="0" cy="0"/>
          <a:chOff x="0" y="0"/>
          <a:chExt cx="0" cy="0"/>
        </a:xfrm>
      </p:grpSpPr>
      <p:sp>
        <p:nvSpPr>
          <p:cNvPr id="45" name="Shape 43">
            <a:extLst>
              <a:ext uri="{FF2B5EF4-FFF2-40B4-BE49-F238E27FC236}">
                <a16:creationId xmlns:a16="http://schemas.microsoft.com/office/drawing/2014/main" id="{C1AA8B99-3036-F0B2-6035-2AD92D38E5BA}"/>
              </a:ext>
            </a:extLst>
          </p:cNvPr>
          <p:cNvSpPr/>
          <p:nvPr/>
        </p:nvSpPr>
        <p:spPr>
          <a:xfrm>
            <a:off x="12471764" y="1138008"/>
            <a:ext cx="0" cy="8435340"/>
          </a:xfrm>
          <a:prstGeom prst="line">
            <a:avLst/>
          </a:prstGeom>
          <a:noFill/>
          <a:ln w="15240">
            <a:solidFill>
              <a:srgbClr val="E2E8F0"/>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46" name="Text 44">
            <a:extLst>
              <a:ext uri="{FF2B5EF4-FFF2-40B4-BE49-F238E27FC236}">
                <a16:creationId xmlns:a16="http://schemas.microsoft.com/office/drawing/2014/main" id="{FCEC55D1-CAE4-EB63-C091-17C47AB655E0}"/>
              </a:ext>
            </a:extLst>
          </p:cNvPr>
          <p:cNvSpPr/>
          <p:nvPr/>
        </p:nvSpPr>
        <p:spPr>
          <a:xfrm>
            <a:off x="12783312" y="1077825"/>
            <a:ext cx="4526280" cy="411480"/>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550" b="1">
                <a:solidFill>
                  <a:srgbClr val="0F172A"/>
                </a:solidFill>
              </a:rPr>
              <a:t>Testing Videos</a:t>
            </a:r>
            <a:endParaRPr lang="en-US" sz="2550"/>
          </a:p>
        </p:txBody>
      </p:sp>
      <p:sp>
        <p:nvSpPr>
          <p:cNvPr id="51" name="Shape 49">
            <a:extLst>
              <a:ext uri="{FF2B5EF4-FFF2-40B4-BE49-F238E27FC236}">
                <a16:creationId xmlns:a16="http://schemas.microsoft.com/office/drawing/2014/main" id="{D45341F0-F028-7363-4159-1D652AB5688B}"/>
              </a:ext>
            </a:extLst>
          </p:cNvPr>
          <p:cNvSpPr/>
          <p:nvPr/>
        </p:nvSpPr>
        <p:spPr>
          <a:xfrm rot="5400000">
            <a:off x="15183612" y="2948940"/>
            <a:ext cx="246888" cy="329184"/>
          </a:xfrm>
          <a:prstGeom prst="triangle">
            <a:avLst/>
          </a:prstGeom>
          <a:solidFill>
            <a:srgbClr val="FFFFFF"/>
          </a:solidFill>
          <a:ln w="12700">
            <a:solidFill>
              <a:srgbClr val="FFFFFF"/>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52" name="Text 50">
            <a:extLst>
              <a:ext uri="{FF2B5EF4-FFF2-40B4-BE49-F238E27FC236}">
                <a16:creationId xmlns:a16="http://schemas.microsoft.com/office/drawing/2014/main" id="{3645F8FF-F302-635F-9563-6283DAA8398E}"/>
              </a:ext>
            </a:extLst>
          </p:cNvPr>
          <p:cNvSpPr/>
          <p:nvPr/>
        </p:nvSpPr>
        <p:spPr>
          <a:xfrm>
            <a:off x="12111228" y="4986260"/>
            <a:ext cx="4251960" cy="301752"/>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75" b="1">
                <a:solidFill>
                  <a:srgbClr val="0F172A"/>
                </a:solidFill>
              </a:rPr>
              <a:t>Failure video: </a:t>
            </a:r>
            <a:endParaRPr lang="en-US" sz="1875"/>
          </a:p>
        </p:txBody>
      </p:sp>
      <p:sp>
        <p:nvSpPr>
          <p:cNvPr id="53" name="Text 51">
            <a:extLst>
              <a:ext uri="{FF2B5EF4-FFF2-40B4-BE49-F238E27FC236}">
                <a16:creationId xmlns:a16="http://schemas.microsoft.com/office/drawing/2014/main" id="{DA4A3B5D-7332-9F39-F0BA-CB0D30F82FA9}"/>
              </a:ext>
            </a:extLst>
          </p:cNvPr>
          <p:cNvSpPr/>
          <p:nvPr/>
        </p:nvSpPr>
        <p:spPr>
          <a:xfrm>
            <a:off x="13712520" y="5019299"/>
            <a:ext cx="4251960" cy="246888"/>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400" dirty="0">
                <a:solidFill>
                  <a:srgbClr val="475569"/>
                </a:solidFill>
                <a:ea typeface="+mn-lt"/>
                <a:cs typeface="+mn-lt"/>
              </a:rPr>
              <a:t> Inaccurate avoidance</a:t>
            </a:r>
            <a:endParaRPr lang="en-US" dirty="0"/>
          </a:p>
        </p:txBody>
      </p:sp>
      <p:sp>
        <p:nvSpPr>
          <p:cNvPr id="57" name="Shape 55">
            <a:extLst>
              <a:ext uri="{FF2B5EF4-FFF2-40B4-BE49-F238E27FC236}">
                <a16:creationId xmlns:a16="http://schemas.microsoft.com/office/drawing/2014/main" id="{9C4DA267-B7ED-A7CB-2089-D11617398725}"/>
              </a:ext>
            </a:extLst>
          </p:cNvPr>
          <p:cNvSpPr/>
          <p:nvPr/>
        </p:nvSpPr>
        <p:spPr>
          <a:xfrm rot="5400000">
            <a:off x="15183612" y="6830568"/>
            <a:ext cx="246888" cy="329184"/>
          </a:xfrm>
          <a:prstGeom prst="triangle">
            <a:avLst/>
          </a:prstGeom>
          <a:solidFill>
            <a:srgbClr val="FFFFFF"/>
          </a:solidFill>
          <a:ln w="12700">
            <a:solidFill>
              <a:srgbClr val="FFFFFF"/>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58" name="Text 56">
            <a:extLst>
              <a:ext uri="{FF2B5EF4-FFF2-40B4-BE49-F238E27FC236}">
                <a16:creationId xmlns:a16="http://schemas.microsoft.com/office/drawing/2014/main" id="{9D23CDA9-8448-DA9B-0D5C-FCD53D0DB803}"/>
              </a:ext>
            </a:extLst>
          </p:cNvPr>
          <p:cNvSpPr/>
          <p:nvPr/>
        </p:nvSpPr>
        <p:spPr>
          <a:xfrm>
            <a:off x="12111228" y="9178043"/>
            <a:ext cx="4251960" cy="301752"/>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75" b="1">
                <a:solidFill>
                  <a:srgbClr val="0F172A"/>
                </a:solidFill>
              </a:rPr>
              <a:t>Improved video:</a:t>
            </a:r>
            <a:endParaRPr lang="en-US" sz="1875"/>
          </a:p>
        </p:txBody>
      </p:sp>
      <p:sp>
        <p:nvSpPr>
          <p:cNvPr id="59" name="Text 57">
            <a:extLst>
              <a:ext uri="{FF2B5EF4-FFF2-40B4-BE49-F238E27FC236}">
                <a16:creationId xmlns:a16="http://schemas.microsoft.com/office/drawing/2014/main" id="{0E782BE4-B4B5-6AB8-C688-34BBB0D03BEC}"/>
              </a:ext>
            </a:extLst>
          </p:cNvPr>
          <p:cNvSpPr/>
          <p:nvPr/>
        </p:nvSpPr>
        <p:spPr>
          <a:xfrm>
            <a:off x="14025497" y="9205397"/>
            <a:ext cx="4251960" cy="246888"/>
          </a:xfrm>
          <a:prstGeom prst="rect">
            <a:avLst/>
          </a:prstGeom>
          <a:noFill/>
          <a:ln/>
        </p:spPr>
        <p:txBody>
          <a:bodyPr wrap="square" lIns="0" tIns="0" rIns="0" bIns="0" rtlCol="0" anchor="ct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algn="ctr"/>
            <a:r>
              <a:rPr lang="en-US" sz="1400">
                <a:solidFill>
                  <a:srgbClr val="475569"/>
                </a:solidFill>
                <a:ea typeface="+mn-lt"/>
                <a:cs typeface="+mn-lt"/>
              </a:rPr>
              <a:t>    Smoother rejoin &amp; avoidance</a:t>
            </a:r>
            <a:endParaRPr lang="en-US"/>
          </a:p>
        </p:txBody>
      </p:sp>
      <p:sp>
        <p:nvSpPr>
          <p:cNvPr id="56" name="Freeform 9">
            <a:extLst>
              <a:ext uri="{FF2B5EF4-FFF2-40B4-BE49-F238E27FC236}">
                <a16:creationId xmlns:a16="http://schemas.microsoft.com/office/drawing/2014/main" id="{6EDBF747-BBAB-EB1F-E111-EB81165DF821}"/>
              </a:ext>
            </a:extLst>
          </p:cNvPr>
          <p:cNvSpPr/>
          <p:nvPr/>
        </p:nvSpPr>
        <p:spPr>
          <a:xfrm rot="960000">
            <a:off x="15170147" y="7614166"/>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7">
              <a:alphaModFix amt="67000"/>
            </a:blip>
            <a:stretch>
              <a:fillRect/>
            </a:stretch>
          </a:blipFill>
        </p:spPr>
        <p:txBody>
          <a:bodyPr/>
          <a:lstStyle/>
          <a:p>
            <a:endParaRPr lang="en-US"/>
          </a:p>
        </p:txBody>
      </p:sp>
      <p:pic>
        <p:nvPicPr>
          <p:cNvPr id="65" name="Picture 64" descr="A purple and blue cross&#10;&#10;AI-generated content may be incorrect.">
            <a:extLst>
              <a:ext uri="{FF2B5EF4-FFF2-40B4-BE49-F238E27FC236}">
                <a16:creationId xmlns:a16="http://schemas.microsoft.com/office/drawing/2014/main" id="{4E887DB8-73EB-6D47-9325-DFAF196883A0}"/>
              </a:ext>
            </a:extLst>
          </p:cNvPr>
          <p:cNvPicPr>
            <a:picLocks noChangeAspect="1"/>
          </p:cNvPicPr>
          <p:nvPr/>
        </p:nvPicPr>
        <p:blipFill>
          <a:blip r:embed="rId8"/>
          <a:srcRect t="-926" b="35617"/>
          <a:stretch>
            <a:fillRect/>
          </a:stretch>
        </p:blipFill>
        <p:spPr>
          <a:xfrm>
            <a:off x="544286" y="544286"/>
            <a:ext cx="1186544" cy="564762"/>
          </a:xfrm>
          <a:prstGeom prst="rect">
            <a:avLst/>
          </a:prstGeom>
        </p:spPr>
      </p:pic>
      <p:sp>
        <p:nvSpPr>
          <p:cNvPr id="67" name="SK-7-text-12">
            <a:extLst>
              <a:ext uri="{FF2B5EF4-FFF2-40B4-BE49-F238E27FC236}">
                <a16:creationId xmlns:a16="http://schemas.microsoft.com/office/drawing/2014/main" id="{38831706-7004-FF61-D6ED-1AAB0EB8FE0A}"/>
              </a:ext>
            </a:extLst>
          </p:cNvPr>
          <p:cNvSpPr/>
          <p:nvPr/>
        </p:nvSpPr>
        <p:spPr>
          <a:xfrm>
            <a:off x="1727200" y="742788"/>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69" name="SK-7-text-13">
            <a:extLst>
              <a:ext uri="{FF2B5EF4-FFF2-40B4-BE49-F238E27FC236}">
                <a16:creationId xmlns:a16="http://schemas.microsoft.com/office/drawing/2014/main" id="{4FF75F99-E8AB-6C1F-5EDA-E545A467A70A}"/>
              </a:ext>
            </a:extLst>
          </p:cNvPr>
          <p:cNvSpPr/>
          <p:nvPr/>
        </p:nvSpPr>
        <p:spPr>
          <a:xfrm>
            <a:off x="1727200" y="907392"/>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186" name="TextBox 185">
            <a:extLst>
              <a:ext uri="{FF2B5EF4-FFF2-40B4-BE49-F238E27FC236}">
                <a16:creationId xmlns:a16="http://schemas.microsoft.com/office/drawing/2014/main" id="{AA9FAD39-FD1D-20A8-F57D-23A27627E69D}"/>
              </a:ext>
            </a:extLst>
          </p:cNvPr>
          <p:cNvSpPr txBox="1"/>
          <p:nvPr/>
        </p:nvSpPr>
        <p:spPr>
          <a:xfrm>
            <a:off x="617220" y="1399032"/>
            <a:ext cx="11795760" cy="108183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nSpc>
                <a:spcPct val="86000"/>
              </a:lnSpc>
            </a:pPr>
            <a:r>
              <a:rPr sz="4050" b="1">
                <a:solidFill>
                  <a:srgbClr val="050B18"/>
                </a:solidFill>
                <a:latin typeface="Aptos Display"/>
              </a:rPr>
              <a:t>Code Implementation,</a:t>
            </a:r>
          </a:p>
          <a:p>
            <a:pPr>
              <a:lnSpc>
                <a:spcPct val="86000"/>
              </a:lnSpc>
            </a:pPr>
            <a:r>
              <a:rPr sz="4050" b="1">
                <a:solidFill>
                  <a:srgbClr val="050B18"/>
                </a:solidFill>
                <a:latin typeface="Aptos Display"/>
              </a:rPr>
              <a:t>Testing and Evaluation</a:t>
            </a:r>
          </a:p>
        </p:txBody>
      </p:sp>
      <p:sp>
        <p:nvSpPr>
          <p:cNvPr id="204" name="Freeform 8">
            <a:extLst>
              <a:ext uri="{FF2B5EF4-FFF2-40B4-BE49-F238E27FC236}">
                <a16:creationId xmlns:a16="http://schemas.microsoft.com/office/drawing/2014/main" id="{E5674089-F174-3A2F-1DFF-FEC069D90C44}"/>
              </a:ext>
            </a:extLst>
          </p:cNvPr>
          <p:cNvSpPr/>
          <p:nvPr/>
        </p:nvSpPr>
        <p:spPr>
          <a:xfrm>
            <a:off x="5517336" y="-6334775"/>
            <a:ext cx="12550700" cy="847997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9">
              <a:alphaModFix amt="55000"/>
            </a:blip>
            <a:stretch>
              <a:fillRect/>
            </a:stretch>
          </a:blipFill>
        </p:spPr>
        <p:txBody>
          <a:bodyPr/>
          <a:lstStyle/>
          <a:p>
            <a:endParaRPr lang="en-US"/>
          </a:p>
        </p:txBody>
      </p:sp>
      <p:sp>
        <p:nvSpPr>
          <p:cNvPr id="206" name="Freeform 8">
            <a:extLst>
              <a:ext uri="{FF2B5EF4-FFF2-40B4-BE49-F238E27FC236}">
                <a16:creationId xmlns:a16="http://schemas.microsoft.com/office/drawing/2014/main" id="{52623289-D92F-AE61-6348-6DDCAFAA81E4}"/>
              </a:ext>
            </a:extLst>
          </p:cNvPr>
          <p:cNvSpPr/>
          <p:nvPr/>
        </p:nvSpPr>
        <p:spPr>
          <a:xfrm rot="600000">
            <a:off x="13085454" y="-6458545"/>
            <a:ext cx="8980185" cy="855617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9">
              <a:alphaModFix amt="55000"/>
            </a:blip>
            <a:stretch>
              <a:fillRect/>
            </a:stretch>
          </a:blipFill>
        </p:spPr>
        <p:txBody>
          <a:bodyPr/>
          <a:lstStyle/>
          <a:p>
            <a:endParaRPr lang="en-US"/>
          </a:p>
        </p:txBody>
      </p:sp>
      <p:sp>
        <p:nvSpPr>
          <p:cNvPr id="6" name="TextBox 5">
            <a:extLst>
              <a:ext uri="{FF2B5EF4-FFF2-40B4-BE49-F238E27FC236}">
                <a16:creationId xmlns:a16="http://schemas.microsoft.com/office/drawing/2014/main" id="{DEDCF8C4-59A5-80EC-2B1B-7F1101CD5182}"/>
              </a:ext>
            </a:extLst>
          </p:cNvPr>
          <p:cNvSpPr txBox="1"/>
          <p:nvPr/>
        </p:nvSpPr>
        <p:spPr>
          <a:xfrm>
            <a:off x="617220" y="2811779"/>
            <a:ext cx="5212080" cy="357790"/>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2300" b="1">
                <a:solidFill>
                  <a:srgbClr val="050B18"/>
                </a:solidFill>
                <a:latin typeface="Aptos"/>
              </a:rPr>
              <a:t>Obstacle Avoidance</a:t>
            </a:r>
            <a:r>
              <a:rPr sz="2300" b="1">
                <a:solidFill>
                  <a:srgbClr val="050B18"/>
                </a:solidFill>
                <a:latin typeface="Aptos"/>
              </a:rPr>
              <a:t> Logic</a:t>
            </a:r>
          </a:p>
        </p:txBody>
      </p:sp>
      <p:sp>
        <p:nvSpPr>
          <p:cNvPr id="8" name="TextBox 7">
            <a:extLst>
              <a:ext uri="{FF2B5EF4-FFF2-40B4-BE49-F238E27FC236}">
                <a16:creationId xmlns:a16="http://schemas.microsoft.com/office/drawing/2014/main" id="{F18A0249-B821-67E0-FF7C-55F1FF5E9DFE}"/>
              </a:ext>
            </a:extLst>
          </p:cNvPr>
          <p:cNvSpPr txBox="1"/>
          <p:nvPr/>
        </p:nvSpPr>
        <p:spPr>
          <a:xfrm>
            <a:off x="617220" y="3209544"/>
            <a:ext cx="11178540" cy="249299"/>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1600">
                <a:solidFill>
                  <a:srgbClr val="35405A"/>
                </a:solidFill>
                <a:ea typeface="+mn-lt"/>
                <a:cs typeface="+mn-lt"/>
              </a:rPr>
              <a:t>Obstacle detection</a:t>
            </a:r>
            <a:r>
              <a:rPr lang="en-US" sz="1600" b="0">
                <a:solidFill>
                  <a:srgbClr val="35405A"/>
                </a:solidFill>
                <a:ea typeface="+mn-lt"/>
                <a:cs typeface="+mn-lt"/>
              </a:rPr>
              <a:t>, </a:t>
            </a:r>
            <a:r>
              <a:rPr lang="en-US" sz="1600">
                <a:solidFill>
                  <a:srgbClr val="35405A"/>
                </a:solidFill>
                <a:ea typeface="+mn-lt"/>
                <a:cs typeface="+mn-lt"/>
              </a:rPr>
              <a:t>avoidance sequence</a:t>
            </a:r>
            <a:r>
              <a:rPr lang="en-US" sz="1600" b="0">
                <a:solidFill>
                  <a:srgbClr val="35405A"/>
                </a:solidFill>
                <a:ea typeface="+mn-lt"/>
                <a:cs typeface="+mn-lt"/>
              </a:rPr>
              <a:t>, and </a:t>
            </a:r>
            <a:r>
              <a:rPr lang="en-US" sz="1600">
                <a:solidFill>
                  <a:srgbClr val="35405A"/>
                </a:solidFill>
                <a:ea typeface="+mn-lt"/>
                <a:cs typeface="+mn-lt"/>
              </a:rPr>
              <a:t>line recovery using ultrasonic and IR sensor feedback </a:t>
            </a:r>
            <a:endParaRPr lang="en-US"/>
          </a:p>
        </p:txBody>
      </p:sp>
      <p:sp>
        <p:nvSpPr>
          <p:cNvPr id="10" name="Rounded Rectangle 6">
            <a:extLst>
              <a:ext uri="{FF2B5EF4-FFF2-40B4-BE49-F238E27FC236}">
                <a16:creationId xmlns:a16="http://schemas.microsoft.com/office/drawing/2014/main" id="{76A2DC39-44A3-6CB9-29F0-C977F78B66FF}"/>
              </a:ext>
            </a:extLst>
          </p:cNvPr>
          <p:cNvSpPr/>
          <p:nvPr/>
        </p:nvSpPr>
        <p:spPr>
          <a:xfrm>
            <a:off x="57367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2" name="Rounded Rectangle 7">
            <a:extLst>
              <a:ext uri="{FF2B5EF4-FFF2-40B4-BE49-F238E27FC236}">
                <a16:creationId xmlns:a16="http://schemas.microsoft.com/office/drawing/2014/main" id="{2BD6E990-4F62-A13F-669C-EDBDCA38CCAE}"/>
              </a:ext>
            </a:extLst>
          </p:cNvPr>
          <p:cNvSpPr/>
          <p:nvPr/>
        </p:nvSpPr>
        <p:spPr>
          <a:xfrm>
            <a:off x="793133" y="3808694"/>
            <a:ext cx="384048" cy="315468"/>
          </a:xfrm>
          <a:prstGeom prst="round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1</a:t>
            </a:r>
          </a:p>
        </p:txBody>
      </p:sp>
      <p:sp>
        <p:nvSpPr>
          <p:cNvPr id="14" name="TextBox 13">
            <a:extLst>
              <a:ext uri="{FF2B5EF4-FFF2-40B4-BE49-F238E27FC236}">
                <a16:creationId xmlns:a16="http://schemas.microsoft.com/office/drawing/2014/main" id="{F32676CC-E1E3-9E8F-9B20-6E2A12BED6E7}"/>
              </a:ext>
            </a:extLst>
          </p:cNvPr>
          <p:cNvSpPr txBox="1"/>
          <p:nvPr/>
        </p:nvSpPr>
        <p:spPr>
          <a:xfrm>
            <a:off x="135548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1350" b="1">
                <a:solidFill>
                  <a:srgbClr val="050B18"/>
                </a:solidFill>
                <a:latin typeface="Aptos"/>
              </a:rPr>
              <a:t>Detect obstacle</a:t>
            </a:r>
          </a:p>
        </p:txBody>
      </p:sp>
      <p:sp>
        <p:nvSpPr>
          <p:cNvPr id="16" name="Chevron 9">
            <a:extLst>
              <a:ext uri="{FF2B5EF4-FFF2-40B4-BE49-F238E27FC236}">
                <a16:creationId xmlns:a16="http://schemas.microsoft.com/office/drawing/2014/main" id="{3DBF1860-380B-CBEB-2C56-BE6D0CBE16BF}"/>
              </a:ext>
            </a:extLst>
          </p:cNvPr>
          <p:cNvSpPr/>
          <p:nvPr/>
        </p:nvSpPr>
        <p:spPr>
          <a:xfrm>
            <a:off x="324829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18" name="Rounded Rectangle 10">
            <a:extLst>
              <a:ext uri="{FF2B5EF4-FFF2-40B4-BE49-F238E27FC236}">
                <a16:creationId xmlns:a16="http://schemas.microsoft.com/office/drawing/2014/main" id="{6D5A3582-011B-D6E2-9ABF-E85915318DA3}"/>
              </a:ext>
            </a:extLst>
          </p:cNvPr>
          <p:cNvSpPr/>
          <p:nvPr/>
        </p:nvSpPr>
        <p:spPr>
          <a:xfrm>
            <a:off x="359119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20" name="Rounded Rectangle 11">
            <a:extLst>
              <a:ext uri="{FF2B5EF4-FFF2-40B4-BE49-F238E27FC236}">
                <a16:creationId xmlns:a16="http://schemas.microsoft.com/office/drawing/2014/main" id="{24D1B80C-E686-0694-D830-787E489A0146}"/>
              </a:ext>
            </a:extLst>
          </p:cNvPr>
          <p:cNvSpPr/>
          <p:nvPr/>
        </p:nvSpPr>
        <p:spPr>
          <a:xfrm>
            <a:off x="3810653" y="3808694"/>
            <a:ext cx="384048" cy="315468"/>
          </a:xfrm>
          <a:prstGeom prst="roundRect">
            <a:avLst/>
          </a:prstGeom>
          <a:solidFill>
            <a:srgbClr val="6020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2</a:t>
            </a:r>
          </a:p>
        </p:txBody>
      </p:sp>
      <p:sp>
        <p:nvSpPr>
          <p:cNvPr id="22" name="TextBox 21">
            <a:extLst>
              <a:ext uri="{FF2B5EF4-FFF2-40B4-BE49-F238E27FC236}">
                <a16:creationId xmlns:a16="http://schemas.microsoft.com/office/drawing/2014/main" id="{A836DDBA-930B-A965-88FC-12FAFFA3BC1A}"/>
              </a:ext>
            </a:extLst>
          </p:cNvPr>
          <p:cNvSpPr txBox="1"/>
          <p:nvPr/>
        </p:nvSpPr>
        <p:spPr>
          <a:xfrm>
            <a:off x="4383400"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1350" b="1">
                <a:solidFill>
                  <a:srgbClr val="050B18"/>
                </a:solidFill>
                <a:latin typeface="Aptos"/>
              </a:rPr>
              <a:t>Stop &amp; confirm</a:t>
            </a:r>
          </a:p>
        </p:txBody>
      </p:sp>
      <p:sp>
        <p:nvSpPr>
          <p:cNvPr id="24" name="Chevron 13">
            <a:extLst>
              <a:ext uri="{FF2B5EF4-FFF2-40B4-BE49-F238E27FC236}">
                <a16:creationId xmlns:a16="http://schemas.microsoft.com/office/drawing/2014/main" id="{9CD0118F-6BD1-F3F3-28EB-8A298B962CBF}"/>
              </a:ext>
            </a:extLst>
          </p:cNvPr>
          <p:cNvSpPr/>
          <p:nvPr/>
        </p:nvSpPr>
        <p:spPr>
          <a:xfrm>
            <a:off x="626581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26" name="Rounded Rectangle 14">
            <a:extLst>
              <a:ext uri="{FF2B5EF4-FFF2-40B4-BE49-F238E27FC236}">
                <a16:creationId xmlns:a16="http://schemas.microsoft.com/office/drawing/2014/main" id="{58193FEA-EE8D-8D17-A4C0-5B72933C0DE2}"/>
              </a:ext>
            </a:extLst>
          </p:cNvPr>
          <p:cNvSpPr/>
          <p:nvPr/>
        </p:nvSpPr>
        <p:spPr>
          <a:xfrm>
            <a:off x="660871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28" name="Rounded Rectangle 15">
            <a:extLst>
              <a:ext uri="{FF2B5EF4-FFF2-40B4-BE49-F238E27FC236}">
                <a16:creationId xmlns:a16="http://schemas.microsoft.com/office/drawing/2014/main" id="{E12B4B64-881A-3272-12D8-48648633A0C9}"/>
              </a:ext>
            </a:extLst>
          </p:cNvPr>
          <p:cNvSpPr/>
          <p:nvPr/>
        </p:nvSpPr>
        <p:spPr>
          <a:xfrm>
            <a:off x="6828173" y="3808694"/>
            <a:ext cx="384048" cy="315468"/>
          </a:xfrm>
          <a:prstGeom prst="roundRect">
            <a:avLst/>
          </a:prstGeom>
          <a:solidFill>
            <a:srgbClr val="00387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3</a:t>
            </a:r>
          </a:p>
        </p:txBody>
      </p:sp>
      <p:sp>
        <p:nvSpPr>
          <p:cNvPr id="30" name="TextBox 29">
            <a:extLst>
              <a:ext uri="{FF2B5EF4-FFF2-40B4-BE49-F238E27FC236}">
                <a16:creationId xmlns:a16="http://schemas.microsoft.com/office/drawing/2014/main" id="{077241C8-6EDB-3449-9D20-3226A1521237}"/>
              </a:ext>
            </a:extLst>
          </p:cNvPr>
          <p:cNvSpPr txBox="1"/>
          <p:nvPr/>
        </p:nvSpPr>
        <p:spPr>
          <a:xfrm>
            <a:off x="739052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1350" b="1">
                <a:solidFill>
                  <a:srgbClr val="050B18"/>
                </a:solidFill>
                <a:latin typeface="Aptos"/>
              </a:rPr>
              <a:t>Avoid obstacle</a:t>
            </a:r>
            <a:endParaRPr lang="en-US"/>
          </a:p>
        </p:txBody>
      </p:sp>
      <p:sp>
        <p:nvSpPr>
          <p:cNvPr id="32" name="Chevron 17">
            <a:extLst>
              <a:ext uri="{FF2B5EF4-FFF2-40B4-BE49-F238E27FC236}">
                <a16:creationId xmlns:a16="http://schemas.microsoft.com/office/drawing/2014/main" id="{620E4CFD-0711-5849-F175-874645AF5E78}"/>
              </a:ext>
            </a:extLst>
          </p:cNvPr>
          <p:cNvSpPr/>
          <p:nvPr/>
        </p:nvSpPr>
        <p:spPr>
          <a:xfrm>
            <a:off x="9283337" y="3822409"/>
            <a:ext cx="233172" cy="274320"/>
          </a:xfrm>
          <a:prstGeom prst="chevron">
            <a:avLst/>
          </a:prstGeom>
          <a:solidFill>
            <a:srgbClr val="B7C0D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34" name="Rounded Rectangle 18">
            <a:extLst>
              <a:ext uri="{FF2B5EF4-FFF2-40B4-BE49-F238E27FC236}">
                <a16:creationId xmlns:a16="http://schemas.microsoft.com/office/drawing/2014/main" id="{C624569C-C4A9-F928-E7DB-1AF2512BCF8E}"/>
              </a:ext>
            </a:extLst>
          </p:cNvPr>
          <p:cNvSpPr/>
          <p:nvPr/>
        </p:nvSpPr>
        <p:spPr>
          <a:xfrm>
            <a:off x="9626237" y="3671534"/>
            <a:ext cx="2496312" cy="576072"/>
          </a:xfrm>
          <a:prstGeom prst="roundRect">
            <a:avLst/>
          </a:prstGeom>
          <a:solidFill>
            <a:srgbClr val="FFFFFF"/>
          </a:solidFill>
          <a:ln w="10160">
            <a:solidFill>
              <a:srgbClr val="C7D0EE"/>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endParaRPr sz="4050"/>
          </a:p>
        </p:txBody>
      </p:sp>
      <p:sp>
        <p:nvSpPr>
          <p:cNvPr id="36" name="Rounded Rectangle 19">
            <a:extLst>
              <a:ext uri="{FF2B5EF4-FFF2-40B4-BE49-F238E27FC236}">
                <a16:creationId xmlns:a16="http://schemas.microsoft.com/office/drawing/2014/main" id="{81607C8C-CAA2-2034-3196-FD569C2ECB57}"/>
              </a:ext>
            </a:extLst>
          </p:cNvPr>
          <p:cNvSpPr/>
          <p:nvPr/>
        </p:nvSpPr>
        <p:spPr>
          <a:xfrm>
            <a:off x="9845693" y="3808694"/>
            <a:ext cx="384048" cy="315468"/>
          </a:xfrm>
          <a:prstGeom prst="roundRect">
            <a:avLst/>
          </a:prstGeom>
          <a:solidFill>
            <a:srgbClr val="6020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ctr"/>
            <a:r>
              <a:rPr sz="1575" b="1">
                <a:solidFill>
                  <a:srgbClr val="FFFFFF"/>
                </a:solidFill>
                <a:latin typeface="Aptos"/>
              </a:rPr>
              <a:t>4</a:t>
            </a:r>
          </a:p>
        </p:txBody>
      </p:sp>
      <p:sp>
        <p:nvSpPr>
          <p:cNvPr id="38" name="TextBox 37">
            <a:extLst>
              <a:ext uri="{FF2B5EF4-FFF2-40B4-BE49-F238E27FC236}">
                <a16:creationId xmlns:a16="http://schemas.microsoft.com/office/drawing/2014/main" id="{F7ACDAE8-F263-F370-34B6-2A4D5BC8C3EB}"/>
              </a:ext>
            </a:extLst>
          </p:cNvPr>
          <p:cNvSpPr txBox="1"/>
          <p:nvPr/>
        </p:nvSpPr>
        <p:spPr>
          <a:xfrm>
            <a:off x="10408049" y="3849841"/>
            <a:ext cx="1508760" cy="212238"/>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1350" b="1">
                <a:solidFill>
                  <a:srgbClr val="050B18"/>
                </a:solidFill>
                <a:latin typeface="Aptos"/>
              </a:rPr>
              <a:t>Recover the line</a:t>
            </a:r>
            <a:endParaRPr sz="1379" b="1">
              <a:solidFill>
                <a:srgbClr val="050B18"/>
              </a:solidFill>
              <a:latin typeface="Aptos"/>
            </a:endParaRPr>
          </a:p>
        </p:txBody>
      </p:sp>
      <p:sp>
        <p:nvSpPr>
          <p:cNvPr id="157" name="Shape 31">
            <a:extLst>
              <a:ext uri="{FF2B5EF4-FFF2-40B4-BE49-F238E27FC236}">
                <a16:creationId xmlns:a16="http://schemas.microsoft.com/office/drawing/2014/main" id="{0FF4B175-7E24-1045-EBF0-5E2283E21E54}"/>
              </a:ext>
            </a:extLst>
          </p:cNvPr>
          <p:cNvSpPr/>
          <p:nvPr/>
        </p:nvSpPr>
        <p:spPr>
          <a:xfrm>
            <a:off x="536666" y="4465320"/>
            <a:ext cx="11247120" cy="5570437"/>
          </a:xfrm>
          <a:prstGeom prst="roundRect">
            <a:avLst>
              <a:gd name="adj" fmla="val 2151"/>
            </a:avLst>
          </a:prstGeom>
          <a:solidFill>
            <a:srgbClr val="FFFFFF">
              <a:alpha val="99000"/>
            </a:srgbClr>
          </a:solidFill>
          <a:ln w="12700">
            <a:solidFill>
              <a:srgbClr val="D7E1F2"/>
            </a:solidFill>
            <a:prstDash val="solid"/>
          </a:ln>
        </p:spPr>
        <p:txBody>
          <a:bodyPr/>
          <a:lstStyle/>
          <a:p>
            <a:endParaRPr lang="es-ES"/>
          </a:p>
        </p:txBody>
      </p:sp>
      <p:sp>
        <p:nvSpPr>
          <p:cNvPr id="159" name="Shape 32">
            <a:extLst>
              <a:ext uri="{FF2B5EF4-FFF2-40B4-BE49-F238E27FC236}">
                <a16:creationId xmlns:a16="http://schemas.microsoft.com/office/drawing/2014/main" id="{0046A0B0-2E80-913B-DDA2-D1E18E9293BD}"/>
              </a:ext>
            </a:extLst>
          </p:cNvPr>
          <p:cNvSpPr/>
          <p:nvPr/>
        </p:nvSpPr>
        <p:spPr>
          <a:xfrm>
            <a:off x="536666" y="5562600"/>
            <a:ext cx="11247120" cy="0"/>
          </a:xfrm>
          <a:prstGeom prst="line">
            <a:avLst/>
          </a:prstGeom>
          <a:noFill/>
          <a:ln w="11430">
            <a:solidFill>
              <a:srgbClr val="D7E1F2"/>
            </a:solidFill>
            <a:prstDash val="solid"/>
          </a:ln>
        </p:spPr>
        <p:txBody>
          <a:bodyPr/>
          <a:lstStyle/>
          <a:p>
            <a:endParaRPr lang="es-ES"/>
          </a:p>
        </p:txBody>
      </p:sp>
      <p:sp>
        <p:nvSpPr>
          <p:cNvPr id="161" name="Shape 33">
            <a:extLst>
              <a:ext uri="{FF2B5EF4-FFF2-40B4-BE49-F238E27FC236}">
                <a16:creationId xmlns:a16="http://schemas.microsoft.com/office/drawing/2014/main" id="{605033E7-20EE-61F8-4EB7-63371015CBAE}"/>
              </a:ext>
            </a:extLst>
          </p:cNvPr>
          <p:cNvSpPr/>
          <p:nvPr/>
        </p:nvSpPr>
        <p:spPr>
          <a:xfrm>
            <a:off x="536666" y="6591300"/>
            <a:ext cx="11247120" cy="0"/>
          </a:xfrm>
          <a:prstGeom prst="line">
            <a:avLst/>
          </a:prstGeom>
          <a:noFill/>
          <a:ln w="11430">
            <a:solidFill>
              <a:srgbClr val="D7E1F2"/>
            </a:solidFill>
            <a:prstDash val="solid"/>
          </a:ln>
        </p:spPr>
        <p:txBody>
          <a:bodyPr/>
          <a:lstStyle/>
          <a:p>
            <a:endParaRPr lang="es-ES"/>
          </a:p>
        </p:txBody>
      </p:sp>
      <p:sp>
        <p:nvSpPr>
          <p:cNvPr id="163" name="Shape 34">
            <a:extLst>
              <a:ext uri="{FF2B5EF4-FFF2-40B4-BE49-F238E27FC236}">
                <a16:creationId xmlns:a16="http://schemas.microsoft.com/office/drawing/2014/main" id="{019BC8BB-BAC5-A110-E226-641504CF2938}"/>
              </a:ext>
            </a:extLst>
          </p:cNvPr>
          <p:cNvSpPr/>
          <p:nvPr/>
        </p:nvSpPr>
        <p:spPr>
          <a:xfrm>
            <a:off x="536666" y="7620000"/>
            <a:ext cx="11247120" cy="0"/>
          </a:xfrm>
          <a:prstGeom prst="line">
            <a:avLst/>
          </a:prstGeom>
          <a:noFill/>
          <a:ln w="11430">
            <a:solidFill>
              <a:srgbClr val="D7E1F2"/>
            </a:solidFill>
            <a:prstDash val="solid"/>
          </a:ln>
        </p:spPr>
        <p:txBody>
          <a:bodyPr/>
          <a:lstStyle/>
          <a:p>
            <a:endParaRPr lang="es-ES"/>
          </a:p>
        </p:txBody>
      </p:sp>
      <p:sp>
        <p:nvSpPr>
          <p:cNvPr id="179" name="Text 42">
            <a:extLst>
              <a:ext uri="{FF2B5EF4-FFF2-40B4-BE49-F238E27FC236}">
                <a16:creationId xmlns:a16="http://schemas.microsoft.com/office/drawing/2014/main" id="{62C3C62E-FDFA-7D1D-348D-75077C49CE01}"/>
              </a:ext>
            </a:extLst>
          </p:cNvPr>
          <p:cNvSpPr/>
          <p:nvPr/>
        </p:nvSpPr>
        <p:spPr>
          <a:xfrm>
            <a:off x="2017994" y="4835652"/>
            <a:ext cx="9052560" cy="329184"/>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010" b="1">
                <a:solidFill>
                  <a:srgbClr val="111827"/>
                </a:solidFill>
              </a:rPr>
              <a:t>Obstacle detected → stop and confirm</a:t>
            </a:r>
            <a:endParaRPr lang="en-US" sz="2010"/>
          </a:p>
        </p:txBody>
      </p:sp>
      <p:sp>
        <p:nvSpPr>
          <p:cNvPr id="194" name="Text 49">
            <a:extLst>
              <a:ext uri="{FF2B5EF4-FFF2-40B4-BE49-F238E27FC236}">
                <a16:creationId xmlns:a16="http://schemas.microsoft.com/office/drawing/2014/main" id="{DC927D93-7F01-0658-211C-19D437FE5943}"/>
              </a:ext>
            </a:extLst>
          </p:cNvPr>
          <p:cNvSpPr/>
          <p:nvPr/>
        </p:nvSpPr>
        <p:spPr>
          <a:xfrm>
            <a:off x="2017994" y="5878068"/>
            <a:ext cx="93268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010" b="1">
                <a:solidFill>
                  <a:srgbClr val="111827"/>
                </a:solidFill>
              </a:rPr>
              <a:t>Avoidance sequence:</a:t>
            </a:r>
            <a:endParaRPr lang="en-US" sz="2010"/>
          </a:p>
        </p:txBody>
      </p:sp>
      <p:sp>
        <p:nvSpPr>
          <p:cNvPr id="196" name="Text 50">
            <a:extLst>
              <a:ext uri="{FF2B5EF4-FFF2-40B4-BE49-F238E27FC236}">
                <a16:creationId xmlns:a16="http://schemas.microsoft.com/office/drawing/2014/main" id="{FADE8AF0-DD55-627D-9484-A3DDD4DDB5C4}"/>
              </a:ext>
            </a:extLst>
          </p:cNvPr>
          <p:cNvSpPr/>
          <p:nvPr/>
        </p:nvSpPr>
        <p:spPr>
          <a:xfrm>
            <a:off x="2017994" y="6275832"/>
            <a:ext cx="9464040" cy="274320"/>
          </a:xfrm>
          <a:prstGeom prst="rect">
            <a:avLst/>
          </a:prstGeom>
          <a:noFill/>
          <a:ln/>
        </p:spPr>
        <p:txBody>
          <a:bodyPr wrap="square" lIns="0" tIns="0" rIns="0" bIns="0" rtlCol="0" anchor="ctr">
            <a:normAutofit/>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1650">
                <a:solidFill>
                  <a:srgbClr val="3F4A5A"/>
                </a:solidFill>
              </a:rPr>
              <a:t>Back up → turn away → pass obstacle → realign with line</a:t>
            </a:r>
            <a:endParaRPr lang="en-US" sz="1650"/>
          </a:p>
        </p:txBody>
      </p:sp>
      <p:sp>
        <p:nvSpPr>
          <p:cNvPr id="212" name="Text 57">
            <a:extLst>
              <a:ext uri="{FF2B5EF4-FFF2-40B4-BE49-F238E27FC236}">
                <a16:creationId xmlns:a16="http://schemas.microsoft.com/office/drawing/2014/main" id="{BF84C206-6B8A-C435-5470-68FC0D878228}"/>
              </a:ext>
            </a:extLst>
          </p:cNvPr>
          <p:cNvSpPr/>
          <p:nvPr/>
        </p:nvSpPr>
        <p:spPr>
          <a:xfrm>
            <a:off x="2017994" y="6906768"/>
            <a:ext cx="93268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010" b="1">
                <a:solidFill>
                  <a:srgbClr val="111827"/>
                </a:solidFill>
              </a:rPr>
              <a:t>Main challenge:</a:t>
            </a:r>
            <a:endParaRPr lang="en-US" sz="2010"/>
          </a:p>
        </p:txBody>
      </p:sp>
      <p:sp>
        <p:nvSpPr>
          <p:cNvPr id="214" name="Text 58">
            <a:extLst>
              <a:ext uri="{FF2B5EF4-FFF2-40B4-BE49-F238E27FC236}">
                <a16:creationId xmlns:a16="http://schemas.microsoft.com/office/drawing/2014/main" id="{DD3D3D9B-925A-E145-317B-65FC706F2650}"/>
              </a:ext>
            </a:extLst>
          </p:cNvPr>
          <p:cNvSpPr/>
          <p:nvPr/>
        </p:nvSpPr>
        <p:spPr>
          <a:xfrm>
            <a:off x="2017994" y="7290816"/>
            <a:ext cx="9464040" cy="27432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1650">
                <a:solidFill>
                  <a:srgbClr val="3F4A5A"/>
                </a:solidFill>
              </a:rPr>
              <a:t>The robot had to work at different positions and angles on the track.</a:t>
            </a:r>
            <a:endParaRPr lang="en-US" sz="1650"/>
          </a:p>
        </p:txBody>
      </p:sp>
      <p:sp>
        <p:nvSpPr>
          <p:cNvPr id="224" name="Text 63">
            <a:extLst>
              <a:ext uri="{FF2B5EF4-FFF2-40B4-BE49-F238E27FC236}">
                <a16:creationId xmlns:a16="http://schemas.microsoft.com/office/drawing/2014/main" id="{E049E734-95BD-15E6-4669-A1EF27F03C02}"/>
              </a:ext>
            </a:extLst>
          </p:cNvPr>
          <p:cNvSpPr/>
          <p:nvPr/>
        </p:nvSpPr>
        <p:spPr>
          <a:xfrm>
            <a:off x="2017994" y="7962900"/>
            <a:ext cx="2057400" cy="27432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2010" b="1">
                <a:solidFill>
                  <a:srgbClr val="111827"/>
                </a:solidFill>
              </a:rPr>
              <a:t>Fixes:</a:t>
            </a:r>
            <a:endParaRPr lang="en-US" sz="2010"/>
          </a:p>
        </p:txBody>
      </p:sp>
      <p:sp>
        <p:nvSpPr>
          <p:cNvPr id="276" name="Shape 64">
            <a:extLst>
              <a:ext uri="{FF2B5EF4-FFF2-40B4-BE49-F238E27FC236}">
                <a16:creationId xmlns:a16="http://schemas.microsoft.com/office/drawing/2014/main" id="{0E427498-05EC-1BD1-6839-159C1C342B47}"/>
              </a:ext>
            </a:extLst>
          </p:cNvPr>
          <p:cNvSpPr/>
          <p:nvPr/>
        </p:nvSpPr>
        <p:spPr>
          <a:xfrm>
            <a:off x="1930908" y="8240921"/>
            <a:ext cx="9052560" cy="452628"/>
          </a:xfrm>
          <a:prstGeom prst="roundRect">
            <a:avLst>
              <a:gd name="adj" fmla="val 12121"/>
            </a:avLst>
          </a:prstGeom>
          <a:solidFill>
            <a:srgbClr val="FCFDFF"/>
          </a:solidFill>
          <a:ln w="10160">
            <a:solidFill>
              <a:srgbClr val="DDE7F7"/>
            </a:solidFill>
            <a:prstDash val="solid"/>
          </a:ln>
        </p:spPr>
        <p:txBody>
          <a:bodyPr/>
          <a:lstStyle/>
          <a:p>
            <a:endParaRPr lang="es-ES"/>
          </a:p>
        </p:txBody>
      </p:sp>
      <p:sp>
        <p:nvSpPr>
          <p:cNvPr id="278" name="Text 70">
            <a:extLst>
              <a:ext uri="{FF2B5EF4-FFF2-40B4-BE49-F238E27FC236}">
                <a16:creationId xmlns:a16="http://schemas.microsoft.com/office/drawing/2014/main" id="{6F3E2C4B-C1DE-2813-4220-4D5562910C9D}"/>
              </a:ext>
            </a:extLst>
          </p:cNvPr>
          <p:cNvSpPr/>
          <p:nvPr/>
        </p:nvSpPr>
        <p:spPr>
          <a:xfrm>
            <a:off x="2106386" y="8375251"/>
            <a:ext cx="8023860" cy="219456"/>
          </a:xfrm>
          <a:prstGeom prst="rect">
            <a:avLst/>
          </a:prstGeom>
          <a:noFill/>
          <a:ln/>
        </p:spPr>
        <p:txBody>
          <a:bodyPr wrap="square" lIns="0" tIns="0" rIns="0" bIns="0" rtlCol="0" anchor="ctr">
            <a:normAutofit/>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1305">
                <a:solidFill>
                  <a:srgbClr val="111827"/>
                </a:solidFill>
              </a:rPr>
              <a:t>Adaptive turn based on ultrasonic readings</a:t>
            </a:r>
            <a:endParaRPr lang="en-US" sz="1305"/>
          </a:p>
        </p:txBody>
      </p:sp>
      <p:sp>
        <p:nvSpPr>
          <p:cNvPr id="280" name="Shape 71">
            <a:extLst>
              <a:ext uri="{FF2B5EF4-FFF2-40B4-BE49-F238E27FC236}">
                <a16:creationId xmlns:a16="http://schemas.microsoft.com/office/drawing/2014/main" id="{C976F8DB-F79E-22A0-C262-188217603655}"/>
              </a:ext>
            </a:extLst>
          </p:cNvPr>
          <p:cNvSpPr/>
          <p:nvPr/>
        </p:nvSpPr>
        <p:spPr>
          <a:xfrm>
            <a:off x="1930908" y="8775845"/>
            <a:ext cx="9052560" cy="452628"/>
          </a:xfrm>
          <a:prstGeom prst="roundRect">
            <a:avLst>
              <a:gd name="adj" fmla="val 12121"/>
            </a:avLst>
          </a:prstGeom>
          <a:solidFill>
            <a:srgbClr val="FCFDFF"/>
          </a:solidFill>
          <a:ln w="10160">
            <a:solidFill>
              <a:srgbClr val="DDE7F7"/>
            </a:solidFill>
            <a:prstDash val="solid"/>
          </a:ln>
        </p:spPr>
        <p:txBody>
          <a:bodyPr/>
          <a:lstStyle/>
          <a:p>
            <a:endParaRPr lang="es-ES"/>
          </a:p>
        </p:txBody>
      </p:sp>
      <p:sp>
        <p:nvSpPr>
          <p:cNvPr id="282" name="Text 76">
            <a:extLst>
              <a:ext uri="{FF2B5EF4-FFF2-40B4-BE49-F238E27FC236}">
                <a16:creationId xmlns:a16="http://schemas.microsoft.com/office/drawing/2014/main" id="{68A19EB9-EDBC-CC61-4C2A-F0ED878E6B24}"/>
              </a:ext>
            </a:extLst>
          </p:cNvPr>
          <p:cNvSpPr/>
          <p:nvPr/>
        </p:nvSpPr>
        <p:spPr>
          <a:xfrm>
            <a:off x="2117271" y="8899289"/>
            <a:ext cx="8023860" cy="219456"/>
          </a:xfrm>
          <a:prstGeom prst="rect">
            <a:avLst/>
          </a:prstGeom>
          <a:noFill/>
          <a:ln/>
        </p:spPr>
        <p:txBody>
          <a:bodyPr wrap="square" lIns="0" tIns="0" rIns="0" bIns="0" rtlCol="0" anchor="ctr">
            <a:normAutofit/>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1305">
                <a:solidFill>
                  <a:srgbClr val="111827"/>
                </a:solidFill>
              </a:rPr>
              <a:t>IR sensors checked during avoidance</a:t>
            </a:r>
            <a:endParaRPr lang="en-US" sz="1305"/>
          </a:p>
        </p:txBody>
      </p:sp>
      <p:sp>
        <p:nvSpPr>
          <p:cNvPr id="284" name="Shape 77">
            <a:extLst>
              <a:ext uri="{FF2B5EF4-FFF2-40B4-BE49-F238E27FC236}">
                <a16:creationId xmlns:a16="http://schemas.microsoft.com/office/drawing/2014/main" id="{15186C2C-BDA3-2DBD-700E-394C06078B43}"/>
              </a:ext>
            </a:extLst>
          </p:cNvPr>
          <p:cNvSpPr/>
          <p:nvPr/>
        </p:nvSpPr>
        <p:spPr>
          <a:xfrm>
            <a:off x="1930908" y="9310769"/>
            <a:ext cx="9052560" cy="452628"/>
          </a:xfrm>
          <a:prstGeom prst="roundRect">
            <a:avLst>
              <a:gd name="adj" fmla="val 12121"/>
            </a:avLst>
          </a:prstGeom>
          <a:solidFill>
            <a:srgbClr val="FCFDFF"/>
          </a:solidFill>
          <a:ln w="10160">
            <a:solidFill>
              <a:srgbClr val="DDE7F7"/>
            </a:solidFill>
            <a:prstDash val="solid"/>
          </a:ln>
        </p:spPr>
        <p:txBody>
          <a:bodyPr/>
          <a:lstStyle/>
          <a:p>
            <a:endParaRPr lang="es-ES"/>
          </a:p>
        </p:txBody>
      </p:sp>
      <p:sp>
        <p:nvSpPr>
          <p:cNvPr id="286" name="Text 82">
            <a:extLst>
              <a:ext uri="{FF2B5EF4-FFF2-40B4-BE49-F238E27FC236}">
                <a16:creationId xmlns:a16="http://schemas.microsoft.com/office/drawing/2014/main" id="{F2B4E300-4D93-0DEB-1952-493F061FF5D8}"/>
              </a:ext>
            </a:extLst>
          </p:cNvPr>
          <p:cNvSpPr/>
          <p:nvPr/>
        </p:nvSpPr>
        <p:spPr>
          <a:xfrm>
            <a:off x="2128157" y="9434213"/>
            <a:ext cx="8023860" cy="219456"/>
          </a:xfrm>
          <a:prstGeom prst="rect">
            <a:avLst/>
          </a:prstGeom>
          <a:noFill/>
          <a:ln/>
        </p:spPr>
        <p:txBody>
          <a:bodyPr wrap="square" lIns="0" tIns="0" rIns="0" bIns="0" rtlCol="0" anchor="ctr">
            <a:normAutofit/>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1305">
                <a:solidFill>
                  <a:srgbClr val="111827"/>
                </a:solidFill>
              </a:rPr>
              <a:t>If black line is detected, avoidance stops and line following resumes</a:t>
            </a:r>
            <a:endParaRPr lang="en-US" sz="1305"/>
          </a:p>
        </p:txBody>
      </p:sp>
      <p:pic>
        <p:nvPicPr>
          <p:cNvPr id="288" name="Picture 287">
            <a:extLst>
              <a:ext uri="{FF2B5EF4-FFF2-40B4-BE49-F238E27FC236}">
                <a16:creationId xmlns:a16="http://schemas.microsoft.com/office/drawing/2014/main" id="{53FD6AEF-EFEF-EFFD-DB8F-D53A0F09C10F}"/>
              </a:ext>
            </a:extLst>
          </p:cNvPr>
          <p:cNvPicPr>
            <a:picLocks noChangeAspect="1"/>
          </p:cNvPicPr>
          <p:nvPr/>
        </p:nvPicPr>
        <p:blipFill>
          <a:blip r:embed="rId10"/>
          <a:srcRect l="5810" t="42163" r="88585" b="49804"/>
          <a:stretch>
            <a:fillRect/>
          </a:stretch>
        </p:blipFill>
        <p:spPr>
          <a:xfrm>
            <a:off x="615043" y="4569958"/>
            <a:ext cx="892656" cy="719985"/>
          </a:xfrm>
          <a:prstGeom prst="rect">
            <a:avLst/>
          </a:prstGeom>
        </p:spPr>
      </p:pic>
      <p:pic>
        <p:nvPicPr>
          <p:cNvPr id="290" name="Picture 289">
            <a:extLst>
              <a:ext uri="{FF2B5EF4-FFF2-40B4-BE49-F238E27FC236}">
                <a16:creationId xmlns:a16="http://schemas.microsoft.com/office/drawing/2014/main" id="{DA078E25-A6E3-6D97-F429-31E426A44F3F}"/>
              </a:ext>
            </a:extLst>
          </p:cNvPr>
          <p:cNvPicPr>
            <a:picLocks noChangeAspect="1"/>
          </p:cNvPicPr>
          <p:nvPr/>
        </p:nvPicPr>
        <p:blipFill>
          <a:blip r:embed="rId10"/>
          <a:srcRect l="5263" t="51581" r="88107" b="39608"/>
          <a:stretch>
            <a:fillRect/>
          </a:stretch>
        </p:blipFill>
        <p:spPr>
          <a:xfrm>
            <a:off x="571500" y="5636759"/>
            <a:ext cx="1055975" cy="789755"/>
          </a:xfrm>
          <a:prstGeom prst="rect">
            <a:avLst/>
          </a:prstGeom>
        </p:spPr>
      </p:pic>
      <p:pic>
        <p:nvPicPr>
          <p:cNvPr id="292" name="Picture 291">
            <a:extLst>
              <a:ext uri="{FF2B5EF4-FFF2-40B4-BE49-F238E27FC236}">
                <a16:creationId xmlns:a16="http://schemas.microsoft.com/office/drawing/2014/main" id="{005FF6BF-1CA1-4319-8C75-7BC11DB56A2B}"/>
              </a:ext>
            </a:extLst>
          </p:cNvPr>
          <p:cNvPicPr>
            <a:picLocks noChangeAspect="1"/>
          </p:cNvPicPr>
          <p:nvPr/>
        </p:nvPicPr>
        <p:blipFill>
          <a:blip r:embed="rId10"/>
          <a:srcRect l="5673" t="61800" r="88927" b="30170"/>
          <a:stretch>
            <a:fillRect/>
          </a:stretch>
        </p:blipFill>
        <p:spPr>
          <a:xfrm>
            <a:off x="615043" y="6768874"/>
            <a:ext cx="859970" cy="719572"/>
          </a:xfrm>
          <a:prstGeom prst="rect">
            <a:avLst/>
          </a:prstGeom>
        </p:spPr>
      </p:pic>
      <p:pic>
        <p:nvPicPr>
          <p:cNvPr id="294" name="Picture 293">
            <a:extLst>
              <a:ext uri="{FF2B5EF4-FFF2-40B4-BE49-F238E27FC236}">
                <a16:creationId xmlns:a16="http://schemas.microsoft.com/office/drawing/2014/main" id="{715B9857-EEDB-A2E3-E10C-3A3AE5AA85C0}"/>
              </a:ext>
            </a:extLst>
          </p:cNvPr>
          <p:cNvPicPr>
            <a:picLocks noChangeAspect="1"/>
          </p:cNvPicPr>
          <p:nvPr/>
        </p:nvPicPr>
        <p:blipFill>
          <a:blip r:embed="rId10"/>
          <a:srcRect l="6219" t="70198" r="88865" b="15818"/>
          <a:stretch>
            <a:fillRect/>
          </a:stretch>
        </p:blipFill>
        <p:spPr>
          <a:xfrm>
            <a:off x="755744" y="7753304"/>
            <a:ext cx="782890" cy="1253131"/>
          </a:xfrm>
          <a:prstGeom prst="rect">
            <a:avLst/>
          </a:prstGeom>
        </p:spPr>
      </p:pic>
      <p:pic>
        <p:nvPicPr>
          <p:cNvPr id="3" name="WhatsApp Video 2026-07-05 at 7.53">
            <a:hlinkClick r:id="" action="ppaction://media"/>
            <a:extLst>
              <a:ext uri="{FF2B5EF4-FFF2-40B4-BE49-F238E27FC236}">
                <a16:creationId xmlns:a16="http://schemas.microsoft.com/office/drawing/2014/main" id="{FC2A6DAB-B04E-F12B-E68C-673DA083DE75}"/>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2883244" y="1777553"/>
            <a:ext cx="4890326" cy="3047864"/>
          </a:xfrm>
          <a:prstGeom prst="rect">
            <a:avLst/>
          </a:prstGeom>
        </p:spPr>
      </p:pic>
      <p:pic>
        <p:nvPicPr>
          <p:cNvPr id="4" name="WhatsApp Video 2026-07-05 at 8.02.44 PM (online-video-cutter.com) - LOOP - Videobolt.net">
            <a:hlinkClick r:id="" action="ppaction://media"/>
            <a:extLst>
              <a:ext uri="{FF2B5EF4-FFF2-40B4-BE49-F238E27FC236}">
                <a16:creationId xmlns:a16="http://schemas.microsoft.com/office/drawing/2014/main" id="{0F9215E4-1FC2-9038-86B1-5D42D413A8E7}"/>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12883244" y="5599967"/>
            <a:ext cx="4914756" cy="3402192"/>
          </a:xfrm>
          <a:prstGeom prst="rect">
            <a:avLst/>
          </a:prstGeom>
        </p:spPr>
      </p:pic>
    </p:spTree>
    <p:extLst>
      <p:ext uri="{BB962C8B-B14F-4D97-AF65-F5344CB8AC3E}">
        <p14:creationId xmlns:p14="http://schemas.microsoft.com/office/powerpoint/2010/main" val="47782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684" fill="hold"/>
                                        <p:tgtEl>
                                          <p:spTgt spid="3"/>
                                        </p:tgtEl>
                                      </p:cBhvr>
                                    </p:cmd>
                                  </p:childTnLst>
                                </p:cTn>
                              </p:par>
                            </p:childTnLst>
                          </p:cTn>
                        </p:par>
                        <p:par>
                          <p:cTn id="7" fill="hold">
                            <p:stCondLst>
                              <p:cond delay="18684"/>
                            </p:stCondLst>
                            <p:childTnLst>
                              <p:par>
                                <p:cTn id="8" presetID="1" presetClass="mediacall" presetSubtype="0" fill="hold" nodeType="afterEffect">
                                  <p:stCondLst>
                                    <p:cond delay="0"/>
                                  </p:stCondLst>
                                  <p:childTnLst>
                                    <p:cmd type="call" cmd="playFrom(0.0)">
                                      <p:cBhvr>
                                        <p:cTn id="9" dur="208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vol="80000">
                <p:cTn id="16" repeatCount="indefinite" fill="hold" display="0">
                  <p:stCondLst>
                    <p:cond delay="indefinite"/>
                  </p:stCondLst>
                </p:cTn>
                <p:tgtEl>
                  <p:spTgt spid="4"/>
                </p:tgtEl>
              </p:cMediaNode>
            </p:video>
            <p:seq concurrent="1" nextAc="seek">
              <p:cTn id="17" restart="whenNotActive" fill="hold" evtFilter="cancelBubble" nodeType="interactiveSeq">
                <p:stCondLst>
                  <p:cond evt="onClick" delay="0">
                    <p:tgtEl>
                      <p:spTgt spid="4"/>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34BFD-D516-0AF4-6F78-539F027D9C6C}"/>
            </a:ext>
          </a:extLst>
        </p:cNvPr>
        <p:cNvGrpSpPr/>
        <p:nvPr/>
      </p:nvGrpSpPr>
      <p:grpSpPr>
        <a:xfrm>
          <a:off x="0" y="0"/>
          <a:ext cx="0" cy="0"/>
          <a:chOff x="0" y="0"/>
          <a:chExt cx="0" cy="0"/>
        </a:xfrm>
      </p:grpSpPr>
      <p:sp>
        <p:nvSpPr>
          <p:cNvPr id="21" name="Freeform 21">
            <a:extLst>
              <a:ext uri="{FF2B5EF4-FFF2-40B4-BE49-F238E27FC236}">
                <a16:creationId xmlns:a16="http://schemas.microsoft.com/office/drawing/2014/main" id="{CF3DFD21-F50D-F26A-2514-4B933625FAE7}"/>
              </a:ext>
            </a:extLst>
          </p:cNvPr>
          <p:cNvSpPr/>
          <p:nvPr/>
        </p:nvSpPr>
        <p:spPr>
          <a:xfrm>
            <a:off x="8524721" y="8943809"/>
            <a:ext cx="607187" cy="685735"/>
          </a:xfrm>
          <a:custGeom>
            <a:avLst/>
            <a:gdLst/>
            <a:ahLst/>
            <a:cxnLst/>
            <a:rect l="l" t="t" r="r" b="b"/>
            <a:pathLst>
              <a:path w="607187" h="685735">
                <a:moveTo>
                  <a:pt x="0" y="0"/>
                </a:moveTo>
                <a:lnTo>
                  <a:pt x="607188" y="0"/>
                </a:lnTo>
                <a:lnTo>
                  <a:pt x="607188" y="685735"/>
                </a:lnTo>
                <a:lnTo>
                  <a:pt x="0" y="6857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ES"/>
          </a:p>
        </p:txBody>
      </p:sp>
      <p:sp>
        <p:nvSpPr>
          <p:cNvPr id="22" name="Freeform 22">
            <a:extLst>
              <a:ext uri="{FF2B5EF4-FFF2-40B4-BE49-F238E27FC236}">
                <a16:creationId xmlns:a16="http://schemas.microsoft.com/office/drawing/2014/main" id="{A9814E74-B119-248F-E100-C08376298140}"/>
              </a:ext>
            </a:extLst>
          </p:cNvPr>
          <p:cNvSpPr/>
          <p:nvPr/>
        </p:nvSpPr>
        <p:spPr>
          <a:xfrm>
            <a:off x="16111592" y="904277"/>
            <a:ext cx="607187" cy="685735"/>
          </a:xfrm>
          <a:custGeom>
            <a:avLst/>
            <a:gdLst/>
            <a:ahLst/>
            <a:cxnLst/>
            <a:rect l="l" t="t" r="r" b="b"/>
            <a:pathLst>
              <a:path w="607187" h="685735">
                <a:moveTo>
                  <a:pt x="0" y="0"/>
                </a:moveTo>
                <a:lnTo>
                  <a:pt x="607187" y="0"/>
                </a:lnTo>
                <a:lnTo>
                  <a:pt x="607187" y="685736"/>
                </a:lnTo>
                <a:lnTo>
                  <a:pt x="0" y="6857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ES"/>
          </a:p>
        </p:txBody>
      </p:sp>
      <p:sp>
        <p:nvSpPr>
          <p:cNvPr id="24" name="Freeform 8">
            <a:extLst>
              <a:ext uri="{FF2B5EF4-FFF2-40B4-BE49-F238E27FC236}">
                <a16:creationId xmlns:a16="http://schemas.microsoft.com/office/drawing/2014/main" id="{A5A6870C-53C8-F1F4-07C0-3F37D4BB39E7}"/>
              </a:ext>
            </a:extLst>
          </p:cNvPr>
          <p:cNvSpPr/>
          <p:nvPr/>
        </p:nvSpPr>
        <p:spPr>
          <a:xfrm rot="768394">
            <a:off x="2902143" y="-5554961"/>
            <a:ext cx="10036098" cy="822960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5">
              <a:alphaModFix amt="55000"/>
            </a:blip>
            <a:stretch>
              <a:fillRect/>
            </a:stretch>
          </a:blipFill>
        </p:spPr>
        <p:txBody>
          <a:bodyPr/>
          <a:lstStyle/>
          <a:p>
            <a:endParaRPr lang="en-US"/>
          </a:p>
        </p:txBody>
      </p:sp>
      <p:sp>
        <p:nvSpPr>
          <p:cNvPr id="26" name="Freeform 9">
            <a:extLst>
              <a:ext uri="{FF2B5EF4-FFF2-40B4-BE49-F238E27FC236}">
                <a16:creationId xmlns:a16="http://schemas.microsoft.com/office/drawing/2014/main" id="{2798AE02-FAD5-0B50-E870-3067777639D4}"/>
              </a:ext>
            </a:extLst>
          </p:cNvPr>
          <p:cNvSpPr/>
          <p:nvPr/>
        </p:nvSpPr>
        <p:spPr>
          <a:xfrm>
            <a:off x="14136003" y="2084224"/>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6">
              <a:alphaModFix amt="67000"/>
            </a:blip>
            <a:stretch>
              <a:fillRect/>
            </a:stretch>
          </a:blipFill>
        </p:spPr>
        <p:txBody>
          <a:bodyPr/>
          <a:lstStyle/>
          <a:p>
            <a:endParaRPr lang="en-US"/>
          </a:p>
        </p:txBody>
      </p:sp>
      <p:sp>
        <p:nvSpPr>
          <p:cNvPr id="2" name="Freeform 8">
            <a:extLst>
              <a:ext uri="{FF2B5EF4-FFF2-40B4-BE49-F238E27FC236}">
                <a16:creationId xmlns:a16="http://schemas.microsoft.com/office/drawing/2014/main" id="{87D836D8-ED31-6891-9557-93A453D4C7C8}"/>
              </a:ext>
            </a:extLst>
          </p:cNvPr>
          <p:cNvSpPr/>
          <p:nvPr/>
        </p:nvSpPr>
        <p:spPr>
          <a:xfrm rot="8760000">
            <a:off x="-5491729" y="7678832"/>
            <a:ext cx="10036098" cy="10036628"/>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5">
              <a:alphaModFix amt="55000"/>
            </a:blip>
            <a:stretch>
              <a:fillRect/>
            </a:stretch>
          </a:blipFill>
        </p:spPr>
        <p:txBody>
          <a:bodyPr/>
          <a:lstStyle/>
          <a:p>
            <a:endParaRPr lang="en-US"/>
          </a:p>
        </p:txBody>
      </p:sp>
      <p:pic>
        <p:nvPicPr>
          <p:cNvPr id="14" name="Picture 13" descr="A purple and blue cross&#10;&#10;AI-generated content may be incorrect.">
            <a:extLst>
              <a:ext uri="{FF2B5EF4-FFF2-40B4-BE49-F238E27FC236}">
                <a16:creationId xmlns:a16="http://schemas.microsoft.com/office/drawing/2014/main" id="{92ECBF3A-2AAC-0EE4-2DB1-5B5BA1087E78}"/>
              </a:ext>
            </a:extLst>
          </p:cNvPr>
          <p:cNvPicPr>
            <a:picLocks noChangeAspect="1"/>
          </p:cNvPicPr>
          <p:nvPr/>
        </p:nvPicPr>
        <p:blipFill>
          <a:blip r:embed="rId7"/>
          <a:srcRect t="-926" b="35617"/>
          <a:stretch>
            <a:fillRect/>
          </a:stretch>
        </p:blipFill>
        <p:spPr>
          <a:xfrm>
            <a:off x="544286" y="544286"/>
            <a:ext cx="1186544" cy="564762"/>
          </a:xfrm>
          <a:prstGeom prst="rect">
            <a:avLst/>
          </a:prstGeom>
        </p:spPr>
      </p:pic>
      <p:sp>
        <p:nvSpPr>
          <p:cNvPr id="16" name="SK-7-text-12">
            <a:extLst>
              <a:ext uri="{FF2B5EF4-FFF2-40B4-BE49-F238E27FC236}">
                <a16:creationId xmlns:a16="http://schemas.microsoft.com/office/drawing/2014/main" id="{6FB77366-6633-2598-FD40-A5D674685AA3}"/>
              </a:ext>
            </a:extLst>
          </p:cNvPr>
          <p:cNvSpPr/>
          <p:nvPr/>
        </p:nvSpPr>
        <p:spPr>
          <a:xfrm>
            <a:off x="1727200" y="742788"/>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18" name="SK-7-text-13">
            <a:extLst>
              <a:ext uri="{FF2B5EF4-FFF2-40B4-BE49-F238E27FC236}">
                <a16:creationId xmlns:a16="http://schemas.microsoft.com/office/drawing/2014/main" id="{091DF0F2-E32E-0A5E-F783-C54378CCCFF8}"/>
              </a:ext>
            </a:extLst>
          </p:cNvPr>
          <p:cNvSpPr/>
          <p:nvPr/>
        </p:nvSpPr>
        <p:spPr>
          <a:xfrm>
            <a:off x="1727200" y="907392"/>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20" name="TextBox 19">
            <a:extLst>
              <a:ext uri="{FF2B5EF4-FFF2-40B4-BE49-F238E27FC236}">
                <a16:creationId xmlns:a16="http://schemas.microsoft.com/office/drawing/2014/main" id="{80DCAF80-27E8-88A7-651E-3797594DAA1D}"/>
              </a:ext>
            </a:extLst>
          </p:cNvPr>
          <p:cNvSpPr txBox="1"/>
          <p:nvPr/>
        </p:nvSpPr>
        <p:spPr>
          <a:xfrm>
            <a:off x="617220" y="1399032"/>
            <a:ext cx="11795760" cy="1081835"/>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nSpc>
                <a:spcPct val="86000"/>
              </a:lnSpc>
            </a:pPr>
            <a:r>
              <a:rPr sz="4050" b="1">
                <a:solidFill>
                  <a:srgbClr val="050B18"/>
                </a:solidFill>
                <a:latin typeface="Aptos Display"/>
              </a:rPr>
              <a:t>Code Implementation,</a:t>
            </a:r>
          </a:p>
          <a:p>
            <a:pPr>
              <a:lnSpc>
                <a:spcPct val="86000"/>
              </a:lnSpc>
            </a:pPr>
            <a:r>
              <a:rPr sz="4050" b="1">
                <a:solidFill>
                  <a:srgbClr val="050B18"/>
                </a:solidFill>
                <a:latin typeface="Aptos Display"/>
              </a:rPr>
              <a:t>Testing and Evaluation</a:t>
            </a:r>
          </a:p>
        </p:txBody>
      </p:sp>
      <p:sp>
        <p:nvSpPr>
          <p:cNvPr id="25" name="TextBox 24">
            <a:extLst>
              <a:ext uri="{FF2B5EF4-FFF2-40B4-BE49-F238E27FC236}">
                <a16:creationId xmlns:a16="http://schemas.microsoft.com/office/drawing/2014/main" id="{9BF9C7B4-AC05-2188-8F87-45DD2CFC544C}"/>
              </a:ext>
            </a:extLst>
          </p:cNvPr>
          <p:cNvSpPr txBox="1"/>
          <p:nvPr/>
        </p:nvSpPr>
        <p:spPr>
          <a:xfrm>
            <a:off x="822089" y="3452078"/>
            <a:ext cx="3154680" cy="438582"/>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2850" b="1">
                <a:solidFill>
                  <a:srgbClr val="000000"/>
                </a:solidFill>
                <a:latin typeface="Arial"/>
              </a:rPr>
              <a:t>Reverse Logic</a:t>
            </a:r>
          </a:p>
        </p:txBody>
      </p:sp>
      <p:cxnSp>
        <p:nvCxnSpPr>
          <p:cNvPr id="31" name="Connector 15">
            <a:extLst>
              <a:ext uri="{FF2B5EF4-FFF2-40B4-BE49-F238E27FC236}">
                <a16:creationId xmlns:a16="http://schemas.microsoft.com/office/drawing/2014/main" id="{73248F32-B801-6088-00D2-4F67BB614358}"/>
              </a:ext>
            </a:extLst>
          </p:cNvPr>
          <p:cNvCxnSpPr/>
          <p:nvPr/>
        </p:nvCxnSpPr>
        <p:spPr>
          <a:xfrm>
            <a:off x="800318" y="4172931"/>
            <a:ext cx="0" cy="768095"/>
          </a:xfrm>
          <a:prstGeom prst="line">
            <a:avLst/>
          </a:prstGeom>
          <a:ln w="38100">
            <a:solidFill>
              <a:srgbClr val="004E82"/>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62D65AE-3BCB-4A71-BA89-715E63607C0E}"/>
              </a:ext>
            </a:extLst>
          </p:cNvPr>
          <p:cNvSpPr txBox="1"/>
          <p:nvPr/>
        </p:nvSpPr>
        <p:spPr>
          <a:xfrm>
            <a:off x="1156934" y="4282658"/>
            <a:ext cx="795528" cy="480060"/>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3150" b="0">
                <a:solidFill>
                  <a:srgbClr val="004E82"/>
                </a:solidFill>
                <a:latin typeface="Arial"/>
              </a:rPr>
              <a:t>01</a:t>
            </a:r>
          </a:p>
        </p:txBody>
      </p:sp>
      <p:sp>
        <p:nvSpPr>
          <p:cNvPr id="35" name="TextBox 34">
            <a:extLst>
              <a:ext uri="{FF2B5EF4-FFF2-40B4-BE49-F238E27FC236}">
                <a16:creationId xmlns:a16="http://schemas.microsoft.com/office/drawing/2014/main" id="{F2ED9DB5-56BC-486B-F11F-3CC0C199AAB7}"/>
              </a:ext>
            </a:extLst>
          </p:cNvPr>
          <p:cNvSpPr txBox="1"/>
          <p:nvPr/>
        </p:nvSpPr>
        <p:spPr>
          <a:xfrm>
            <a:off x="2103338" y="4200362"/>
            <a:ext cx="6720840" cy="969496"/>
          </a:xfrm>
          <a:prstGeom prst="rect">
            <a:avLst/>
          </a:prstGeom>
          <a:noFill/>
        </p:spPr>
        <p:txBody>
          <a:bodyPr wrap="square" lIns="0" tIns="0" rIns="0" bIns="0" anchor="t">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r>
              <a:rPr lang="en-US" sz="2100">
                <a:solidFill>
                  <a:srgbClr val="000000"/>
                </a:solidFill>
                <a:latin typeface="Arial"/>
                <a:ea typeface="+mn-lt"/>
                <a:cs typeface="Arial"/>
              </a:rPr>
              <a:t>Memory-based </a:t>
            </a:r>
            <a:r>
              <a:rPr lang="en-US" sz="2100" b="0">
                <a:solidFill>
                  <a:srgbClr val="000000"/>
                </a:solidFill>
                <a:latin typeface="Arial"/>
                <a:ea typeface="+mn-lt"/>
                <a:cs typeface="Arial"/>
              </a:rPr>
              <a:t>trigger: </a:t>
            </a:r>
            <a:r>
              <a:rPr lang="en-US" sz="2100">
                <a:solidFill>
                  <a:srgbClr val="000000"/>
                </a:solidFill>
                <a:latin typeface="Arial"/>
                <a:ea typeface="+mn-lt"/>
                <a:cs typeface="Arial"/>
              </a:rPr>
              <a:t>The code saves when </a:t>
            </a:r>
            <a:r>
              <a:rPr lang="en-US" sz="2100" b="0">
                <a:solidFill>
                  <a:srgbClr val="000000"/>
                </a:solidFill>
                <a:latin typeface="Arial"/>
                <a:ea typeface="+mn-lt"/>
                <a:cs typeface="Arial"/>
              </a:rPr>
              <a:t>the first obstacle</a:t>
            </a:r>
            <a:r>
              <a:rPr lang="en-US" sz="2100">
                <a:solidFill>
                  <a:srgbClr val="000000"/>
                </a:solidFill>
                <a:latin typeface="Arial"/>
                <a:ea typeface="+mn-lt"/>
                <a:cs typeface="Arial"/>
              </a:rPr>
              <a:t> is avoided</a:t>
            </a:r>
            <a:r>
              <a:rPr lang="en-US" sz="2100" b="0">
                <a:solidFill>
                  <a:srgbClr val="000000"/>
                </a:solidFill>
                <a:latin typeface="Arial"/>
                <a:ea typeface="+mn-lt"/>
                <a:cs typeface="Arial"/>
              </a:rPr>
              <a:t>, </a:t>
            </a:r>
            <a:r>
              <a:rPr lang="en-US" sz="2100">
                <a:solidFill>
                  <a:srgbClr val="000000"/>
                </a:solidFill>
                <a:latin typeface="Arial"/>
                <a:ea typeface="+mn-lt"/>
                <a:cs typeface="Arial"/>
              </a:rPr>
              <a:t>so </a:t>
            </a:r>
            <a:r>
              <a:rPr lang="en-US" sz="2100" b="0">
                <a:solidFill>
                  <a:srgbClr val="000000"/>
                </a:solidFill>
                <a:latin typeface="Arial"/>
                <a:ea typeface="+mn-lt"/>
                <a:cs typeface="Arial"/>
              </a:rPr>
              <a:t>every</a:t>
            </a:r>
            <a:r>
              <a:rPr lang="en-US" sz="2100">
                <a:solidFill>
                  <a:srgbClr val="000000"/>
                </a:solidFill>
                <a:latin typeface="Arial"/>
                <a:ea typeface="+mn-lt"/>
                <a:cs typeface="Arial"/>
              </a:rPr>
              <a:t> </a:t>
            </a:r>
            <a:r>
              <a:rPr lang="en-US" sz="2100" b="0">
                <a:solidFill>
                  <a:srgbClr val="000000"/>
                </a:solidFill>
                <a:latin typeface="Arial"/>
                <a:ea typeface="+mn-lt"/>
                <a:cs typeface="Arial"/>
              </a:rPr>
              <a:t>later obstacle starts the reverse routine.</a:t>
            </a:r>
            <a:endParaRPr lang="en-US" sz="2100">
              <a:latin typeface="Arial"/>
              <a:ea typeface="+mn-lt"/>
              <a:cs typeface="Arial"/>
            </a:endParaRPr>
          </a:p>
        </p:txBody>
      </p:sp>
      <p:cxnSp>
        <p:nvCxnSpPr>
          <p:cNvPr id="37" name="Connector 18">
            <a:extLst>
              <a:ext uri="{FF2B5EF4-FFF2-40B4-BE49-F238E27FC236}">
                <a16:creationId xmlns:a16="http://schemas.microsoft.com/office/drawing/2014/main" id="{FCC34CE3-F04B-91EE-A8BA-6B1501F0B069}"/>
              </a:ext>
            </a:extLst>
          </p:cNvPr>
          <p:cNvCxnSpPr/>
          <p:nvPr/>
        </p:nvCxnSpPr>
        <p:spPr>
          <a:xfrm>
            <a:off x="812075" y="5274564"/>
            <a:ext cx="7516368" cy="0"/>
          </a:xfrm>
          <a:prstGeom prst="line">
            <a:avLst/>
          </a:prstGeom>
          <a:ln w="12700">
            <a:solidFill>
              <a:srgbClr val="DEE4EC"/>
            </a:solidFill>
          </a:ln>
        </p:spPr>
        <p:style>
          <a:lnRef idx="2">
            <a:schemeClr val="accent1"/>
          </a:lnRef>
          <a:fillRef idx="0">
            <a:schemeClr val="accent1"/>
          </a:fillRef>
          <a:effectRef idx="1">
            <a:schemeClr val="accent1"/>
          </a:effectRef>
          <a:fontRef idx="minor">
            <a:schemeClr val="tx1"/>
          </a:fontRef>
        </p:style>
      </p:cxnSp>
      <p:cxnSp>
        <p:nvCxnSpPr>
          <p:cNvPr id="39" name="Connector 19">
            <a:extLst>
              <a:ext uri="{FF2B5EF4-FFF2-40B4-BE49-F238E27FC236}">
                <a16:creationId xmlns:a16="http://schemas.microsoft.com/office/drawing/2014/main" id="{CABD4304-9193-3CB1-4CC6-5427F66B82D3}"/>
              </a:ext>
            </a:extLst>
          </p:cNvPr>
          <p:cNvCxnSpPr/>
          <p:nvPr/>
        </p:nvCxnSpPr>
        <p:spPr>
          <a:xfrm>
            <a:off x="800318" y="5379938"/>
            <a:ext cx="0" cy="768096"/>
          </a:xfrm>
          <a:prstGeom prst="line">
            <a:avLst/>
          </a:prstGeom>
          <a:ln w="38100">
            <a:solidFill>
              <a:srgbClr val="752396"/>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D34943E0-C273-FA75-B3F8-6952F4EC68E2}"/>
              </a:ext>
            </a:extLst>
          </p:cNvPr>
          <p:cNvSpPr txBox="1"/>
          <p:nvPr/>
        </p:nvSpPr>
        <p:spPr>
          <a:xfrm>
            <a:off x="1156934" y="5489666"/>
            <a:ext cx="795528" cy="480060"/>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3150" b="0">
                <a:solidFill>
                  <a:srgbClr val="004E82"/>
                </a:solidFill>
                <a:latin typeface="Arial"/>
              </a:rPr>
              <a:t>02</a:t>
            </a:r>
          </a:p>
        </p:txBody>
      </p:sp>
      <p:sp>
        <p:nvSpPr>
          <p:cNvPr id="43" name="TextBox 42">
            <a:extLst>
              <a:ext uri="{FF2B5EF4-FFF2-40B4-BE49-F238E27FC236}">
                <a16:creationId xmlns:a16="http://schemas.microsoft.com/office/drawing/2014/main" id="{C1471B4D-FE7D-4CA4-F72A-67A592B824EC}"/>
              </a:ext>
            </a:extLst>
          </p:cNvPr>
          <p:cNvSpPr txBox="1"/>
          <p:nvPr/>
        </p:nvSpPr>
        <p:spPr>
          <a:xfrm>
            <a:off x="2114224" y="5548884"/>
            <a:ext cx="6720840" cy="655564"/>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2130" b="0">
                <a:solidFill>
                  <a:srgbClr val="000000"/>
                </a:solidFill>
                <a:latin typeface="Arial"/>
              </a:rPr>
              <a:t>Turn-back sequence: Stop and confirm → back up →
slow 180° turn → detect black line.</a:t>
            </a:r>
          </a:p>
        </p:txBody>
      </p:sp>
      <p:cxnSp>
        <p:nvCxnSpPr>
          <p:cNvPr id="45" name="Connector 22">
            <a:extLst>
              <a:ext uri="{FF2B5EF4-FFF2-40B4-BE49-F238E27FC236}">
                <a16:creationId xmlns:a16="http://schemas.microsoft.com/office/drawing/2014/main" id="{F4FA9469-99F2-90FD-5D26-2784090043F8}"/>
              </a:ext>
            </a:extLst>
          </p:cNvPr>
          <p:cNvCxnSpPr/>
          <p:nvPr/>
        </p:nvCxnSpPr>
        <p:spPr>
          <a:xfrm>
            <a:off x="910046" y="6340058"/>
            <a:ext cx="7516368" cy="0"/>
          </a:xfrm>
          <a:prstGeom prst="line">
            <a:avLst/>
          </a:prstGeom>
          <a:ln w="12700">
            <a:solidFill>
              <a:srgbClr val="DEE4EC"/>
            </a:solidFill>
          </a:ln>
        </p:spPr>
        <p:style>
          <a:lnRef idx="2">
            <a:schemeClr val="accent1"/>
          </a:lnRef>
          <a:fillRef idx="0">
            <a:schemeClr val="accent1"/>
          </a:fillRef>
          <a:effectRef idx="1">
            <a:schemeClr val="accent1"/>
          </a:effectRef>
          <a:fontRef idx="minor">
            <a:schemeClr val="tx1"/>
          </a:fontRef>
        </p:style>
      </p:cxnSp>
      <p:cxnSp>
        <p:nvCxnSpPr>
          <p:cNvPr id="47" name="Connector 23">
            <a:extLst>
              <a:ext uri="{FF2B5EF4-FFF2-40B4-BE49-F238E27FC236}">
                <a16:creationId xmlns:a16="http://schemas.microsoft.com/office/drawing/2014/main" id="{9AFA3865-DE6C-0B9D-853C-8D6A270466F5}"/>
              </a:ext>
            </a:extLst>
          </p:cNvPr>
          <p:cNvCxnSpPr/>
          <p:nvPr/>
        </p:nvCxnSpPr>
        <p:spPr>
          <a:xfrm>
            <a:off x="800318" y="6586946"/>
            <a:ext cx="0" cy="768096"/>
          </a:xfrm>
          <a:prstGeom prst="line">
            <a:avLst/>
          </a:prstGeom>
          <a:ln w="38100">
            <a:solidFill>
              <a:srgbClr val="004E82"/>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A4BE0E0D-7887-AF13-6FF0-8FB97B584755}"/>
              </a:ext>
            </a:extLst>
          </p:cNvPr>
          <p:cNvSpPr txBox="1"/>
          <p:nvPr/>
        </p:nvSpPr>
        <p:spPr>
          <a:xfrm>
            <a:off x="1156934" y="6696674"/>
            <a:ext cx="795528" cy="480060"/>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3150" b="0">
                <a:solidFill>
                  <a:srgbClr val="004E82"/>
                </a:solidFill>
                <a:latin typeface="Arial"/>
              </a:rPr>
              <a:t>03</a:t>
            </a:r>
          </a:p>
        </p:txBody>
      </p:sp>
      <p:sp>
        <p:nvSpPr>
          <p:cNvPr id="51" name="TextBox 50">
            <a:extLst>
              <a:ext uri="{FF2B5EF4-FFF2-40B4-BE49-F238E27FC236}">
                <a16:creationId xmlns:a16="http://schemas.microsoft.com/office/drawing/2014/main" id="{A5FF0714-5727-7E78-26F2-9E0C36871E3E}"/>
              </a:ext>
            </a:extLst>
          </p:cNvPr>
          <p:cNvSpPr txBox="1"/>
          <p:nvPr/>
        </p:nvSpPr>
        <p:spPr>
          <a:xfrm>
            <a:off x="2103338" y="6614378"/>
            <a:ext cx="6720840" cy="655564"/>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2130" b="0">
                <a:solidFill>
                  <a:srgbClr val="000000"/>
                </a:solidFill>
                <a:latin typeface="Arial"/>
              </a:rPr>
              <a:t>Main challenge: The robot had to rejoin the line
without overshooting or missing it.</a:t>
            </a:r>
          </a:p>
        </p:txBody>
      </p:sp>
      <p:cxnSp>
        <p:nvCxnSpPr>
          <p:cNvPr id="53" name="Connector 26">
            <a:extLst>
              <a:ext uri="{FF2B5EF4-FFF2-40B4-BE49-F238E27FC236}">
                <a16:creationId xmlns:a16="http://schemas.microsoft.com/office/drawing/2014/main" id="{1114C3F2-14B7-9B2C-8455-BEA0430E39D0}"/>
              </a:ext>
            </a:extLst>
          </p:cNvPr>
          <p:cNvCxnSpPr/>
          <p:nvPr/>
        </p:nvCxnSpPr>
        <p:spPr>
          <a:xfrm>
            <a:off x="910046" y="7547066"/>
            <a:ext cx="7516368" cy="0"/>
          </a:xfrm>
          <a:prstGeom prst="line">
            <a:avLst/>
          </a:prstGeom>
          <a:ln w="12700">
            <a:solidFill>
              <a:srgbClr val="DEE4EC"/>
            </a:solidFill>
          </a:ln>
        </p:spPr>
        <p:style>
          <a:lnRef idx="2">
            <a:schemeClr val="accent1"/>
          </a:lnRef>
          <a:fillRef idx="0">
            <a:schemeClr val="accent1"/>
          </a:fillRef>
          <a:effectRef idx="1">
            <a:schemeClr val="accent1"/>
          </a:effectRef>
          <a:fontRef idx="minor">
            <a:schemeClr val="tx1"/>
          </a:fontRef>
        </p:style>
      </p:cxnSp>
      <p:cxnSp>
        <p:nvCxnSpPr>
          <p:cNvPr id="55" name="Connector 27">
            <a:extLst>
              <a:ext uri="{FF2B5EF4-FFF2-40B4-BE49-F238E27FC236}">
                <a16:creationId xmlns:a16="http://schemas.microsoft.com/office/drawing/2014/main" id="{296C573D-51BD-C098-951E-CA6C46F26CFF}"/>
              </a:ext>
            </a:extLst>
          </p:cNvPr>
          <p:cNvCxnSpPr/>
          <p:nvPr/>
        </p:nvCxnSpPr>
        <p:spPr>
          <a:xfrm>
            <a:off x="800318" y="7793954"/>
            <a:ext cx="0" cy="768096"/>
          </a:xfrm>
          <a:prstGeom prst="line">
            <a:avLst/>
          </a:prstGeom>
          <a:ln w="38100">
            <a:solidFill>
              <a:srgbClr val="752396"/>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698BAFA9-98BB-1890-FF74-CC4F964E3123}"/>
              </a:ext>
            </a:extLst>
          </p:cNvPr>
          <p:cNvSpPr txBox="1"/>
          <p:nvPr/>
        </p:nvSpPr>
        <p:spPr>
          <a:xfrm>
            <a:off x="1156934" y="7903682"/>
            <a:ext cx="795528" cy="480060"/>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3150" b="0">
                <a:solidFill>
                  <a:srgbClr val="004E82"/>
                </a:solidFill>
                <a:latin typeface="Arial"/>
              </a:rPr>
              <a:t>04</a:t>
            </a:r>
          </a:p>
        </p:txBody>
      </p:sp>
      <p:sp>
        <p:nvSpPr>
          <p:cNvPr id="59" name="TextBox 58">
            <a:extLst>
              <a:ext uri="{FF2B5EF4-FFF2-40B4-BE49-F238E27FC236}">
                <a16:creationId xmlns:a16="http://schemas.microsoft.com/office/drawing/2014/main" id="{A62DFBB2-67E4-2741-0F85-97828A42B403}"/>
              </a:ext>
            </a:extLst>
          </p:cNvPr>
          <p:cNvSpPr txBox="1"/>
          <p:nvPr/>
        </p:nvSpPr>
        <p:spPr>
          <a:xfrm>
            <a:off x="2103338" y="7821386"/>
            <a:ext cx="6720840" cy="983346"/>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2130" b="0">
                <a:solidFill>
                  <a:srgbClr val="000000"/>
                </a:solidFill>
                <a:latin typeface="Arial"/>
              </a:rPr>
              <a:t>Key fixes: Slower 180° turn, delayed line check,
black-line confirmation, and short stabilization
before line following resumes.</a:t>
            </a:r>
          </a:p>
        </p:txBody>
      </p:sp>
      <p:sp>
        <p:nvSpPr>
          <p:cNvPr id="61" name="TextBox 60">
            <a:extLst>
              <a:ext uri="{FF2B5EF4-FFF2-40B4-BE49-F238E27FC236}">
                <a16:creationId xmlns:a16="http://schemas.microsoft.com/office/drawing/2014/main" id="{D2249838-1993-A7A3-F291-1939490B73EE}"/>
              </a:ext>
            </a:extLst>
          </p:cNvPr>
          <p:cNvSpPr txBox="1"/>
          <p:nvPr/>
        </p:nvSpPr>
        <p:spPr>
          <a:xfrm>
            <a:off x="11866517" y="1591491"/>
            <a:ext cx="3017520" cy="480060"/>
          </a:xfrm>
          <a:prstGeom prst="rect">
            <a:avLst/>
          </a:prstGeom>
          <a:noFill/>
        </p:spPr>
        <p:txBody>
          <a:bodyPr wrap="square" lIns="0" tIns="0" rIns="0" bIns="0">
            <a:spAutoFit/>
          </a:bodyPr>
          <a:lst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a:lstStyle>
          <a:p>
            <a:pPr algn="l"/>
            <a:r>
              <a:rPr sz="3000" b="1">
                <a:solidFill>
                  <a:srgbClr val="000000"/>
                </a:solidFill>
                <a:latin typeface="Arial"/>
              </a:rPr>
              <a:t>Testing Video</a:t>
            </a:r>
          </a:p>
        </p:txBody>
      </p:sp>
      <p:sp>
        <p:nvSpPr>
          <p:cNvPr id="63" name="Shape 43">
            <a:extLst>
              <a:ext uri="{FF2B5EF4-FFF2-40B4-BE49-F238E27FC236}">
                <a16:creationId xmlns:a16="http://schemas.microsoft.com/office/drawing/2014/main" id="{FF7B5339-1601-A827-E459-4DD56AEB012B}"/>
              </a:ext>
            </a:extLst>
          </p:cNvPr>
          <p:cNvSpPr/>
          <p:nvPr/>
        </p:nvSpPr>
        <p:spPr>
          <a:xfrm>
            <a:off x="9456421" y="1203322"/>
            <a:ext cx="0" cy="8435340"/>
          </a:xfrm>
          <a:prstGeom prst="line">
            <a:avLst/>
          </a:prstGeom>
          <a:noFill/>
          <a:ln w="15240">
            <a:solidFill>
              <a:srgbClr val="E2E8F0"/>
            </a:solidFill>
            <a:prstDash val="solid"/>
          </a:ln>
        </p:spPr>
        <p:txBody>
          <a:bodyPr/>
          <a:lstStyle>
            <a:defPPr>
              <a:defRPr lang="en-GB"/>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DE" sz="4050"/>
          </a:p>
        </p:txBody>
      </p:sp>
      <p:sp>
        <p:nvSpPr>
          <p:cNvPr id="70" name="TextBox 69">
            <a:extLst>
              <a:ext uri="{FF2B5EF4-FFF2-40B4-BE49-F238E27FC236}">
                <a16:creationId xmlns:a16="http://schemas.microsoft.com/office/drawing/2014/main" id="{69ACE9ED-77FD-DB94-6C0C-1502343A5C3A}"/>
              </a:ext>
            </a:extLst>
          </p:cNvPr>
          <p:cNvSpPr txBox="1"/>
          <p:nvPr/>
        </p:nvSpPr>
        <p:spPr>
          <a:xfrm>
            <a:off x="10694343" y="8383742"/>
            <a:ext cx="5954487" cy="691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50" b="1" i="0" u="none" strike="noStrike" baseline="0">
                <a:solidFill>
                  <a:srgbClr val="000000"/>
                </a:solidFill>
                <a:latin typeface="Arial"/>
              </a:rPr>
              <a:t>Reverse test:</a:t>
            </a:r>
            <a:r>
              <a:rPr lang="en-US" sz="1950" b="0" i="0" u="none" strike="noStrike" baseline="0">
                <a:solidFill>
                  <a:srgbClr val="000000"/>
                </a:solidFill>
                <a:latin typeface="Arial"/>
              </a:rPr>
              <a:t> robot </a:t>
            </a:r>
            <a:r>
              <a:rPr lang="en-US" sz="1950">
                <a:solidFill>
                  <a:srgbClr val="000000"/>
                </a:solidFill>
                <a:latin typeface="Arial"/>
              </a:rPr>
              <a:t>turns</a:t>
            </a:r>
            <a:r>
              <a:rPr lang="en-US" sz="1950" b="0" i="0" u="none" strike="noStrike" baseline="0">
                <a:solidFill>
                  <a:srgbClr val="000000"/>
                </a:solidFill>
                <a:latin typeface="Arial"/>
              </a:rPr>
              <a:t> back and rejoins the line.</a:t>
            </a:r>
            <a:r>
              <a:rPr sz="1950" b="0" i="0">
                <a:solidFill>
                  <a:srgbClr val="000000"/>
                </a:solidFill>
                <a:latin typeface="Arial"/>
                <a:ea typeface="Arial"/>
                <a:cs typeface="Arial"/>
              </a:rPr>
              <a:t>​</a:t>
            </a:r>
            <a:endParaRPr lang="en-US"/>
          </a:p>
          <a:p>
            <a:pPr algn="ctr"/>
            <a:endParaRPr lang="en-US"/>
          </a:p>
        </p:txBody>
      </p:sp>
      <p:pic>
        <p:nvPicPr>
          <p:cNvPr id="3" name="WhatsApp Video 2026-07-05 at 5.32">
            <a:hlinkClick r:id="" action="ppaction://media"/>
            <a:extLst>
              <a:ext uri="{FF2B5EF4-FFF2-40B4-BE49-F238E27FC236}">
                <a16:creationId xmlns:a16="http://schemas.microsoft.com/office/drawing/2014/main" id="{C8E81A18-7850-3C18-72D4-0B8EA73A1118}"/>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10457353" y="2753011"/>
            <a:ext cx="6428468" cy="5399314"/>
          </a:xfrm>
          <a:prstGeom prst="rect">
            <a:avLst/>
          </a:prstGeom>
        </p:spPr>
      </p:pic>
    </p:spTree>
    <p:extLst>
      <p:ext uri="{BB962C8B-B14F-4D97-AF65-F5344CB8AC3E}">
        <p14:creationId xmlns:p14="http://schemas.microsoft.com/office/powerpoint/2010/main" val="227051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28700" y="3967480"/>
            <a:ext cx="8440906" cy="2228215"/>
          </a:xfrm>
          <a:prstGeom prst="rect">
            <a:avLst/>
          </a:prstGeom>
        </p:spPr>
        <p:txBody>
          <a:bodyPr lIns="0" tIns="0" rIns="0" bIns="0" rtlCol="0" anchor="t">
            <a:spAutoFit/>
          </a:bodyPr>
          <a:lstStyle/>
          <a:p>
            <a:pPr algn="l">
              <a:lnSpc>
                <a:spcPts val="8959"/>
              </a:lnSpc>
              <a:spcBef>
                <a:spcPct val="0"/>
              </a:spcBef>
            </a:pPr>
            <a:r>
              <a:rPr lang="en-US" sz="6399" b="1">
                <a:solidFill>
                  <a:srgbClr val="000000"/>
                </a:solidFill>
                <a:latin typeface="Open Sans Bold"/>
                <a:ea typeface="Open Sans Bold"/>
                <a:cs typeface="Open Sans Bold"/>
                <a:sym typeface="Open Sans Bold"/>
              </a:rPr>
              <a:t>THANK YOU FOR JOINING US</a:t>
            </a:r>
          </a:p>
        </p:txBody>
      </p:sp>
      <p:sp>
        <p:nvSpPr>
          <p:cNvPr id="21" name="Freeform 21"/>
          <p:cNvSpPr/>
          <p:nvPr/>
        </p:nvSpPr>
        <p:spPr>
          <a:xfrm>
            <a:off x="8840406" y="6603381"/>
            <a:ext cx="607187" cy="685735"/>
          </a:xfrm>
          <a:custGeom>
            <a:avLst/>
            <a:gdLst/>
            <a:ahLst/>
            <a:cxnLst/>
            <a:rect l="l" t="t" r="r" b="b"/>
            <a:pathLst>
              <a:path w="607187" h="685735">
                <a:moveTo>
                  <a:pt x="0" y="0"/>
                </a:moveTo>
                <a:lnTo>
                  <a:pt x="607188" y="0"/>
                </a:lnTo>
                <a:lnTo>
                  <a:pt x="607188" y="685735"/>
                </a:lnTo>
                <a:lnTo>
                  <a:pt x="0" y="6857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ES"/>
          </a:p>
        </p:txBody>
      </p:sp>
      <p:sp>
        <p:nvSpPr>
          <p:cNvPr id="22" name="Freeform 22"/>
          <p:cNvSpPr/>
          <p:nvPr/>
        </p:nvSpPr>
        <p:spPr>
          <a:xfrm>
            <a:off x="14925049" y="1394134"/>
            <a:ext cx="607187" cy="685735"/>
          </a:xfrm>
          <a:custGeom>
            <a:avLst/>
            <a:gdLst/>
            <a:ahLst/>
            <a:cxnLst/>
            <a:rect l="l" t="t" r="r" b="b"/>
            <a:pathLst>
              <a:path w="607187" h="685735">
                <a:moveTo>
                  <a:pt x="0" y="0"/>
                </a:moveTo>
                <a:lnTo>
                  <a:pt x="607187" y="0"/>
                </a:lnTo>
                <a:lnTo>
                  <a:pt x="607187" y="685736"/>
                </a:lnTo>
                <a:lnTo>
                  <a:pt x="0" y="68573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ES"/>
          </a:p>
        </p:txBody>
      </p:sp>
      <p:sp>
        <p:nvSpPr>
          <p:cNvPr id="24" name="Freeform 8">
            <a:extLst>
              <a:ext uri="{FF2B5EF4-FFF2-40B4-BE49-F238E27FC236}">
                <a16:creationId xmlns:a16="http://schemas.microsoft.com/office/drawing/2014/main" id="{EAB6BF23-2257-D1A7-F8D1-952DB4D490EF}"/>
              </a:ext>
            </a:extLst>
          </p:cNvPr>
          <p:cNvSpPr/>
          <p:nvPr/>
        </p:nvSpPr>
        <p:spPr>
          <a:xfrm rot="768394">
            <a:off x="2902143" y="-5554961"/>
            <a:ext cx="10036098" cy="8229600"/>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3">
              <a:alphaModFix amt="55000"/>
            </a:blip>
            <a:stretch>
              <a:fillRect/>
            </a:stretch>
          </a:blipFill>
        </p:spPr>
        <p:txBody>
          <a:bodyPr/>
          <a:lstStyle/>
          <a:p>
            <a:endParaRPr lang="en-US"/>
          </a:p>
        </p:txBody>
      </p:sp>
      <p:sp>
        <p:nvSpPr>
          <p:cNvPr id="26" name="Freeform 9">
            <a:extLst>
              <a:ext uri="{FF2B5EF4-FFF2-40B4-BE49-F238E27FC236}">
                <a16:creationId xmlns:a16="http://schemas.microsoft.com/office/drawing/2014/main" id="{5E58EFCA-65BC-F89A-592B-3583D67135F0}"/>
              </a:ext>
            </a:extLst>
          </p:cNvPr>
          <p:cNvSpPr/>
          <p:nvPr/>
        </p:nvSpPr>
        <p:spPr>
          <a:xfrm>
            <a:off x="14136003" y="2084224"/>
            <a:ext cx="10036098" cy="8229600"/>
          </a:xfrm>
          <a:custGeom>
            <a:avLst/>
            <a:gdLst/>
            <a:ahLst/>
            <a:cxnLst/>
            <a:rect l="l" t="t" r="r" b="b"/>
            <a:pathLst>
              <a:path w="10036098" h="8229600">
                <a:moveTo>
                  <a:pt x="0" y="0"/>
                </a:moveTo>
                <a:lnTo>
                  <a:pt x="10036098" y="0"/>
                </a:lnTo>
                <a:lnTo>
                  <a:pt x="10036098" y="8229600"/>
                </a:lnTo>
                <a:lnTo>
                  <a:pt x="0" y="8229600"/>
                </a:lnTo>
                <a:lnTo>
                  <a:pt x="0" y="0"/>
                </a:lnTo>
                <a:close/>
              </a:path>
            </a:pathLst>
          </a:custGeom>
          <a:blipFill>
            <a:blip r:embed="rId4">
              <a:alphaModFix amt="67000"/>
            </a:blip>
            <a:stretch>
              <a:fillRect/>
            </a:stretch>
          </a:blipFill>
        </p:spPr>
        <p:txBody>
          <a:bodyPr/>
          <a:lstStyle/>
          <a:p>
            <a:endParaRPr lang="en-US"/>
          </a:p>
        </p:txBody>
      </p:sp>
      <p:pic>
        <p:nvPicPr>
          <p:cNvPr id="27" name="Picture 26">
            <a:extLst>
              <a:ext uri="{FF2B5EF4-FFF2-40B4-BE49-F238E27FC236}">
                <a16:creationId xmlns:a16="http://schemas.microsoft.com/office/drawing/2014/main" id="{D9F4B828-3F57-DE15-8320-0D370A881987}"/>
              </a:ext>
            </a:extLst>
          </p:cNvPr>
          <p:cNvPicPr>
            <a:picLocks noChangeAspect="1"/>
          </p:cNvPicPr>
          <p:nvPr/>
        </p:nvPicPr>
        <p:blipFill>
          <a:blip r:embed="rId5"/>
          <a:srcRect t="-926" b="35617"/>
          <a:stretch>
            <a:fillRect/>
          </a:stretch>
        </p:blipFill>
        <p:spPr>
          <a:xfrm>
            <a:off x="936172" y="522514"/>
            <a:ext cx="1186544" cy="564762"/>
          </a:xfrm>
          <a:prstGeom prst="rect">
            <a:avLst/>
          </a:prstGeom>
        </p:spPr>
      </p:pic>
      <p:sp>
        <p:nvSpPr>
          <p:cNvPr id="28" name="SK-7-text-12">
            <a:extLst>
              <a:ext uri="{FF2B5EF4-FFF2-40B4-BE49-F238E27FC236}">
                <a16:creationId xmlns:a16="http://schemas.microsoft.com/office/drawing/2014/main" id="{11CFA0B2-030C-6D33-8A88-91C332EC1376}"/>
              </a:ext>
            </a:extLst>
          </p:cNvPr>
          <p:cNvSpPr/>
          <p:nvPr/>
        </p:nvSpPr>
        <p:spPr>
          <a:xfrm>
            <a:off x="2119086" y="721016"/>
            <a:ext cx="1905000" cy="164455"/>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200" b="1">
                <a:solidFill>
                  <a:srgbClr val="444444"/>
                </a:solidFill>
                <a:latin typeface="Roboto"/>
                <a:ea typeface="Roboto"/>
                <a:cs typeface="Roboto"/>
              </a:rPr>
              <a:t>HOCHSCHULE</a:t>
            </a:r>
            <a:endParaRPr lang="en-US" sz="1200">
              <a:solidFill>
                <a:srgbClr val="444444"/>
              </a:solidFill>
              <a:latin typeface="Calibri"/>
              <a:ea typeface="Calibri"/>
              <a:cs typeface="Calibri"/>
            </a:endParaRPr>
          </a:p>
        </p:txBody>
      </p:sp>
      <p:sp>
        <p:nvSpPr>
          <p:cNvPr id="29" name="SK-7-text-13">
            <a:extLst>
              <a:ext uri="{FF2B5EF4-FFF2-40B4-BE49-F238E27FC236}">
                <a16:creationId xmlns:a16="http://schemas.microsoft.com/office/drawing/2014/main" id="{32B9BE2B-550C-76D0-D2F8-8EBE0AD9A699}"/>
              </a:ext>
            </a:extLst>
          </p:cNvPr>
          <p:cNvSpPr/>
          <p:nvPr/>
        </p:nvSpPr>
        <p:spPr>
          <a:xfrm>
            <a:off x="2119086" y="885620"/>
            <a:ext cx="2476500" cy="150763"/>
          </a:xfrm>
          <a:prstGeom prst="rect">
            <a:avLst/>
          </a:prstGeom>
          <a:noFill/>
          <a:ln/>
        </p:spPr>
        <p:txBody>
          <a:bodyPr vert="horz" wrap="non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25">
                <a:solidFill>
                  <a:srgbClr val="444444"/>
                </a:solidFill>
                <a:latin typeface="Roboto" pitchFamily="34" charset="0"/>
                <a:ea typeface="Roboto" pitchFamily="34" charset="-122"/>
                <a:cs typeface="Roboto" pitchFamily="34" charset="-120"/>
              </a:rPr>
              <a:t>HAMM-LIPPSTADT</a:t>
            </a:r>
            <a:endParaRPr lang="en-US" sz="1125"/>
          </a:p>
        </p:txBody>
      </p:sp>
      <p:sp>
        <p:nvSpPr>
          <p:cNvPr id="2" name="Freeform 8">
            <a:extLst>
              <a:ext uri="{FF2B5EF4-FFF2-40B4-BE49-F238E27FC236}">
                <a16:creationId xmlns:a16="http://schemas.microsoft.com/office/drawing/2014/main" id="{FABF4983-F670-A493-A38A-8AEA29F95356}"/>
              </a:ext>
            </a:extLst>
          </p:cNvPr>
          <p:cNvSpPr/>
          <p:nvPr/>
        </p:nvSpPr>
        <p:spPr>
          <a:xfrm rot="8760000">
            <a:off x="-6438786" y="6590261"/>
            <a:ext cx="10036098" cy="10036628"/>
          </a:xfrm>
          <a:custGeom>
            <a:avLst/>
            <a:gdLst/>
            <a:ahLst/>
            <a:cxnLst/>
            <a:rect l="l" t="t" r="r" b="b"/>
            <a:pathLst>
              <a:path w="10036098" h="8229600">
                <a:moveTo>
                  <a:pt x="0" y="0"/>
                </a:moveTo>
                <a:lnTo>
                  <a:pt x="10036097" y="0"/>
                </a:lnTo>
                <a:lnTo>
                  <a:pt x="10036097" y="8229600"/>
                </a:lnTo>
                <a:lnTo>
                  <a:pt x="0" y="8229600"/>
                </a:lnTo>
                <a:lnTo>
                  <a:pt x="0" y="0"/>
                </a:lnTo>
                <a:close/>
              </a:path>
            </a:pathLst>
          </a:custGeom>
          <a:blipFill>
            <a:blip r:embed="rId3">
              <a:alphaModFix amt="55000"/>
            </a:blip>
            <a:stretch>
              <a:fillRect/>
            </a:stretch>
          </a:blipFill>
        </p:spPr>
        <p:txBody>
          <a:bodyPr/>
          <a:lstStyle/>
          <a:p>
            <a:endParaRPr lang="en-US"/>
          </a:p>
        </p:txBody>
      </p:sp>
      <p:sp>
        <p:nvSpPr>
          <p:cNvPr id="3" name="TextBox 4">
            <a:extLst>
              <a:ext uri="{FF2B5EF4-FFF2-40B4-BE49-F238E27FC236}">
                <a16:creationId xmlns:a16="http://schemas.microsoft.com/office/drawing/2014/main" id="{788DE17C-1415-D199-D400-49A6CBE4882A}"/>
              </a:ext>
            </a:extLst>
          </p:cNvPr>
          <p:cNvSpPr txBox="1"/>
          <p:nvPr/>
        </p:nvSpPr>
        <p:spPr>
          <a:xfrm>
            <a:off x="1039585" y="6471194"/>
            <a:ext cx="8440906" cy="945067"/>
          </a:xfrm>
          <a:prstGeom prst="rect">
            <a:avLst/>
          </a:prstGeom>
        </p:spPr>
        <p:txBody>
          <a:bodyPr lIns="0" tIns="0" rIns="0" bIns="0" rtlCol="0" anchor="t">
            <a:spAutoFit/>
          </a:bodyPr>
          <a:lstStyle/>
          <a:p>
            <a:pPr algn="l">
              <a:lnSpc>
                <a:spcPts val="8959"/>
              </a:lnSpc>
              <a:spcBef>
                <a:spcPct val="0"/>
              </a:spcBef>
            </a:pPr>
            <a:r>
              <a:rPr lang="en-US" sz="2400" b="1">
                <a:solidFill>
                  <a:srgbClr val="000000"/>
                </a:solidFill>
                <a:latin typeface="Open Sans Bold"/>
                <a:ea typeface="Open Sans Bold"/>
                <a:cs typeface="Open Sans Bold"/>
                <a:sym typeface="Open Sans Bold"/>
              </a:rPr>
              <a:t>Questions?</a:t>
            </a:r>
            <a:endParaRPr lang="en-US" sz="2400" b="1">
              <a:solidFill>
                <a:srgbClr val="000000"/>
              </a:solidFill>
              <a:latin typeface="Open Sans Bold"/>
              <a:ea typeface="Open Sans Bold"/>
              <a:cs typeface="Open Sans Bold"/>
            </a:endParaRPr>
          </a:p>
        </p:txBody>
      </p:sp>
      <p:sp>
        <p:nvSpPr>
          <p:cNvPr id="6" name="TextBox 5">
            <a:extLst>
              <a:ext uri="{FF2B5EF4-FFF2-40B4-BE49-F238E27FC236}">
                <a16:creationId xmlns:a16="http://schemas.microsoft.com/office/drawing/2014/main" id="{A8141A00-7BFD-A82C-8683-EBC0F8248CCE}"/>
              </a:ext>
            </a:extLst>
          </p:cNvPr>
          <p:cNvSpPr txBox="1"/>
          <p:nvPr/>
        </p:nvSpPr>
        <p:spPr>
          <a:xfrm>
            <a:off x="939858" y="7415454"/>
            <a:ext cx="74893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Roboto"/>
                <a:ea typeface="Roboto"/>
                <a:cs typeface="Roboto"/>
              </a:rPr>
              <a:t>We are happy to answer any questions about the project.</a:t>
            </a:r>
          </a:p>
        </p:txBody>
      </p:sp>
      <p:pic>
        <p:nvPicPr>
          <p:cNvPr id="8" name="Picture 7">
            <a:extLst>
              <a:ext uri="{FF2B5EF4-FFF2-40B4-BE49-F238E27FC236}">
                <a16:creationId xmlns:a16="http://schemas.microsoft.com/office/drawing/2014/main" id="{A4FCAFE4-BDAD-D76A-ED8C-D24F8D2BD4A9}"/>
              </a:ext>
            </a:extLst>
          </p:cNvPr>
          <p:cNvPicPr>
            <a:picLocks noChangeAspect="1"/>
          </p:cNvPicPr>
          <p:nvPr/>
        </p:nvPicPr>
        <p:blipFill>
          <a:blip r:embed="rId6"/>
          <a:stretch>
            <a:fillRect/>
          </a:stretch>
        </p:blipFill>
        <p:spPr>
          <a:xfrm>
            <a:off x="10205356" y="3037114"/>
            <a:ext cx="5334000" cy="53666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1267</Words>
  <Application>Microsoft Office PowerPoint</Application>
  <PresentationFormat>Custom</PresentationFormat>
  <Paragraphs>145</Paragraphs>
  <Slides>11</Slides>
  <Notes>2</Notes>
  <HiddenSlides>0</HiddenSlides>
  <MMClips>5</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Calibri</vt:lpstr>
      <vt:lpstr>Open Sans Bold</vt:lpstr>
      <vt:lpstr>Aptos</vt:lpstr>
      <vt:lpstr>Roboto</vt:lpstr>
      <vt:lpstr>Aptos Display</vt:lpstr>
      <vt:lpstr>Arial</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Modern Robotics Presentation</dc:title>
  <cp:lastModifiedBy>Naved Afridi Rashiq</cp:lastModifiedBy>
  <cp:revision>6</cp:revision>
  <dcterms:created xsi:type="dcterms:W3CDTF">2006-08-16T00:00:00Z</dcterms:created>
  <dcterms:modified xsi:type="dcterms:W3CDTF">2026-07-05T18:54:17Z</dcterms:modified>
  <dc:identifier>DAHOgb5oTf4</dc:identifier>
</cp:coreProperties>
</file>